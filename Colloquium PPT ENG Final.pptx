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8288000" cy="10287000"/>
  <p:notesSz cx="6858000" cy="9144000"/>
  <p:embeddedFontLst>
    <p:embeddedFont>
      <p:font typeface="Canva Sans" panose="020B0503030501040103" pitchFamily="34" charset="0"/>
      <p:regular r:id="rId29"/>
    </p:embeddedFont>
    <p:embeddedFont>
      <p:font typeface="Canva Sans Bold" panose="020B0803030501040103" pitchFamily="34" charset="0"/>
      <p:regular r:id="rId30"/>
      <p:bold r:id="rId31"/>
    </p:embeddedFont>
    <p:embeddedFont>
      <p:font typeface="Montserrat" pitchFamily="2" charset="77"/>
      <p:regular r:id="rId32"/>
      <p:bold r:id="rId33"/>
      <p:italic r:id="rId34"/>
      <p:boldItalic r:id="rId35"/>
    </p:embeddedFont>
    <p:embeddedFont>
      <p:font typeface="Montserrat Bold" pitchFamily="2" charset="77"/>
      <p:regular r:id="rId36"/>
      <p:bold r:id="rId37"/>
    </p:embeddedFont>
    <p:embeddedFont>
      <p:font typeface="Open Sans" panose="020B0606030504020204" pitchFamily="34" charset="0"/>
      <p:regular r:id="rId38"/>
      <p:bold r:id="rId39"/>
      <p:italic r:id="rId40"/>
      <p:boldItalic r:id="rId41"/>
    </p:embeddedFont>
    <p:embeddedFont>
      <p:font typeface="Open Sans Bold" panose="020B0806030504020204" pitchFamily="34" charset="0"/>
      <p:regular r:id="rId42"/>
      <p:bold r:id="rId43"/>
    </p:embeddedFont>
    <p:embeddedFont>
      <p:font typeface="Open Sans Bold Italics" panose="020B0806030504020204" pitchFamily="34" charset="0"/>
      <p:regular r:id="rId44"/>
      <p:bold r:id="rId45"/>
      <p:italic r:id="rId46"/>
      <p:boldItalic r:id="rId47"/>
    </p:embeddedFont>
    <p:embeddedFont>
      <p:font typeface="Open Sans Italics" panose="020B0606030504020204" pitchFamily="34" charset="0"/>
      <p:regular r:id="rId48"/>
      <p:italic r:id="rId49"/>
    </p:embeddedFont>
    <p:embeddedFont>
      <p:font typeface="Open Sans Light" panose="020B0306030504020204" pitchFamily="34" charset="0"/>
      <p:regular r:id="rId50"/>
      <p:italic r:id="rId51"/>
    </p:embeddedFont>
    <p:embeddedFont>
      <p:font typeface="Open Sans Light Italics" panose="020B0306030504020204" pitchFamily="34" charset="0"/>
      <p:regular r:id="rId52"/>
      <p:italic r:id="rId53"/>
    </p:embeddedFont>
    <p:embeddedFont>
      <p:font typeface="Poppins" pitchFamily="2" charset="77"/>
      <p:regular r:id="rId54"/>
      <p:bold r:id="rId55"/>
      <p:italic r:id="rId56"/>
      <p:boldItalic r:id="rId57"/>
    </p:embeddedFont>
    <p:embeddedFont>
      <p:font typeface="Poppins Bold" pitchFamily="2" charset="77"/>
      <p:regular r:id="rId58"/>
      <p:bold r:id="rId59"/>
    </p:embeddedFont>
    <p:embeddedFont>
      <p:font typeface="Source Sans Pro Bold" panose="020B0703030403020204" pitchFamily="34" charset="0"/>
      <p:regular r:id="rId60"/>
      <p:bold r:id="rId6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30" autoAdjust="0"/>
    <p:restoredTop sz="94626" autoAdjust="0"/>
  </p:normalViewPr>
  <p:slideViewPr>
    <p:cSldViewPr>
      <p:cViewPr>
        <p:scale>
          <a:sx n="73" d="100"/>
          <a:sy n="73" d="100"/>
        </p:scale>
        <p:origin x="896" y="12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font" Target="fonts/font19.fntdata"/><Relationship Id="rId50" Type="http://schemas.openxmlformats.org/officeDocument/2006/relationships/font" Target="fonts/font22.fntdata"/><Relationship Id="rId55" Type="http://schemas.openxmlformats.org/officeDocument/2006/relationships/font" Target="fonts/font27.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schemas.openxmlformats.org/officeDocument/2006/relationships/font" Target="fonts/font25.fntdata"/><Relationship Id="rId58" Type="http://schemas.openxmlformats.org/officeDocument/2006/relationships/font" Target="fonts/font30.fntdata"/><Relationship Id="rId5" Type="http://schemas.openxmlformats.org/officeDocument/2006/relationships/slide" Target="slides/slide4.xml"/><Relationship Id="rId61" Type="http://schemas.openxmlformats.org/officeDocument/2006/relationships/font" Target="fonts/font3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font" Target="fonts/font20.fntdata"/><Relationship Id="rId56" Type="http://schemas.openxmlformats.org/officeDocument/2006/relationships/font" Target="fonts/font28.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2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59" Type="http://schemas.openxmlformats.org/officeDocument/2006/relationships/font" Target="fonts/font31.fntdata"/><Relationship Id="rId20" Type="http://schemas.openxmlformats.org/officeDocument/2006/relationships/slide" Target="slides/slide19.xml"/><Relationship Id="rId41" Type="http://schemas.openxmlformats.org/officeDocument/2006/relationships/font" Target="fonts/font13.fntdata"/><Relationship Id="rId54" Type="http://schemas.openxmlformats.org/officeDocument/2006/relationships/font" Target="fonts/font26.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openxmlformats.org/officeDocument/2006/relationships/font" Target="fonts/font21.fntdata"/><Relationship Id="rId57" Type="http://schemas.openxmlformats.org/officeDocument/2006/relationships/font" Target="fonts/font29.fntdata"/><Relationship Id="rId10" Type="http://schemas.openxmlformats.org/officeDocument/2006/relationships/slide" Target="slides/slide9.xml"/><Relationship Id="rId31" Type="http://schemas.openxmlformats.org/officeDocument/2006/relationships/font" Target="fonts/font3.fntdata"/><Relationship Id="rId44" Type="http://schemas.openxmlformats.org/officeDocument/2006/relationships/font" Target="fonts/font16.fntdata"/><Relationship Id="rId52" Type="http://schemas.openxmlformats.org/officeDocument/2006/relationships/font" Target="fonts/font24.fntdata"/><Relationship Id="rId60" Type="http://schemas.openxmlformats.org/officeDocument/2006/relationships/font" Target="fonts/font32.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18.05.2025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Before diving into our methodology, it's important to acknowledge the existing body of research that laid the foundation for our work. We reviewed numerous studies on EEG-based BCI, exploring various feature extraction and classification techniques.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5/18/25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9.sv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1.svg"/><Relationship Id="rId10" Type="http://schemas.openxmlformats.org/officeDocument/2006/relationships/image" Target="../media/image15.svg"/><Relationship Id="rId4" Type="http://schemas.openxmlformats.org/officeDocument/2006/relationships/image" Target="../media/image10.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s://doi.org/10.1080/00207454.2021.1941947" TargetMode="External"/><Relationship Id="rId2" Type="http://schemas.openxmlformats.org/officeDocument/2006/relationships/hyperlink" Target="https://doi.org/10.3390/eng5030090" TargetMode="Externa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hyperlink" Target="https://www.emotiv.com/epoc/" TargetMode="External"/><Relationship Id="rId4" Type="http://schemas.openxmlformats.org/officeDocument/2006/relationships/hyperlink" Target="https://doi.org/10.1038/s41598-023-41653-w"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0606"/>
        </a:solidFill>
        <a:effectLst/>
      </p:bgPr>
    </p:bg>
    <p:spTree>
      <p:nvGrpSpPr>
        <p:cNvPr id="1" name=""/>
        <p:cNvGrpSpPr/>
        <p:nvPr/>
      </p:nvGrpSpPr>
      <p:grpSpPr>
        <a:xfrm>
          <a:off x="0" y="0"/>
          <a:ext cx="0" cy="0"/>
          <a:chOff x="0" y="0"/>
          <a:chExt cx="0" cy="0"/>
        </a:xfrm>
      </p:grpSpPr>
      <p:sp>
        <p:nvSpPr>
          <p:cNvPr id="2" name="Freeform 2"/>
          <p:cNvSpPr/>
          <p:nvPr/>
        </p:nvSpPr>
        <p:spPr>
          <a:xfrm rot="-113708">
            <a:off x="2836449" y="2224056"/>
            <a:ext cx="5039101" cy="1114417"/>
          </a:xfrm>
          <a:custGeom>
            <a:avLst/>
            <a:gdLst/>
            <a:ahLst/>
            <a:cxnLst/>
            <a:rect l="l" t="t" r="r" b="b"/>
            <a:pathLst>
              <a:path w="5039101" h="1114417">
                <a:moveTo>
                  <a:pt x="0" y="0"/>
                </a:moveTo>
                <a:lnTo>
                  <a:pt x="5039101" y="0"/>
                </a:lnTo>
                <a:lnTo>
                  <a:pt x="5039101" y="1114417"/>
                </a:lnTo>
                <a:lnTo>
                  <a:pt x="0" y="1114417"/>
                </a:lnTo>
                <a:lnTo>
                  <a:pt x="0" y="0"/>
                </a:lnTo>
                <a:close/>
              </a:path>
            </a:pathLst>
          </a:custGeom>
          <a:blipFill>
            <a:blip r:embed="rId2"/>
            <a:stretch>
              <a:fillRect/>
            </a:stretch>
          </a:blipFill>
        </p:spPr>
        <p:txBody>
          <a:bodyPr/>
          <a:lstStyle/>
          <a:p>
            <a:endParaRPr lang="en-US"/>
          </a:p>
        </p:txBody>
      </p:sp>
      <p:sp>
        <p:nvSpPr>
          <p:cNvPr id="3" name="Freeform 3"/>
          <p:cNvSpPr/>
          <p:nvPr/>
        </p:nvSpPr>
        <p:spPr>
          <a:xfrm rot="5075128">
            <a:off x="6406159" y="-381356"/>
            <a:ext cx="10139136" cy="15998636"/>
          </a:xfrm>
          <a:custGeom>
            <a:avLst/>
            <a:gdLst/>
            <a:ahLst/>
            <a:cxnLst/>
            <a:rect l="l" t="t" r="r" b="b"/>
            <a:pathLst>
              <a:path w="10139136" h="15998636">
                <a:moveTo>
                  <a:pt x="0" y="0"/>
                </a:moveTo>
                <a:lnTo>
                  <a:pt x="10139136" y="0"/>
                </a:lnTo>
                <a:lnTo>
                  <a:pt x="10139136" y="15998636"/>
                </a:lnTo>
                <a:lnTo>
                  <a:pt x="0" y="15998636"/>
                </a:lnTo>
                <a:lnTo>
                  <a:pt x="0" y="0"/>
                </a:lnTo>
                <a:close/>
              </a:path>
            </a:pathLst>
          </a:custGeom>
          <a:blipFill>
            <a:blip r:embed="rId3">
              <a:extLst>
                <a:ext uri="{96DAC541-7B7A-43D3-8B79-37D633B846F1}">
                  <asvg:svgBlip xmlns:asvg="http://schemas.microsoft.com/office/drawing/2016/SVG/main" r:embed="rId4"/>
                </a:ext>
              </a:extLst>
            </a:blip>
            <a:stretch>
              <a:fillRect/>
            </a:stretch>
          </a:blipFill>
          <a:ln w="219075" cap="sq">
            <a:solidFill>
              <a:srgbClr val="55FF4D"/>
            </a:solidFill>
            <a:prstDash val="solid"/>
            <a:miter/>
          </a:ln>
        </p:spPr>
        <p:txBody>
          <a:bodyPr/>
          <a:lstStyle/>
          <a:p>
            <a:endParaRPr lang="en-US"/>
          </a:p>
        </p:txBody>
      </p:sp>
      <p:sp>
        <p:nvSpPr>
          <p:cNvPr id="4" name="Freeform 4"/>
          <p:cNvSpPr/>
          <p:nvPr/>
        </p:nvSpPr>
        <p:spPr>
          <a:xfrm>
            <a:off x="14131372" y="0"/>
            <a:ext cx="4156628" cy="1816192"/>
          </a:xfrm>
          <a:custGeom>
            <a:avLst/>
            <a:gdLst/>
            <a:ahLst/>
            <a:cxnLst/>
            <a:rect l="l" t="t" r="r" b="b"/>
            <a:pathLst>
              <a:path w="4156628" h="1816192">
                <a:moveTo>
                  <a:pt x="0" y="0"/>
                </a:moveTo>
                <a:lnTo>
                  <a:pt x="4156628" y="0"/>
                </a:lnTo>
                <a:lnTo>
                  <a:pt x="4156628" y="1816192"/>
                </a:lnTo>
                <a:lnTo>
                  <a:pt x="0" y="1816192"/>
                </a:lnTo>
                <a:lnTo>
                  <a:pt x="0" y="0"/>
                </a:lnTo>
                <a:close/>
              </a:path>
            </a:pathLst>
          </a:custGeom>
          <a:blipFill>
            <a:blip r:embed="rId5"/>
            <a:stretch>
              <a:fillRect t="-1459" b="-12972"/>
            </a:stretch>
          </a:blipFill>
        </p:spPr>
        <p:txBody>
          <a:bodyPr/>
          <a:lstStyle/>
          <a:p>
            <a:endParaRPr lang="en-US"/>
          </a:p>
        </p:txBody>
      </p:sp>
      <p:grpSp>
        <p:nvGrpSpPr>
          <p:cNvPr id="5" name="Group 5"/>
          <p:cNvGrpSpPr/>
          <p:nvPr/>
        </p:nvGrpSpPr>
        <p:grpSpPr>
          <a:xfrm>
            <a:off x="-80737" y="4643366"/>
            <a:ext cx="3316885" cy="1386369"/>
            <a:chOff x="0" y="0"/>
            <a:chExt cx="873583" cy="365134"/>
          </a:xfrm>
        </p:grpSpPr>
        <p:sp>
          <p:nvSpPr>
            <p:cNvPr id="6" name="Freeform 6"/>
            <p:cNvSpPr/>
            <p:nvPr/>
          </p:nvSpPr>
          <p:spPr>
            <a:xfrm>
              <a:off x="0" y="0"/>
              <a:ext cx="873583" cy="365134"/>
            </a:xfrm>
            <a:custGeom>
              <a:avLst/>
              <a:gdLst/>
              <a:ahLst/>
              <a:cxnLst/>
              <a:rect l="l" t="t" r="r" b="b"/>
              <a:pathLst>
                <a:path w="873583" h="365134">
                  <a:moveTo>
                    <a:pt x="0" y="0"/>
                  </a:moveTo>
                  <a:lnTo>
                    <a:pt x="873583" y="0"/>
                  </a:lnTo>
                  <a:lnTo>
                    <a:pt x="873583" y="365134"/>
                  </a:lnTo>
                  <a:lnTo>
                    <a:pt x="0" y="365134"/>
                  </a:lnTo>
                  <a:close/>
                </a:path>
              </a:pathLst>
            </a:custGeom>
            <a:solidFill>
              <a:srgbClr val="55FF4D"/>
            </a:solidFill>
          </p:spPr>
          <p:txBody>
            <a:bodyPr/>
            <a:lstStyle/>
            <a:p>
              <a:endParaRPr lang="en-US"/>
            </a:p>
          </p:txBody>
        </p:sp>
        <p:sp>
          <p:nvSpPr>
            <p:cNvPr id="7" name="TextBox 7"/>
            <p:cNvSpPr txBox="1"/>
            <p:nvPr/>
          </p:nvSpPr>
          <p:spPr>
            <a:xfrm>
              <a:off x="0" y="-38100"/>
              <a:ext cx="873583" cy="403234"/>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80737" y="6206802"/>
            <a:ext cx="17653761" cy="1831616"/>
            <a:chOff x="0" y="0"/>
            <a:chExt cx="4649550" cy="482401"/>
          </a:xfrm>
        </p:grpSpPr>
        <p:sp>
          <p:nvSpPr>
            <p:cNvPr id="9" name="Freeform 9"/>
            <p:cNvSpPr/>
            <p:nvPr/>
          </p:nvSpPr>
          <p:spPr>
            <a:xfrm>
              <a:off x="0" y="0"/>
              <a:ext cx="4649550" cy="482401"/>
            </a:xfrm>
            <a:custGeom>
              <a:avLst/>
              <a:gdLst/>
              <a:ahLst/>
              <a:cxnLst/>
              <a:rect l="l" t="t" r="r" b="b"/>
              <a:pathLst>
                <a:path w="4649550" h="482401">
                  <a:moveTo>
                    <a:pt x="0" y="0"/>
                  </a:moveTo>
                  <a:lnTo>
                    <a:pt x="4649550" y="0"/>
                  </a:lnTo>
                  <a:lnTo>
                    <a:pt x="4649550" y="482401"/>
                  </a:lnTo>
                  <a:lnTo>
                    <a:pt x="0" y="482401"/>
                  </a:lnTo>
                  <a:close/>
                </a:path>
              </a:pathLst>
            </a:custGeom>
            <a:solidFill>
              <a:srgbClr val="55FF4D"/>
            </a:solidFill>
          </p:spPr>
          <p:txBody>
            <a:bodyPr/>
            <a:lstStyle/>
            <a:p>
              <a:endParaRPr lang="en-US"/>
            </a:p>
          </p:txBody>
        </p:sp>
        <p:sp>
          <p:nvSpPr>
            <p:cNvPr id="10" name="TextBox 10"/>
            <p:cNvSpPr txBox="1"/>
            <p:nvPr/>
          </p:nvSpPr>
          <p:spPr>
            <a:xfrm>
              <a:off x="0" y="-38100"/>
              <a:ext cx="4649550" cy="520501"/>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0" y="4025524"/>
            <a:ext cx="3084556" cy="463481"/>
            <a:chOff x="0" y="0"/>
            <a:chExt cx="812393" cy="122069"/>
          </a:xfrm>
        </p:grpSpPr>
        <p:sp>
          <p:nvSpPr>
            <p:cNvPr id="12" name="Freeform 12"/>
            <p:cNvSpPr/>
            <p:nvPr/>
          </p:nvSpPr>
          <p:spPr>
            <a:xfrm>
              <a:off x="0" y="0"/>
              <a:ext cx="812393" cy="122069"/>
            </a:xfrm>
            <a:custGeom>
              <a:avLst/>
              <a:gdLst/>
              <a:ahLst/>
              <a:cxnLst/>
              <a:rect l="l" t="t" r="r" b="b"/>
              <a:pathLst>
                <a:path w="812393" h="122069">
                  <a:moveTo>
                    <a:pt x="0" y="0"/>
                  </a:moveTo>
                  <a:lnTo>
                    <a:pt x="812393" y="0"/>
                  </a:lnTo>
                  <a:lnTo>
                    <a:pt x="812393" y="122069"/>
                  </a:lnTo>
                  <a:lnTo>
                    <a:pt x="0" y="122069"/>
                  </a:lnTo>
                  <a:close/>
                </a:path>
              </a:pathLst>
            </a:custGeom>
            <a:solidFill>
              <a:srgbClr val="FFFFFF"/>
            </a:solidFill>
          </p:spPr>
          <p:txBody>
            <a:bodyPr/>
            <a:lstStyle/>
            <a:p>
              <a:endParaRPr lang="en-US"/>
            </a:p>
          </p:txBody>
        </p:sp>
        <p:sp>
          <p:nvSpPr>
            <p:cNvPr id="13" name="TextBox 13"/>
            <p:cNvSpPr txBox="1"/>
            <p:nvPr/>
          </p:nvSpPr>
          <p:spPr>
            <a:xfrm>
              <a:off x="0" y="-38100"/>
              <a:ext cx="812393" cy="160169"/>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200396" y="4630093"/>
            <a:ext cx="3624733" cy="1269366"/>
          </a:xfrm>
          <a:prstGeom prst="rect">
            <a:avLst/>
          </a:prstGeom>
        </p:spPr>
        <p:txBody>
          <a:bodyPr lIns="0" tIns="0" rIns="0" bIns="0" rtlCol="0" anchor="t">
            <a:spAutoFit/>
          </a:bodyPr>
          <a:lstStyle/>
          <a:p>
            <a:pPr algn="ctr">
              <a:lnSpc>
                <a:spcPts val="10359"/>
              </a:lnSpc>
            </a:pPr>
            <a:r>
              <a:rPr lang="en-US" sz="7399">
                <a:solidFill>
                  <a:srgbClr val="000000"/>
                </a:solidFill>
                <a:latin typeface="Montserrat"/>
                <a:ea typeface="Montserrat"/>
                <a:cs typeface="Montserrat"/>
                <a:sym typeface="Montserrat"/>
              </a:rPr>
              <a:t> TITLE</a:t>
            </a:r>
          </a:p>
        </p:txBody>
      </p:sp>
      <p:sp>
        <p:nvSpPr>
          <p:cNvPr id="15" name="TextBox 15"/>
          <p:cNvSpPr txBox="1"/>
          <p:nvPr/>
        </p:nvSpPr>
        <p:spPr>
          <a:xfrm>
            <a:off x="-200396" y="4068352"/>
            <a:ext cx="3234129" cy="323215"/>
          </a:xfrm>
          <a:prstGeom prst="rect">
            <a:avLst/>
          </a:prstGeom>
        </p:spPr>
        <p:txBody>
          <a:bodyPr lIns="0" tIns="0" rIns="0" bIns="0" rtlCol="0" anchor="t">
            <a:spAutoFit/>
          </a:bodyPr>
          <a:lstStyle/>
          <a:p>
            <a:pPr algn="ctr">
              <a:lnSpc>
                <a:spcPts val="2659"/>
              </a:lnSpc>
            </a:pPr>
            <a:r>
              <a:rPr lang="en-US" sz="1899">
                <a:solidFill>
                  <a:srgbClr val="000000"/>
                </a:solidFill>
                <a:latin typeface="Montserrat"/>
                <a:ea typeface="Montserrat"/>
                <a:cs typeface="Montserrat"/>
                <a:sym typeface="Montserrat"/>
              </a:rPr>
              <a:t>      ANMOL, AGARWAL      </a:t>
            </a:r>
          </a:p>
        </p:txBody>
      </p:sp>
      <p:sp>
        <p:nvSpPr>
          <p:cNvPr id="16" name="TextBox 16"/>
          <p:cNvSpPr txBox="1"/>
          <p:nvPr/>
        </p:nvSpPr>
        <p:spPr>
          <a:xfrm rot="-366574">
            <a:off x="1596238" y="2956675"/>
            <a:ext cx="4556385" cy="348742"/>
          </a:xfrm>
          <a:prstGeom prst="rect">
            <a:avLst/>
          </a:prstGeom>
        </p:spPr>
        <p:txBody>
          <a:bodyPr lIns="0" tIns="0" rIns="0" bIns="0" rtlCol="0" anchor="t">
            <a:spAutoFit/>
          </a:bodyPr>
          <a:lstStyle/>
          <a:p>
            <a:pPr algn="ctr">
              <a:lnSpc>
                <a:spcPts val="2827"/>
              </a:lnSpc>
            </a:pPr>
            <a:r>
              <a:rPr lang="en-US" sz="2019" b="1">
                <a:solidFill>
                  <a:srgbClr val="100F0D"/>
                </a:solidFill>
                <a:latin typeface="Source Sans Pro Bold"/>
                <a:ea typeface="Source Sans Pro Bold"/>
                <a:cs typeface="Source Sans Pro Bold"/>
                <a:sym typeface="Source Sans Pro Bold"/>
              </a:rPr>
              <a:t>Colloquium</a:t>
            </a:r>
          </a:p>
        </p:txBody>
      </p:sp>
      <p:sp>
        <p:nvSpPr>
          <p:cNvPr id="17" name="TextBox 17"/>
          <p:cNvSpPr txBox="1"/>
          <p:nvPr/>
        </p:nvSpPr>
        <p:spPr>
          <a:xfrm>
            <a:off x="274654" y="6328084"/>
            <a:ext cx="17073563" cy="2125978"/>
          </a:xfrm>
          <a:prstGeom prst="rect">
            <a:avLst/>
          </a:prstGeom>
        </p:spPr>
        <p:txBody>
          <a:bodyPr lIns="0" tIns="0" rIns="0" bIns="0" rtlCol="0" anchor="t">
            <a:spAutoFit/>
          </a:bodyPr>
          <a:lstStyle/>
          <a:p>
            <a:pPr algn="l">
              <a:lnSpc>
                <a:spcPts val="5740"/>
              </a:lnSpc>
            </a:pPr>
            <a:r>
              <a:rPr lang="en-US" sz="4100" b="1">
                <a:solidFill>
                  <a:srgbClr val="000000"/>
                </a:solidFill>
                <a:latin typeface="Montserrat Bold"/>
                <a:ea typeface="Montserrat Bold"/>
                <a:cs typeface="Montserrat Bold"/>
                <a:sym typeface="Montserrat Bold"/>
              </a:rPr>
              <a:t>EXAMINING TEMPORAL ISSUES IN EEG-BASED BCI:                     </a:t>
            </a:r>
          </a:p>
          <a:p>
            <a:pPr algn="l">
              <a:lnSpc>
                <a:spcPts val="5740"/>
              </a:lnSpc>
            </a:pPr>
            <a:r>
              <a:rPr lang="en-US" sz="4100" b="1">
                <a:solidFill>
                  <a:srgbClr val="000000"/>
                </a:solidFill>
                <a:latin typeface="Montserrat Bold"/>
                <a:ea typeface="Montserrat Bold"/>
                <a:cs typeface="Montserrat Bold"/>
                <a:sym typeface="Montserrat Bold"/>
              </a:rPr>
              <a:t>DETECTING IMAGINED WORDS IN CONTINUOUS EEG SIGNALS</a:t>
            </a:r>
          </a:p>
          <a:p>
            <a:pPr algn="l">
              <a:lnSpc>
                <a:spcPts val="5600"/>
              </a:lnSpc>
            </a:pPr>
            <a:endParaRPr lang="en-US" sz="4100" b="1">
              <a:solidFill>
                <a:srgbClr val="000000"/>
              </a:solidFill>
              <a:latin typeface="Montserrat Bold"/>
              <a:ea typeface="Montserrat Bold"/>
              <a:cs typeface="Montserrat Bold"/>
              <a:sym typeface="Montserrat Bold"/>
            </a:endParaRPr>
          </a:p>
        </p:txBody>
      </p:sp>
      <p:sp>
        <p:nvSpPr>
          <p:cNvPr id="18" name="TextBox 18"/>
          <p:cNvSpPr txBox="1"/>
          <p:nvPr/>
        </p:nvSpPr>
        <p:spPr>
          <a:xfrm>
            <a:off x="38100" y="8102273"/>
            <a:ext cx="2983920" cy="389254"/>
          </a:xfrm>
          <a:prstGeom prst="rect">
            <a:avLst/>
          </a:prstGeom>
        </p:spPr>
        <p:txBody>
          <a:bodyPr lIns="0" tIns="0" rIns="0" bIns="0" rtlCol="0" anchor="t">
            <a:spAutoFit/>
          </a:bodyPr>
          <a:lstStyle/>
          <a:p>
            <a:pPr algn="ctr">
              <a:lnSpc>
                <a:spcPts val="3220"/>
              </a:lnSpc>
            </a:pPr>
            <a:r>
              <a:rPr lang="en-US" sz="2300" dirty="0">
                <a:solidFill>
                  <a:srgbClr val="FFFFFF"/>
                </a:solidFill>
                <a:latin typeface="Open Sans"/>
                <a:ea typeface="Open Sans"/>
                <a:cs typeface="Open Sans"/>
                <a:sym typeface="Open Sans"/>
              </a:rPr>
              <a:t>Berlin and 23.05.2025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4085" y="2175749"/>
            <a:ext cx="13937501" cy="19050"/>
          </a:xfrm>
          <a:prstGeom prst="line">
            <a:avLst/>
          </a:prstGeom>
          <a:ln w="38100" cap="flat">
            <a:solidFill>
              <a:srgbClr val="55FF4D"/>
            </a:solidFill>
            <a:prstDash val="solid"/>
            <a:headEnd type="none" w="sm" len="sm"/>
            <a:tailEnd type="none" w="sm" len="sm"/>
          </a:ln>
        </p:spPr>
        <p:txBody>
          <a:bodyPr/>
          <a:lstStyle/>
          <a:p>
            <a:endParaRPr lang="en-US"/>
          </a:p>
        </p:txBody>
      </p:sp>
      <p:sp>
        <p:nvSpPr>
          <p:cNvPr id="3" name="AutoShape 3"/>
          <p:cNvSpPr/>
          <p:nvPr/>
        </p:nvSpPr>
        <p:spPr>
          <a:xfrm>
            <a:off x="-174059" y="3671254"/>
            <a:ext cx="13937501" cy="19050"/>
          </a:xfrm>
          <a:prstGeom prst="line">
            <a:avLst/>
          </a:prstGeom>
          <a:ln w="38100" cap="flat">
            <a:solidFill>
              <a:srgbClr val="55FF4D"/>
            </a:solidFill>
            <a:prstDash val="solid"/>
            <a:headEnd type="none" w="sm" len="sm"/>
            <a:tailEnd type="none" w="sm" len="sm"/>
          </a:ln>
        </p:spPr>
        <p:txBody>
          <a:bodyPr/>
          <a:lstStyle/>
          <a:p>
            <a:endParaRPr lang="en-US"/>
          </a:p>
        </p:txBody>
      </p:sp>
      <p:grpSp>
        <p:nvGrpSpPr>
          <p:cNvPr id="4" name="Group 4"/>
          <p:cNvGrpSpPr/>
          <p:nvPr/>
        </p:nvGrpSpPr>
        <p:grpSpPr>
          <a:xfrm>
            <a:off x="13974921" y="2241206"/>
            <a:ext cx="1383016" cy="1340274"/>
            <a:chOff x="0" y="0"/>
            <a:chExt cx="364251" cy="352994"/>
          </a:xfrm>
        </p:grpSpPr>
        <p:sp>
          <p:nvSpPr>
            <p:cNvPr id="5" name="Freeform 5"/>
            <p:cNvSpPr/>
            <p:nvPr/>
          </p:nvSpPr>
          <p:spPr>
            <a:xfrm>
              <a:off x="0" y="0"/>
              <a:ext cx="364251" cy="352994"/>
            </a:xfrm>
            <a:custGeom>
              <a:avLst/>
              <a:gdLst/>
              <a:ahLst/>
              <a:cxnLst/>
              <a:rect l="l" t="t" r="r" b="b"/>
              <a:pathLst>
                <a:path w="364251" h="352994">
                  <a:moveTo>
                    <a:pt x="0" y="0"/>
                  </a:moveTo>
                  <a:lnTo>
                    <a:pt x="364251" y="0"/>
                  </a:lnTo>
                  <a:lnTo>
                    <a:pt x="364251" y="352994"/>
                  </a:lnTo>
                  <a:lnTo>
                    <a:pt x="0" y="352994"/>
                  </a:lnTo>
                  <a:close/>
                </a:path>
              </a:pathLst>
            </a:custGeom>
            <a:solidFill>
              <a:srgbClr val="55FF4D"/>
            </a:solidFill>
          </p:spPr>
          <p:txBody>
            <a:bodyPr/>
            <a:lstStyle/>
            <a:p>
              <a:endParaRPr lang="en-US"/>
            </a:p>
          </p:txBody>
        </p:sp>
        <p:sp>
          <p:nvSpPr>
            <p:cNvPr id="6" name="TextBox 6"/>
            <p:cNvSpPr txBox="1"/>
            <p:nvPr/>
          </p:nvSpPr>
          <p:spPr>
            <a:xfrm>
              <a:off x="0" y="-38100"/>
              <a:ext cx="364251" cy="391094"/>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381001" y="670164"/>
            <a:ext cx="5953316" cy="953135"/>
          </a:xfrm>
          <a:prstGeom prst="rect">
            <a:avLst/>
          </a:prstGeom>
        </p:spPr>
        <p:txBody>
          <a:bodyPr wrap="square" lIns="0" tIns="0" rIns="0" bIns="0" rtlCol="0" anchor="t">
            <a:spAutoFit/>
          </a:bodyPr>
          <a:lstStyle/>
          <a:p>
            <a:pPr algn="ctr">
              <a:lnSpc>
                <a:spcPts val="7840"/>
              </a:lnSpc>
              <a:spcBef>
                <a:spcPct val="0"/>
              </a:spcBef>
            </a:pPr>
            <a:r>
              <a:rPr lang="en-US" sz="5600" b="1" dirty="0">
                <a:solidFill>
                  <a:srgbClr val="000000"/>
                </a:solidFill>
                <a:latin typeface="Montserrat Bold"/>
                <a:ea typeface="Montserrat Bold"/>
                <a:cs typeface="Montserrat Bold"/>
                <a:sym typeface="Montserrat Bold"/>
              </a:rPr>
              <a:t>Content List</a:t>
            </a:r>
          </a:p>
        </p:txBody>
      </p:sp>
      <p:sp>
        <p:nvSpPr>
          <p:cNvPr id="8" name="TextBox 8"/>
          <p:cNvSpPr txBox="1"/>
          <p:nvPr/>
        </p:nvSpPr>
        <p:spPr>
          <a:xfrm>
            <a:off x="673578" y="2432329"/>
            <a:ext cx="4340016" cy="863600"/>
          </a:xfrm>
          <a:prstGeom prst="rect">
            <a:avLst/>
          </a:prstGeom>
        </p:spPr>
        <p:txBody>
          <a:bodyPr lIns="0" tIns="0" rIns="0" bIns="0" rtlCol="0" anchor="t">
            <a:spAutoFit/>
          </a:bodyPr>
          <a:lstStyle/>
          <a:p>
            <a:pPr algn="ctr">
              <a:lnSpc>
                <a:spcPts val="7000"/>
              </a:lnSpc>
            </a:pPr>
            <a:r>
              <a:rPr lang="en-US" sz="5000">
                <a:solidFill>
                  <a:srgbClr val="000000"/>
                </a:solidFill>
                <a:latin typeface="Canva Sans"/>
                <a:ea typeface="Canva Sans"/>
                <a:cs typeface="Canva Sans"/>
                <a:sym typeface="Canva Sans"/>
              </a:rPr>
              <a:t>Introduction</a:t>
            </a:r>
          </a:p>
        </p:txBody>
      </p:sp>
      <p:sp>
        <p:nvSpPr>
          <p:cNvPr id="9" name="TextBox 9"/>
          <p:cNvSpPr txBox="1"/>
          <p:nvPr/>
        </p:nvSpPr>
        <p:spPr>
          <a:xfrm>
            <a:off x="14482440" y="2420171"/>
            <a:ext cx="347960"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1</a:t>
            </a:r>
          </a:p>
        </p:txBody>
      </p:sp>
      <p:sp>
        <p:nvSpPr>
          <p:cNvPr id="10" name="AutoShape 10"/>
          <p:cNvSpPr/>
          <p:nvPr/>
        </p:nvSpPr>
        <p:spPr>
          <a:xfrm>
            <a:off x="-174111" y="5167949"/>
            <a:ext cx="13937501" cy="19050"/>
          </a:xfrm>
          <a:prstGeom prst="line">
            <a:avLst/>
          </a:prstGeom>
          <a:ln w="38100" cap="flat">
            <a:solidFill>
              <a:srgbClr val="55FF4D"/>
            </a:solidFill>
            <a:prstDash val="solid"/>
            <a:headEnd type="none" w="sm" len="sm"/>
            <a:tailEnd type="none" w="sm" len="sm"/>
          </a:ln>
        </p:spPr>
        <p:txBody>
          <a:bodyPr/>
          <a:lstStyle/>
          <a:p>
            <a:endParaRPr lang="en-US"/>
          </a:p>
        </p:txBody>
      </p:sp>
      <p:sp>
        <p:nvSpPr>
          <p:cNvPr id="11" name="TextBox 11"/>
          <p:cNvSpPr txBox="1"/>
          <p:nvPr/>
        </p:nvSpPr>
        <p:spPr>
          <a:xfrm>
            <a:off x="673578" y="3928429"/>
            <a:ext cx="5660739" cy="863600"/>
          </a:xfrm>
          <a:prstGeom prst="rect">
            <a:avLst/>
          </a:prstGeom>
        </p:spPr>
        <p:txBody>
          <a:bodyPr lIns="0" tIns="0" rIns="0" bIns="0" rtlCol="0" anchor="t">
            <a:spAutoFit/>
          </a:bodyPr>
          <a:lstStyle/>
          <a:p>
            <a:pPr algn="ctr">
              <a:lnSpc>
                <a:spcPts val="7000"/>
              </a:lnSpc>
            </a:pPr>
            <a:r>
              <a:rPr lang="en-US" sz="5000">
                <a:solidFill>
                  <a:srgbClr val="000000"/>
                </a:solidFill>
                <a:latin typeface="Canva Sans"/>
                <a:ea typeface="Canva Sans"/>
                <a:cs typeface="Canva Sans"/>
                <a:sym typeface="Canva Sans"/>
              </a:rPr>
              <a:t>Literature Review</a:t>
            </a:r>
          </a:p>
        </p:txBody>
      </p:sp>
      <p:sp>
        <p:nvSpPr>
          <p:cNvPr id="12" name="AutoShape 12"/>
          <p:cNvSpPr/>
          <p:nvPr/>
        </p:nvSpPr>
        <p:spPr>
          <a:xfrm>
            <a:off x="-174007" y="6664644"/>
            <a:ext cx="13937501" cy="19050"/>
          </a:xfrm>
          <a:prstGeom prst="line">
            <a:avLst/>
          </a:prstGeom>
          <a:ln w="38100" cap="flat">
            <a:solidFill>
              <a:srgbClr val="55FF4D"/>
            </a:solidFill>
            <a:prstDash val="solid"/>
            <a:headEnd type="none" w="sm" len="sm"/>
            <a:tailEnd type="none" w="sm" len="sm"/>
          </a:ln>
        </p:spPr>
        <p:txBody>
          <a:bodyPr/>
          <a:lstStyle/>
          <a:p>
            <a:endParaRPr lang="en-US"/>
          </a:p>
        </p:txBody>
      </p:sp>
      <p:sp>
        <p:nvSpPr>
          <p:cNvPr id="13" name="TextBox 13"/>
          <p:cNvSpPr txBox="1"/>
          <p:nvPr/>
        </p:nvSpPr>
        <p:spPr>
          <a:xfrm>
            <a:off x="673578" y="5425124"/>
            <a:ext cx="4340016" cy="863600"/>
          </a:xfrm>
          <a:prstGeom prst="rect">
            <a:avLst/>
          </a:prstGeom>
        </p:spPr>
        <p:txBody>
          <a:bodyPr lIns="0" tIns="0" rIns="0" bIns="0" rtlCol="0" anchor="t">
            <a:spAutoFit/>
          </a:bodyPr>
          <a:lstStyle/>
          <a:p>
            <a:pPr algn="ctr">
              <a:lnSpc>
                <a:spcPts val="7000"/>
              </a:lnSpc>
            </a:pPr>
            <a:r>
              <a:rPr lang="en-US" sz="5000">
                <a:solidFill>
                  <a:srgbClr val="000000"/>
                </a:solidFill>
                <a:latin typeface="Canva Sans"/>
                <a:ea typeface="Canva Sans"/>
                <a:cs typeface="Canva Sans"/>
                <a:sym typeface="Canva Sans"/>
              </a:rPr>
              <a:t>Methodology</a:t>
            </a:r>
          </a:p>
        </p:txBody>
      </p:sp>
      <p:sp>
        <p:nvSpPr>
          <p:cNvPr id="14" name="AutoShape 14"/>
          <p:cNvSpPr/>
          <p:nvPr/>
        </p:nvSpPr>
        <p:spPr>
          <a:xfrm>
            <a:off x="-174059" y="8161340"/>
            <a:ext cx="13937501" cy="19050"/>
          </a:xfrm>
          <a:prstGeom prst="line">
            <a:avLst/>
          </a:prstGeom>
          <a:ln w="38100" cap="flat">
            <a:solidFill>
              <a:srgbClr val="55FF4D"/>
            </a:solidFill>
            <a:prstDash val="solid"/>
            <a:headEnd type="none" w="sm" len="sm"/>
            <a:tailEnd type="none" w="sm" len="sm"/>
          </a:ln>
        </p:spPr>
        <p:txBody>
          <a:bodyPr/>
          <a:lstStyle/>
          <a:p>
            <a:endParaRPr lang="en-US"/>
          </a:p>
        </p:txBody>
      </p:sp>
      <p:sp>
        <p:nvSpPr>
          <p:cNvPr id="15" name="TextBox 15"/>
          <p:cNvSpPr txBox="1"/>
          <p:nvPr/>
        </p:nvSpPr>
        <p:spPr>
          <a:xfrm>
            <a:off x="673578" y="6921819"/>
            <a:ext cx="5660739" cy="863600"/>
          </a:xfrm>
          <a:prstGeom prst="rect">
            <a:avLst/>
          </a:prstGeom>
        </p:spPr>
        <p:txBody>
          <a:bodyPr lIns="0" tIns="0" rIns="0" bIns="0" rtlCol="0" anchor="t">
            <a:spAutoFit/>
          </a:bodyPr>
          <a:lstStyle/>
          <a:p>
            <a:pPr algn="ctr">
              <a:lnSpc>
                <a:spcPts val="7000"/>
              </a:lnSpc>
            </a:pPr>
            <a:r>
              <a:rPr lang="en-US" sz="5000">
                <a:solidFill>
                  <a:srgbClr val="000000"/>
                </a:solidFill>
                <a:latin typeface="Canva Sans"/>
                <a:ea typeface="Canva Sans"/>
                <a:cs typeface="Canva Sans"/>
                <a:sym typeface="Canva Sans"/>
              </a:rPr>
              <a:t>Research Findings</a:t>
            </a:r>
          </a:p>
        </p:txBody>
      </p:sp>
      <p:sp>
        <p:nvSpPr>
          <p:cNvPr id="16" name="AutoShape 16"/>
          <p:cNvSpPr/>
          <p:nvPr/>
        </p:nvSpPr>
        <p:spPr>
          <a:xfrm>
            <a:off x="-173981" y="9658035"/>
            <a:ext cx="13937501" cy="19050"/>
          </a:xfrm>
          <a:prstGeom prst="line">
            <a:avLst/>
          </a:prstGeom>
          <a:ln w="38100" cap="flat">
            <a:solidFill>
              <a:srgbClr val="55FF4D"/>
            </a:solidFill>
            <a:prstDash val="solid"/>
            <a:headEnd type="none" w="sm" len="sm"/>
            <a:tailEnd type="none" w="sm" len="sm"/>
          </a:ln>
        </p:spPr>
        <p:txBody>
          <a:bodyPr/>
          <a:lstStyle/>
          <a:p>
            <a:endParaRPr lang="en-US"/>
          </a:p>
        </p:txBody>
      </p:sp>
      <p:sp>
        <p:nvSpPr>
          <p:cNvPr id="17" name="TextBox 17"/>
          <p:cNvSpPr txBox="1"/>
          <p:nvPr/>
        </p:nvSpPr>
        <p:spPr>
          <a:xfrm>
            <a:off x="673578" y="8418515"/>
            <a:ext cx="3692039" cy="863600"/>
          </a:xfrm>
          <a:prstGeom prst="rect">
            <a:avLst/>
          </a:prstGeom>
        </p:spPr>
        <p:txBody>
          <a:bodyPr lIns="0" tIns="0" rIns="0" bIns="0" rtlCol="0" anchor="t">
            <a:spAutoFit/>
          </a:bodyPr>
          <a:lstStyle/>
          <a:p>
            <a:pPr algn="ctr">
              <a:lnSpc>
                <a:spcPts val="7000"/>
              </a:lnSpc>
            </a:pPr>
            <a:r>
              <a:rPr lang="en-US" sz="5000">
                <a:solidFill>
                  <a:srgbClr val="000000"/>
                </a:solidFill>
                <a:latin typeface="Canva Sans"/>
                <a:ea typeface="Canva Sans"/>
                <a:cs typeface="Canva Sans"/>
                <a:sym typeface="Canva Sans"/>
              </a:rPr>
              <a:t>Conclusion</a:t>
            </a:r>
          </a:p>
        </p:txBody>
      </p:sp>
      <p:sp>
        <p:nvSpPr>
          <p:cNvPr id="18" name="Freeform 18"/>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2"/>
            <a:stretch>
              <a:fillRect t="-10270" b="-14099"/>
            </a:stretch>
          </a:blipFill>
        </p:spPr>
        <p:txBody>
          <a:bodyPr/>
          <a:lstStyle/>
          <a:p>
            <a:endParaRPr lang="en-US"/>
          </a:p>
        </p:txBody>
      </p:sp>
      <p:grpSp>
        <p:nvGrpSpPr>
          <p:cNvPr id="19" name="Group 19"/>
          <p:cNvGrpSpPr/>
          <p:nvPr/>
        </p:nvGrpSpPr>
        <p:grpSpPr>
          <a:xfrm>
            <a:off x="13974921" y="3758990"/>
            <a:ext cx="1383016" cy="1340274"/>
            <a:chOff x="0" y="0"/>
            <a:chExt cx="364251" cy="352994"/>
          </a:xfrm>
        </p:grpSpPr>
        <p:sp>
          <p:nvSpPr>
            <p:cNvPr id="20" name="Freeform 20"/>
            <p:cNvSpPr/>
            <p:nvPr/>
          </p:nvSpPr>
          <p:spPr>
            <a:xfrm>
              <a:off x="0" y="0"/>
              <a:ext cx="364251" cy="352994"/>
            </a:xfrm>
            <a:custGeom>
              <a:avLst/>
              <a:gdLst/>
              <a:ahLst/>
              <a:cxnLst/>
              <a:rect l="l" t="t" r="r" b="b"/>
              <a:pathLst>
                <a:path w="364251" h="352994">
                  <a:moveTo>
                    <a:pt x="0" y="0"/>
                  </a:moveTo>
                  <a:lnTo>
                    <a:pt x="364251" y="0"/>
                  </a:lnTo>
                  <a:lnTo>
                    <a:pt x="364251" y="352994"/>
                  </a:lnTo>
                  <a:lnTo>
                    <a:pt x="0" y="352994"/>
                  </a:lnTo>
                  <a:close/>
                </a:path>
              </a:pathLst>
            </a:custGeom>
            <a:solidFill>
              <a:srgbClr val="55FF4D"/>
            </a:solidFill>
          </p:spPr>
          <p:txBody>
            <a:bodyPr/>
            <a:lstStyle/>
            <a:p>
              <a:endParaRPr lang="en-US"/>
            </a:p>
          </p:txBody>
        </p:sp>
        <p:sp>
          <p:nvSpPr>
            <p:cNvPr id="21" name="TextBox 21"/>
            <p:cNvSpPr txBox="1"/>
            <p:nvPr/>
          </p:nvSpPr>
          <p:spPr>
            <a:xfrm>
              <a:off x="0" y="-38100"/>
              <a:ext cx="364251" cy="391094"/>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14472432" y="3937954"/>
            <a:ext cx="367978"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2</a:t>
            </a:r>
          </a:p>
        </p:txBody>
      </p:sp>
      <p:grpSp>
        <p:nvGrpSpPr>
          <p:cNvPr id="23" name="Group 23"/>
          <p:cNvGrpSpPr/>
          <p:nvPr/>
        </p:nvGrpSpPr>
        <p:grpSpPr>
          <a:xfrm>
            <a:off x="13974921" y="5255685"/>
            <a:ext cx="1383016" cy="1340274"/>
            <a:chOff x="0" y="0"/>
            <a:chExt cx="364251" cy="352994"/>
          </a:xfrm>
        </p:grpSpPr>
        <p:sp>
          <p:nvSpPr>
            <p:cNvPr id="24" name="Freeform 24"/>
            <p:cNvSpPr/>
            <p:nvPr/>
          </p:nvSpPr>
          <p:spPr>
            <a:xfrm>
              <a:off x="0" y="0"/>
              <a:ext cx="364251" cy="352994"/>
            </a:xfrm>
            <a:custGeom>
              <a:avLst/>
              <a:gdLst/>
              <a:ahLst/>
              <a:cxnLst/>
              <a:rect l="l" t="t" r="r" b="b"/>
              <a:pathLst>
                <a:path w="364251" h="352994">
                  <a:moveTo>
                    <a:pt x="0" y="0"/>
                  </a:moveTo>
                  <a:lnTo>
                    <a:pt x="364251" y="0"/>
                  </a:lnTo>
                  <a:lnTo>
                    <a:pt x="364251" y="352994"/>
                  </a:lnTo>
                  <a:lnTo>
                    <a:pt x="0" y="352994"/>
                  </a:lnTo>
                  <a:close/>
                </a:path>
              </a:pathLst>
            </a:custGeom>
            <a:solidFill>
              <a:srgbClr val="55FF4D"/>
            </a:solidFill>
          </p:spPr>
          <p:txBody>
            <a:bodyPr/>
            <a:lstStyle/>
            <a:p>
              <a:endParaRPr lang="en-US"/>
            </a:p>
          </p:txBody>
        </p:sp>
        <p:sp>
          <p:nvSpPr>
            <p:cNvPr id="25" name="TextBox 25"/>
            <p:cNvSpPr txBox="1"/>
            <p:nvPr/>
          </p:nvSpPr>
          <p:spPr>
            <a:xfrm>
              <a:off x="0" y="-38100"/>
              <a:ext cx="364251" cy="391094"/>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14461307" y="5434649"/>
            <a:ext cx="390227"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3</a:t>
            </a:r>
          </a:p>
        </p:txBody>
      </p:sp>
      <p:grpSp>
        <p:nvGrpSpPr>
          <p:cNvPr id="27" name="Group 27"/>
          <p:cNvGrpSpPr/>
          <p:nvPr/>
        </p:nvGrpSpPr>
        <p:grpSpPr>
          <a:xfrm>
            <a:off x="13974921" y="6752380"/>
            <a:ext cx="1383016" cy="1340274"/>
            <a:chOff x="0" y="0"/>
            <a:chExt cx="364251" cy="352994"/>
          </a:xfrm>
        </p:grpSpPr>
        <p:sp>
          <p:nvSpPr>
            <p:cNvPr id="28" name="Freeform 28"/>
            <p:cNvSpPr/>
            <p:nvPr/>
          </p:nvSpPr>
          <p:spPr>
            <a:xfrm>
              <a:off x="0" y="0"/>
              <a:ext cx="364251" cy="352994"/>
            </a:xfrm>
            <a:custGeom>
              <a:avLst/>
              <a:gdLst/>
              <a:ahLst/>
              <a:cxnLst/>
              <a:rect l="l" t="t" r="r" b="b"/>
              <a:pathLst>
                <a:path w="364251" h="352994">
                  <a:moveTo>
                    <a:pt x="0" y="0"/>
                  </a:moveTo>
                  <a:lnTo>
                    <a:pt x="364251" y="0"/>
                  </a:lnTo>
                  <a:lnTo>
                    <a:pt x="364251" y="352994"/>
                  </a:lnTo>
                  <a:lnTo>
                    <a:pt x="0" y="352994"/>
                  </a:lnTo>
                  <a:close/>
                </a:path>
              </a:pathLst>
            </a:custGeom>
            <a:solidFill>
              <a:srgbClr val="55FF4D"/>
            </a:solidFill>
          </p:spPr>
          <p:txBody>
            <a:bodyPr/>
            <a:lstStyle/>
            <a:p>
              <a:endParaRPr lang="en-US"/>
            </a:p>
          </p:txBody>
        </p:sp>
        <p:sp>
          <p:nvSpPr>
            <p:cNvPr id="29" name="TextBox 29"/>
            <p:cNvSpPr txBox="1"/>
            <p:nvPr/>
          </p:nvSpPr>
          <p:spPr>
            <a:xfrm>
              <a:off x="0" y="-38100"/>
              <a:ext cx="364251" cy="391094"/>
            </a:xfrm>
            <a:prstGeom prst="rect">
              <a:avLst/>
            </a:prstGeom>
          </p:spPr>
          <p:txBody>
            <a:bodyPr lIns="50800" tIns="50800" rIns="50800" bIns="50800" rtlCol="0" anchor="ctr"/>
            <a:lstStyle/>
            <a:p>
              <a:pPr algn="ctr">
                <a:lnSpc>
                  <a:spcPts val="2659"/>
                </a:lnSpc>
              </a:pPr>
              <a:endParaRPr/>
            </a:p>
          </p:txBody>
        </p:sp>
      </p:grpSp>
      <p:sp>
        <p:nvSpPr>
          <p:cNvPr id="30" name="TextBox 30"/>
          <p:cNvSpPr txBox="1"/>
          <p:nvPr/>
        </p:nvSpPr>
        <p:spPr>
          <a:xfrm>
            <a:off x="14451000" y="6931344"/>
            <a:ext cx="410840"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4</a:t>
            </a:r>
          </a:p>
        </p:txBody>
      </p:sp>
      <p:grpSp>
        <p:nvGrpSpPr>
          <p:cNvPr id="31" name="Group 31"/>
          <p:cNvGrpSpPr/>
          <p:nvPr/>
        </p:nvGrpSpPr>
        <p:grpSpPr>
          <a:xfrm>
            <a:off x="13974921" y="8249075"/>
            <a:ext cx="1383016" cy="1340274"/>
            <a:chOff x="0" y="0"/>
            <a:chExt cx="364251" cy="352994"/>
          </a:xfrm>
        </p:grpSpPr>
        <p:sp>
          <p:nvSpPr>
            <p:cNvPr id="32" name="Freeform 32"/>
            <p:cNvSpPr/>
            <p:nvPr/>
          </p:nvSpPr>
          <p:spPr>
            <a:xfrm>
              <a:off x="0" y="0"/>
              <a:ext cx="364251" cy="352994"/>
            </a:xfrm>
            <a:custGeom>
              <a:avLst/>
              <a:gdLst/>
              <a:ahLst/>
              <a:cxnLst/>
              <a:rect l="l" t="t" r="r" b="b"/>
              <a:pathLst>
                <a:path w="364251" h="352994">
                  <a:moveTo>
                    <a:pt x="0" y="0"/>
                  </a:moveTo>
                  <a:lnTo>
                    <a:pt x="364251" y="0"/>
                  </a:lnTo>
                  <a:lnTo>
                    <a:pt x="364251" y="352994"/>
                  </a:lnTo>
                  <a:lnTo>
                    <a:pt x="0" y="352994"/>
                  </a:lnTo>
                  <a:close/>
                </a:path>
              </a:pathLst>
            </a:custGeom>
            <a:solidFill>
              <a:srgbClr val="55FF4D"/>
            </a:solidFill>
          </p:spPr>
          <p:txBody>
            <a:bodyPr/>
            <a:lstStyle/>
            <a:p>
              <a:endParaRPr lang="en-US"/>
            </a:p>
          </p:txBody>
        </p:sp>
        <p:sp>
          <p:nvSpPr>
            <p:cNvPr id="33" name="TextBox 33"/>
            <p:cNvSpPr txBox="1"/>
            <p:nvPr/>
          </p:nvSpPr>
          <p:spPr>
            <a:xfrm>
              <a:off x="0" y="-38100"/>
              <a:ext cx="364251" cy="391094"/>
            </a:xfrm>
            <a:prstGeom prst="rect">
              <a:avLst/>
            </a:prstGeom>
          </p:spPr>
          <p:txBody>
            <a:bodyPr lIns="50800" tIns="50800" rIns="50800" bIns="50800" rtlCol="0" anchor="ctr"/>
            <a:lstStyle/>
            <a:p>
              <a:pPr algn="ctr">
                <a:lnSpc>
                  <a:spcPts val="2659"/>
                </a:lnSpc>
              </a:pPr>
              <a:endParaRPr/>
            </a:p>
          </p:txBody>
        </p:sp>
      </p:grpSp>
      <p:sp>
        <p:nvSpPr>
          <p:cNvPr id="34" name="TextBox 34"/>
          <p:cNvSpPr txBox="1"/>
          <p:nvPr/>
        </p:nvSpPr>
        <p:spPr>
          <a:xfrm>
            <a:off x="14457772" y="8428040"/>
            <a:ext cx="397297" cy="887095"/>
          </a:xfrm>
          <a:prstGeom prst="rect">
            <a:avLst/>
          </a:prstGeom>
        </p:spPr>
        <p:txBody>
          <a:bodyPr lIns="0" tIns="0" rIns="0" bIns="0" rtlCol="0" anchor="t">
            <a:spAutoFit/>
          </a:bodyPr>
          <a:lstStyle/>
          <a:p>
            <a:pPr algn="ctr">
              <a:lnSpc>
                <a:spcPts val="7279"/>
              </a:lnSpc>
            </a:pPr>
            <a:r>
              <a:rPr lang="en-US" sz="5199" b="1">
                <a:solidFill>
                  <a:srgbClr val="000000"/>
                </a:solidFill>
                <a:latin typeface="Canva Sans Bold"/>
                <a:ea typeface="Canva Sans Bold"/>
                <a:cs typeface="Canva Sans Bold"/>
                <a:sym typeface="Canva Sans Bold"/>
              </a:rPr>
              <a:t>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2C2C7"/>
        </a:solidFill>
        <a:effectLst/>
      </p:bgPr>
    </p:bg>
    <p:spTree>
      <p:nvGrpSpPr>
        <p:cNvPr id="1" name=""/>
        <p:cNvGrpSpPr/>
        <p:nvPr/>
      </p:nvGrpSpPr>
      <p:grpSpPr>
        <a:xfrm>
          <a:off x="0" y="0"/>
          <a:ext cx="0" cy="0"/>
          <a:chOff x="0" y="0"/>
          <a:chExt cx="0" cy="0"/>
        </a:xfrm>
      </p:grpSpPr>
      <p:sp>
        <p:nvSpPr>
          <p:cNvPr id="2" name="Freeform 2"/>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2"/>
            <a:stretch>
              <a:fillRect t="-10270" b="-14099"/>
            </a:stretch>
          </a:blipFill>
        </p:spPr>
        <p:txBody>
          <a:bodyPr/>
          <a:lstStyle/>
          <a:p>
            <a:endParaRPr lang="en-US"/>
          </a:p>
        </p:txBody>
      </p:sp>
      <p:grpSp>
        <p:nvGrpSpPr>
          <p:cNvPr id="3" name="Group 3"/>
          <p:cNvGrpSpPr/>
          <p:nvPr/>
        </p:nvGrpSpPr>
        <p:grpSpPr>
          <a:xfrm>
            <a:off x="0" y="3379824"/>
            <a:ext cx="4751818" cy="1261931"/>
            <a:chOff x="0" y="0"/>
            <a:chExt cx="1251508" cy="332360"/>
          </a:xfrm>
        </p:grpSpPr>
        <p:sp>
          <p:nvSpPr>
            <p:cNvPr id="4" name="Freeform 4"/>
            <p:cNvSpPr/>
            <p:nvPr/>
          </p:nvSpPr>
          <p:spPr>
            <a:xfrm>
              <a:off x="0" y="0"/>
              <a:ext cx="1251508" cy="332360"/>
            </a:xfrm>
            <a:custGeom>
              <a:avLst/>
              <a:gdLst/>
              <a:ahLst/>
              <a:cxnLst/>
              <a:rect l="l" t="t" r="r" b="b"/>
              <a:pathLst>
                <a:path w="1251508" h="332360">
                  <a:moveTo>
                    <a:pt x="0" y="0"/>
                  </a:moveTo>
                  <a:lnTo>
                    <a:pt x="1251508" y="0"/>
                  </a:lnTo>
                  <a:lnTo>
                    <a:pt x="1251508" y="332360"/>
                  </a:lnTo>
                  <a:lnTo>
                    <a:pt x="0" y="332360"/>
                  </a:lnTo>
                  <a:close/>
                </a:path>
              </a:pathLst>
            </a:custGeom>
            <a:solidFill>
              <a:srgbClr val="55FF4D"/>
            </a:solidFill>
          </p:spPr>
          <p:txBody>
            <a:bodyPr/>
            <a:lstStyle/>
            <a:p>
              <a:endParaRPr lang="en-US"/>
            </a:p>
          </p:txBody>
        </p:sp>
        <p:sp>
          <p:nvSpPr>
            <p:cNvPr id="5" name="TextBox 5"/>
            <p:cNvSpPr txBox="1"/>
            <p:nvPr/>
          </p:nvSpPr>
          <p:spPr>
            <a:xfrm>
              <a:off x="0" y="-38100"/>
              <a:ext cx="1251508" cy="37046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152069" y="4810216"/>
            <a:ext cx="7967346" cy="1213602"/>
            <a:chOff x="0" y="0"/>
            <a:chExt cx="2098396" cy="319632"/>
          </a:xfrm>
        </p:grpSpPr>
        <p:sp>
          <p:nvSpPr>
            <p:cNvPr id="7" name="Freeform 7"/>
            <p:cNvSpPr/>
            <p:nvPr/>
          </p:nvSpPr>
          <p:spPr>
            <a:xfrm>
              <a:off x="0" y="0"/>
              <a:ext cx="2098396" cy="319632"/>
            </a:xfrm>
            <a:custGeom>
              <a:avLst/>
              <a:gdLst/>
              <a:ahLst/>
              <a:cxnLst/>
              <a:rect l="l" t="t" r="r" b="b"/>
              <a:pathLst>
                <a:path w="2098396" h="319632">
                  <a:moveTo>
                    <a:pt x="0" y="0"/>
                  </a:moveTo>
                  <a:lnTo>
                    <a:pt x="2098396" y="0"/>
                  </a:lnTo>
                  <a:lnTo>
                    <a:pt x="2098396" y="319632"/>
                  </a:lnTo>
                  <a:lnTo>
                    <a:pt x="0" y="319632"/>
                  </a:lnTo>
                  <a:close/>
                </a:path>
              </a:pathLst>
            </a:custGeom>
            <a:solidFill>
              <a:srgbClr val="55FF4D"/>
            </a:solidFill>
          </p:spPr>
          <p:txBody>
            <a:bodyPr/>
            <a:lstStyle/>
            <a:p>
              <a:endParaRPr lang="en-US"/>
            </a:p>
          </p:txBody>
        </p:sp>
        <p:sp>
          <p:nvSpPr>
            <p:cNvPr id="8" name="TextBox 8"/>
            <p:cNvSpPr txBox="1"/>
            <p:nvPr/>
          </p:nvSpPr>
          <p:spPr>
            <a:xfrm>
              <a:off x="0" y="-38100"/>
              <a:ext cx="2098396" cy="357732"/>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412644" y="3453241"/>
            <a:ext cx="5451708" cy="1028700"/>
          </a:xfrm>
          <a:prstGeom prst="rect">
            <a:avLst/>
          </a:prstGeom>
        </p:spPr>
        <p:txBody>
          <a:bodyPr lIns="0" tIns="0" rIns="0" bIns="0" rtlCol="0" anchor="t">
            <a:spAutoFit/>
          </a:bodyPr>
          <a:lstStyle/>
          <a:p>
            <a:pPr algn="ctr">
              <a:lnSpc>
                <a:spcPts val="8400"/>
              </a:lnSpc>
            </a:pPr>
            <a:r>
              <a:rPr lang="en-US" sz="6000">
                <a:solidFill>
                  <a:srgbClr val="000000"/>
                </a:solidFill>
                <a:latin typeface="Montserrat"/>
                <a:ea typeface="Montserrat"/>
                <a:cs typeface="Montserrat"/>
                <a:sym typeface="Montserrat"/>
              </a:rPr>
              <a:t>CHAPTER 1</a:t>
            </a:r>
          </a:p>
        </p:txBody>
      </p:sp>
      <p:sp>
        <p:nvSpPr>
          <p:cNvPr id="10" name="TextBox 10"/>
          <p:cNvSpPr txBox="1"/>
          <p:nvPr/>
        </p:nvSpPr>
        <p:spPr>
          <a:xfrm>
            <a:off x="-921183" y="4859687"/>
            <a:ext cx="8559450" cy="1028700"/>
          </a:xfrm>
          <a:prstGeom prst="rect">
            <a:avLst/>
          </a:prstGeom>
        </p:spPr>
        <p:txBody>
          <a:bodyPr lIns="0" tIns="0" rIns="0" bIns="0" rtlCol="0" anchor="t">
            <a:spAutoFit/>
          </a:bodyPr>
          <a:lstStyle/>
          <a:p>
            <a:pPr algn="ctr">
              <a:lnSpc>
                <a:spcPts val="8400"/>
              </a:lnSpc>
            </a:pPr>
            <a:r>
              <a:rPr lang="en-US" sz="6000" b="1">
                <a:solidFill>
                  <a:srgbClr val="000000"/>
                </a:solidFill>
                <a:latin typeface="Montserrat Bold"/>
                <a:ea typeface="Montserrat Bold"/>
                <a:cs typeface="Montserrat Bold"/>
                <a:sym typeface="Montserrat Bold"/>
              </a:rPr>
              <a:t>INTRODUCTION</a:t>
            </a:r>
          </a:p>
        </p:txBody>
      </p:sp>
      <p:sp>
        <p:nvSpPr>
          <p:cNvPr id="11" name="TextBox 11"/>
          <p:cNvSpPr txBox="1"/>
          <p:nvPr/>
        </p:nvSpPr>
        <p:spPr>
          <a:xfrm>
            <a:off x="224553" y="-199390"/>
            <a:ext cx="1971749" cy="2321564"/>
          </a:xfrm>
          <a:prstGeom prst="rect">
            <a:avLst/>
          </a:prstGeom>
        </p:spPr>
        <p:txBody>
          <a:bodyPr lIns="0" tIns="0" rIns="0" bIns="0" rtlCol="0" anchor="t">
            <a:spAutoFit/>
          </a:bodyPr>
          <a:lstStyle/>
          <a:p>
            <a:pPr algn="ctr">
              <a:lnSpc>
                <a:spcPts val="19039"/>
              </a:lnSpc>
              <a:spcBef>
                <a:spcPct val="0"/>
              </a:spcBef>
            </a:pPr>
            <a:r>
              <a:rPr lang="en-US" sz="13599" b="1">
                <a:solidFill>
                  <a:srgbClr val="FFFFFF"/>
                </a:solidFill>
                <a:latin typeface="Open Sans Bold"/>
                <a:ea typeface="Open Sans Bold"/>
                <a:cs typeface="Open Sans Bold"/>
                <a:sym typeface="Open Sans Bold"/>
              </a:rPr>
              <a:t>01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7788" y="-177024"/>
            <a:ext cx="7551852" cy="11057957"/>
          </a:xfrm>
          <a:custGeom>
            <a:avLst/>
            <a:gdLst/>
            <a:ahLst/>
            <a:cxnLst/>
            <a:rect l="l" t="t" r="r" b="b"/>
            <a:pathLst>
              <a:path w="7551852" h="11057957">
                <a:moveTo>
                  <a:pt x="0" y="0"/>
                </a:moveTo>
                <a:lnTo>
                  <a:pt x="7551852" y="0"/>
                </a:lnTo>
                <a:lnTo>
                  <a:pt x="7551852" y="11057957"/>
                </a:lnTo>
                <a:lnTo>
                  <a:pt x="0" y="11057957"/>
                </a:lnTo>
                <a:lnTo>
                  <a:pt x="0" y="0"/>
                </a:lnTo>
                <a:close/>
              </a:path>
            </a:pathLst>
          </a:custGeom>
          <a:blipFill>
            <a:blip r:embed="rId2"/>
            <a:stretch>
              <a:fillRect l="-78598" r="-65446"/>
            </a:stretch>
          </a:blipFill>
        </p:spPr>
        <p:txBody>
          <a:bodyPr/>
          <a:lstStyle/>
          <a:p>
            <a:endParaRPr lang="en-US"/>
          </a:p>
        </p:txBody>
      </p:sp>
      <p:grpSp>
        <p:nvGrpSpPr>
          <p:cNvPr id="3" name="Group 3"/>
          <p:cNvGrpSpPr/>
          <p:nvPr/>
        </p:nvGrpSpPr>
        <p:grpSpPr>
          <a:xfrm>
            <a:off x="-157788" y="-4892"/>
            <a:ext cx="7551852" cy="10601584"/>
            <a:chOff x="0" y="0"/>
            <a:chExt cx="1988965" cy="2792187"/>
          </a:xfrm>
        </p:grpSpPr>
        <p:sp>
          <p:nvSpPr>
            <p:cNvPr id="4" name="Freeform 4"/>
            <p:cNvSpPr/>
            <p:nvPr/>
          </p:nvSpPr>
          <p:spPr>
            <a:xfrm>
              <a:off x="0" y="0"/>
              <a:ext cx="1988965" cy="2792187"/>
            </a:xfrm>
            <a:custGeom>
              <a:avLst/>
              <a:gdLst/>
              <a:ahLst/>
              <a:cxnLst/>
              <a:rect l="l" t="t" r="r" b="b"/>
              <a:pathLst>
                <a:path w="1988965" h="2792187">
                  <a:moveTo>
                    <a:pt x="0" y="0"/>
                  </a:moveTo>
                  <a:lnTo>
                    <a:pt x="1988965" y="0"/>
                  </a:lnTo>
                  <a:lnTo>
                    <a:pt x="1988965" y="2792187"/>
                  </a:lnTo>
                  <a:lnTo>
                    <a:pt x="0" y="2792187"/>
                  </a:lnTo>
                  <a:close/>
                </a:path>
              </a:pathLst>
            </a:custGeom>
            <a:solidFill>
              <a:srgbClr val="55FF4D">
                <a:alpha val="25882"/>
              </a:srgbClr>
            </a:solidFill>
          </p:spPr>
          <p:txBody>
            <a:bodyPr/>
            <a:lstStyle/>
            <a:p>
              <a:endParaRPr lang="en-US"/>
            </a:p>
          </p:txBody>
        </p:sp>
        <p:sp>
          <p:nvSpPr>
            <p:cNvPr id="5" name="TextBox 5"/>
            <p:cNvSpPr txBox="1"/>
            <p:nvPr/>
          </p:nvSpPr>
          <p:spPr>
            <a:xfrm>
              <a:off x="0" y="-38100"/>
              <a:ext cx="1988965" cy="2830287"/>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7857590" y="1028700"/>
            <a:ext cx="8011990" cy="816459"/>
          </a:xfrm>
          <a:prstGeom prst="rect">
            <a:avLst/>
          </a:prstGeom>
        </p:spPr>
        <p:txBody>
          <a:bodyPr lIns="0" tIns="0" rIns="0" bIns="0" rtlCol="0" anchor="t">
            <a:spAutoFit/>
          </a:bodyPr>
          <a:lstStyle/>
          <a:p>
            <a:pPr algn="l">
              <a:lnSpc>
                <a:spcPts val="6403"/>
              </a:lnSpc>
            </a:pPr>
            <a:r>
              <a:rPr lang="en-US" sz="5380" b="1" dirty="0">
                <a:solidFill>
                  <a:srgbClr val="1C2120"/>
                </a:solidFill>
                <a:latin typeface="Montserrat Bold"/>
                <a:ea typeface="Montserrat Bold"/>
                <a:cs typeface="Montserrat Bold"/>
                <a:sym typeface="Montserrat Bold"/>
              </a:rPr>
              <a:t>Introduction</a:t>
            </a:r>
          </a:p>
        </p:txBody>
      </p:sp>
      <p:sp>
        <p:nvSpPr>
          <p:cNvPr id="11" name="TextBox 11"/>
          <p:cNvSpPr txBox="1"/>
          <p:nvPr/>
        </p:nvSpPr>
        <p:spPr>
          <a:xfrm>
            <a:off x="7876943" y="5285279"/>
            <a:ext cx="9877657" cy="2941506"/>
          </a:xfrm>
          <a:prstGeom prst="rect">
            <a:avLst/>
          </a:prstGeom>
        </p:spPr>
        <p:txBody>
          <a:bodyPr lIns="0" tIns="0" rIns="0" bIns="0" rtlCol="0" anchor="t">
            <a:spAutoFit/>
          </a:bodyPr>
          <a:lstStyle/>
          <a:p>
            <a:pPr algn="l">
              <a:lnSpc>
                <a:spcPts val="2945"/>
              </a:lnSpc>
            </a:pPr>
            <a:endParaRPr dirty="0"/>
          </a:p>
          <a:p>
            <a:pPr algn="l">
              <a:lnSpc>
                <a:spcPts val="2945"/>
              </a:lnSpc>
            </a:pPr>
            <a:endParaRPr dirty="0"/>
          </a:p>
          <a:p>
            <a:pPr marL="392492" lvl="1" indent="-196246" algn="l">
              <a:lnSpc>
                <a:spcPts val="2945"/>
              </a:lnSpc>
              <a:buFont typeface="Arial"/>
              <a:buChar char="•"/>
            </a:pPr>
            <a:r>
              <a:rPr lang="en-US" sz="1817" b="1" dirty="0">
                <a:solidFill>
                  <a:srgbClr val="000000"/>
                </a:solidFill>
                <a:latin typeface="Open Sans Bold"/>
                <a:ea typeface="Open Sans Bold"/>
                <a:cs typeface="Open Sans Bold"/>
                <a:sym typeface="Open Sans Bold"/>
              </a:rPr>
              <a:t>Core Problem</a:t>
            </a:r>
            <a:r>
              <a:rPr lang="en-US" sz="1817" dirty="0">
                <a:solidFill>
                  <a:srgbClr val="000000"/>
                </a:solidFill>
                <a:latin typeface="Open Sans"/>
                <a:ea typeface="Open Sans"/>
                <a:cs typeface="Open Sans"/>
                <a:sym typeface="Open Sans"/>
              </a:rPr>
              <a:t>: This thesis focuses on a specific type of BCI called imagined speech BCI, which aims to decode words that people imagine saying. This technology has the potential to significantly improve the lives of individuals with severe motor disabilities who have lost the ability to speak.</a:t>
            </a:r>
          </a:p>
          <a:p>
            <a:pPr algn="l">
              <a:lnSpc>
                <a:spcPts val="2945"/>
              </a:lnSpc>
            </a:pPr>
            <a:endParaRPr lang="en-US" sz="1817" dirty="0">
              <a:solidFill>
                <a:srgbClr val="000000"/>
              </a:solidFill>
              <a:latin typeface="Open Sans"/>
              <a:ea typeface="Open Sans"/>
              <a:cs typeface="Open Sans"/>
              <a:sym typeface="Open Sans"/>
            </a:endParaRPr>
          </a:p>
          <a:p>
            <a:pPr marL="0" lvl="0" indent="0" algn="l">
              <a:lnSpc>
                <a:spcPts val="2945"/>
              </a:lnSpc>
            </a:pPr>
            <a:endParaRPr lang="en-US" sz="1817" dirty="0">
              <a:solidFill>
                <a:srgbClr val="000000"/>
              </a:solidFill>
              <a:latin typeface="Open Sans"/>
              <a:ea typeface="Open Sans"/>
              <a:cs typeface="Open Sans"/>
              <a:sym typeface="Open Sans"/>
            </a:endParaRPr>
          </a:p>
        </p:txBody>
      </p:sp>
      <p:sp>
        <p:nvSpPr>
          <p:cNvPr id="13" name="TextBox 13"/>
          <p:cNvSpPr txBox="1"/>
          <p:nvPr/>
        </p:nvSpPr>
        <p:spPr>
          <a:xfrm>
            <a:off x="7857590" y="2505330"/>
            <a:ext cx="9877657" cy="2422818"/>
          </a:xfrm>
          <a:prstGeom prst="rect">
            <a:avLst/>
          </a:prstGeom>
        </p:spPr>
        <p:txBody>
          <a:bodyPr lIns="0" tIns="0" rIns="0" bIns="0" rtlCol="0" anchor="t">
            <a:spAutoFit/>
          </a:bodyPr>
          <a:lstStyle/>
          <a:p>
            <a:pPr algn="l">
              <a:lnSpc>
                <a:spcPts val="2454"/>
              </a:lnSpc>
            </a:pPr>
            <a:r>
              <a:rPr lang="en-US" sz="1817" b="1" dirty="0">
                <a:solidFill>
                  <a:srgbClr val="040606"/>
                </a:solidFill>
                <a:latin typeface="Open Sans Bold"/>
                <a:ea typeface="Open Sans Bold"/>
                <a:cs typeface="Open Sans Bold"/>
                <a:sym typeface="Open Sans Bold"/>
              </a:rPr>
              <a:t>Close your eyes and imagine speaking a word.</a:t>
            </a:r>
            <a:r>
              <a:rPr lang="en-US" sz="1817" dirty="0">
                <a:solidFill>
                  <a:srgbClr val="040606"/>
                </a:solidFill>
                <a:latin typeface="Open Sans"/>
                <a:ea typeface="Open Sans"/>
                <a:cs typeface="Open Sans"/>
                <a:sym typeface="Open Sans"/>
              </a:rPr>
              <a:t> </a:t>
            </a:r>
          </a:p>
          <a:p>
            <a:pPr algn="l">
              <a:lnSpc>
                <a:spcPts val="2454"/>
              </a:lnSpc>
            </a:pPr>
            <a:endParaRPr lang="en-US" sz="1817" dirty="0">
              <a:solidFill>
                <a:srgbClr val="040606"/>
              </a:solidFill>
              <a:latin typeface="Open Sans"/>
              <a:ea typeface="Open Sans"/>
              <a:cs typeface="Open Sans"/>
              <a:sym typeface="Open Sans"/>
            </a:endParaRPr>
          </a:p>
          <a:p>
            <a:pPr algn="l">
              <a:lnSpc>
                <a:spcPts val="2454"/>
              </a:lnSpc>
            </a:pPr>
            <a:r>
              <a:rPr lang="en-US" sz="1817" dirty="0">
                <a:solidFill>
                  <a:srgbClr val="040606"/>
                </a:solidFill>
                <a:latin typeface="Open Sans"/>
                <a:ea typeface="Open Sans"/>
                <a:cs typeface="Open Sans"/>
                <a:sym typeface="Open Sans"/>
              </a:rPr>
              <a:t>Imagine being able to communicate simply by thinking. This is the promise of Brain-Computer Interfaces, or BCIs.</a:t>
            </a:r>
          </a:p>
          <a:p>
            <a:pPr algn="l">
              <a:lnSpc>
                <a:spcPts val="2454"/>
              </a:lnSpc>
            </a:pPr>
            <a:endParaRPr lang="en-US" sz="1817" dirty="0">
              <a:solidFill>
                <a:srgbClr val="040606"/>
              </a:solidFill>
              <a:latin typeface="Open Sans"/>
              <a:ea typeface="Open Sans"/>
              <a:cs typeface="Open Sans"/>
              <a:sym typeface="Open Sans"/>
            </a:endParaRPr>
          </a:p>
          <a:p>
            <a:pPr algn="l">
              <a:lnSpc>
                <a:spcPts val="2454"/>
              </a:lnSpc>
            </a:pPr>
            <a:r>
              <a:rPr lang="en-US" sz="1817" dirty="0">
                <a:solidFill>
                  <a:srgbClr val="040606"/>
                </a:solidFill>
                <a:latin typeface="Open Sans"/>
                <a:ea typeface="Open Sans"/>
                <a:cs typeface="Open Sans"/>
                <a:sym typeface="Open Sans"/>
              </a:rPr>
              <a:t>Brain-Computer Interfaces (BCIs)  offer a way to translate brain signals into commands for external devices, opening up new possibilities for communication and control.</a:t>
            </a:r>
          </a:p>
          <a:p>
            <a:pPr marL="0" lvl="0" indent="0" algn="l">
              <a:lnSpc>
                <a:spcPts val="2454"/>
              </a:lnSpc>
              <a:spcBef>
                <a:spcPct val="0"/>
              </a:spcBef>
            </a:pPr>
            <a:endParaRPr lang="en-US" sz="1817" dirty="0">
              <a:solidFill>
                <a:srgbClr val="040606"/>
              </a:solidFill>
              <a:latin typeface="Open Sans"/>
              <a:ea typeface="Open Sans"/>
              <a:cs typeface="Open Sans"/>
              <a:sym typeface="Open Sans"/>
            </a:endParaRPr>
          </a:p>
        </p:txBody>
      </p:sp>
      <p:sp>
        <p:nvSpPr>
          <p:cNvPr id="14" name="TextBox 14"/>
          <p:cNvSpPr txBox="1"/>
          <p:nvPr/>
        </p:nvSpPr>
        <p:spPr>
          <a:xfrm>
            <a:off x="7857590" y="4836966"/>
            <a:ext cx="9877657" cy="898818"/>
          </a:xfrm>
          <a:prstGeom prst="rect">
            <a:avLst/>
          </a:prstGeom>
        </p:spPr>
        <p:txBody>
          <a:bodyPr lIns="0" tIns="0" rIns="0" bIns="0" rtlCol="0" anchor="t">
            <a:spAutoFit/>
          </a:bodyPr>
          <a:lstStyle/>
          <a:p>
            <a:pPr marL="0" lvl="0" indent="0" algn="l">
              <a:lnSpc>
                <a:spcPts val="2454"/>
              </a:lnSpc>
              <a:spcBef>
                <a:spcPct val="0"/>
              </a:spcBef>
            </a:pPr>
            <a:r>
              <a:rPr lang="en-US" sz="1817" dirty="0">
                <a:solidFill>
                  <a:srgbClr val="000000"/>
                </a:solidFill>
                <a:latin typeface="Open Sans"/>
                <a:ea typeface="Open Sans"/>
                <a:cs typeface="Open Sans"/>
                <a:sym typeface="Open Sans"/>
              </a:rPr>
              <a:t>This research explores the exciting possibility of decoding imagined speech directly from brain activity, with the aim of improving communication for people with severe motor disabilities.</a:t>
            </a:r>
          </a:p>
        </p:txBody>
      </p:sp>
      <p:sp>
        <p:nvSpPr>
          <p:cNvPr id="15" name="Freeform 2">
            <a:extLst>
              <a:ext uri="{FF2B5EF4-FFF2-40B4-BE49-F238E27FC236}">
                <a16:creationId xmlns:a16="http://schemas.microsoft.com/office/drawing/2014/main" id="{F56BD312-F623-18A6-BC5D-7AA745BD7480}"/>
              </a:ext>
            </a:extLst>
          </p:cNvPr>
          <p:cNvSpPr/>
          <p:nvPr/>
        </p:nvSpPr>
        <p:spPr>
          <a:xfrm>
            <a:off x="14173200" y="-15766"/>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3"/>
            <a:stretch>
              <a:fillRect t="-10270" b="-14099"/>
            </a:stretch>
          </a:blipFill>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2"/>
            <a:stretch>
              <a:fillRect t="-10270" b="-14099"/>
            </a:stretch>
          </a:blipFill>
        </p:spPr>
        <p:txBody>
          <a:bodyPr/>
          <a:lstStyle/>
          <a:p>
            <a:endParaRPr lang="en-US"/>
          </a:p>
        </p:txBody>
      </p:sp>
      <p:sp>
        <p:nvSpPr>
          <p:cNvPr id="3" name="TextBox 3"/>
          <p:cNvSpPr txBox="1"/>
          <p:nvPr/>
        </p:nvSpPr>
        <p:spPr>
          <a:xfrm>
            <a:off x="533401" y="1944269"/>
            <a:ext cx="9525000" cy="1460143"/>
          </a:xfrm>
          <a:prstGeom prst="rect">
            <a:avLst/>
          </a:prstGeom>
        </p:spPr>
        <p:txBody>
          <a:bodyPr wrap="square" lIns="0" tIns="0" rIns="0" bIns="0" rtlCol="0" anchor="t">
            <a:spAutoFit/>
          </a:bodyPr>
          <a:lstStyle/>
          <a:p>
            <a:pPr algn="l">
              <a:lnSpc>
                <a:spcPts val="2454"/>
              </a:lnSpc>
            </a:pPr>
            <a:endParaRPr dirty="0"/>
          </a:p>
          <a:p>
            <a:pPr marL="196246" lvl="1" algn="l">
              <a:lnSpc>
                <a:spcPct val="150000"/>
              </a:lnSpc>
            </a:pPr>
            <a:r>
              <a:rPr lang="en-US" sz="1817" b="1" dirty="0">
                <a:solidFill>
                  <a:srgbClr val="000000"/>
                </a:solidFill>
                <a:latin typeface="Open Sans Bold"/>
                <a:ea typeface="Open Sans Bold"/>
                <a:cs typeface="Open Sans Bold"/>
                <a:sym typeface="Open Sans Bold"/>
              </a:rPr>
              <a:t>Due to current limitations in imagined speech recognition accuracy and real-time feasibility.</a:t>
            </a:r>
          </a:p>
          <a:p>
            <a:pPr marL="0" lvl="0" indent="0" algn="l">
              <a:lnSpc>
                <a:spcPts val="2454"/>
              </a:lnSpc>
              <a:spcBef>
                <a:spcPct val="0"/>
              </a:spcBef>
            </a:pPr>
            <a:endParaRPr lang="en-US" sz="1817" b="1" dirty="0">
              <a:solidFill>
                <a:srgbClr val="000000"/>
              </a:solidFill>
              <a:latin typeface="Open Sans Bold"/>
              <a:ea typeface="Open Sans Bold"/>
              <a:cs typeface="Open Sans Bold"/>
              <a:sym typeface="Open Sans Bold"/>
            </a:endParaRPr>
          </a:p>
        </p:txBody>
      </p:sp>
      <p:sp>
        <p:nvSpPr>
          <p:cNvPr id="4" name="TextBox 4"/>
          <p:cNvSpPr txBox="1"/>
          <p:nvPr/>
        </p:nvSpPr>
        <p:spPr>
          <a:xfrm>
            <a:off x="694140" y="1028700"/>
            <a:ext cx="8011990" cy="816459"/>
          </a:xfrm>
          <a:prstGeom prst="rect">
            <a:avLst/>
          </a:prstGeom>
        </p:spPr>
        <p:txBody>
          <a:bodyPr lIns="0" tIns="0" rIns="0" bIns="0" rtlCol="0" anchor="t">
            <a:spAutoFit/>
          </a:bodyPr>
          <a:lstStyle/>
          <a:p>
            <a:pPr algn="l">
              <a:lnSpc>
                <a:spcPts val="6403"/>
              </a:lnSpc>
            </a:pPr>
            <a:r>
              <a:rPr lang="en-US" sz="5380" b="1" dirty="0">
                <a:solidFill>
                  <a:srgbClr val="1C2120"/>
                </a:solidFill>
                <a:latin typeface="Montserrat Bold"/>
                <a:ea typeface="Montserrat Bold"/>
                <a:cs typeface="Montserrat Bold"/>
                <a:sym typeface="Montserrat Bold"/>
              </a:rPr>
              <a:t>WHY THIS TOPIC?</a:t>
            </a:r>
          </a:p>
        </p:txBody>
      </p:sp>
      <p:sp>
        <p:nvSpPr>
          <p:cNvPr id="5" name="TextBox 5"/>
          <p:cNvSpPr txBox="1"/>
          <p:nvPr/>
        </p:nvSpPr>
        <p:spPr>
          <a:xfrm>
            <a:off x="694140" y="3838538"/>
            <a:ext cx="10278660" cy="2766335"/>
          </a:xfrm>
          <a:prstGeom prst="rect">
            <a:avLst/>
          </a:prstGeom>
        </p:spPr>
        <p:txBody>
          <a:bodyPr wrap="square" lIns="0" tIns="0" rIns="0" bIns="0" rtlCol="0" anchor="t">
            <a:spAutoFit/>
          </a:bodyPr>
          <a:lstStyle/>
          <a:p>
            <a:pPr algn="just">
              <a:lnSpc>
                <a:spcPts val="2632"/>
              </a:lnSpc>
              <a:spcBef>
                <a:spcPct val="0"/>
              </a:spcBef>
            </a:pPr>
            <a:endParaRPr dirty="0"/>
          </a:p>
          <a:p>
            <a:pPr algn="just">
              <a:lnSpc>
                <a:spcPts val="2989"/>
              </a:lnSpc>
            </a:pPr>
            <a:endParaRPr dirty="0"/>
          </a:p>
          <a:p>
            <a:pPr algn="just">
              <a:lnSpc>
                <a:spcPct val="150000"/>
              </a:lnSpc>
              <a:spcBef>
                <a:spcPct val="0"/>
              </a:spcBef>
            </a:pPr>
            <a:r>
              <a:rPr lang="en-US" sz="1880" b="1" dirty="0">
                <a:solidFill>
                  <a:srgbClr val="000000"/>
                </a:solidFill>
                <a:latin typeface="Open Sans Bold"/>
                <a:ea typeface="Open Sans Bold"/>
                <a:cs typeface="Open Sans Bold"/>
                <a:sym typeface="Open Sans Bold"/>
              </a:rPr>
              <a:t>My Motivation:</a:t>
            </a:r>
            <a:r>
              <a:rPr lang="en-US" sz="1880" dirty="0">
                <a:solidFill>
                  <a:srgbClr val="000000"/>
                </a:solidFill>
                <a:latin typeface="Open Sans Light"/>
                <a:ea typeface="Open Sans Light"/>
                <a:cs typeface="Open Sans Light"/>
                <a:sym typeface="Open Sans Light"/>
              </a:rPr>
              <a:t> </a:t>
            </a:r>
            <a:r>
              <a:rPr lang="en-US" sz="1880" dirty="0">
                <a:solidFill>
                  <a:srgbClr val="000000"/>
                </a:solidFill>
                <a:latin typeface="Open Sans Light"/>
                <a:ea typeface="Open Sans Light"/>
                <a:cs typeface="Open Sans Light"/>
              </a:rPr>
              <a:t>The idea that we could control devices or communicate purely through thought felt like science fiction turning into reality and that inspired me to pursue this research. This question wasn’t just academic for me. I’ve always been fascinated by the complexity of the human brain and the possibility that telepathy might one day become real.</a:t>
            </a:r>
            <a:endParaRPr lang="en-US" sz="1880" dirty="0">
              <a:solidFill>
                <a:srgbClr val="000000"/>
              </a:solidFill>
              <a:latin typeface="Open Sans Light"/>
              <a:ea typeface="Open Sans Light"/>
              <a:cs typeface="Open Sans Light"/>
              <a:sym typeface="Open Sans Light"/>
            </a:endParaRPr>
          </a:p>
          <a:p>
            <a:pPr algn="just">
              <a:lnSpc>
                <a:spcPts val="2632"/>
              </a:lnSpc>
              <a:spcBef>
                <a:spcPct val="0"/>
              </a:spcBef>
            </a:pPr>
            <a:endParaRPr lang="en-US" sz="1880" dirty="0">
              <a:solidFill>
                <a:srgbClr val="000000"/>
              </a:solidFill>
              <a:latin typeface="Open Sans Light"/>
              <a:ea typeface="Open Sans Light"/>
              <a:cs typeface="Open Sans Light"/>
              <a:sym typeface="Open Sans Light"/>
            </a:endParaRPr>
          </a:p>
        </p:txBody>
      </p:sp>
      <p:sp>
        <p:nvSpPr>
          <p:cNvPr id="6" name="TextBox 6"/>
          <p:cNvSpPr txBox="1"/>
          <p:nvPr/>
        </p:nvSpPr>
        <p:spPr>
          <a:xfrm>
            <a:off x="11517726" y="2448816"/>
            <a:ext cx="2734740" cy="470676"/>
          </a:xfrm>
          <a:prstGeom prst="rect">
            <a:avLst/>
          </a:prstGeom>
        </p:spPr>
        <p:txBody>
          <a:bodyPr lIns="0" tIns="0" rIns="0" bIns="0" rtlCol="0" anchor="t">
            <a:spAutoFit/>
          </a:bodyPr>
          <a:lstStyle/>
          <a:p>
            <a:pPr algn="l">
              <a:lnSpc>
                <a:spcPts val="3441"/>
              </a:lnSpc>
            </a:pPr>
            <a:r>
              <a:rPr lang="en-US" sz="3018" b="1" dirty="0">
                <a:solidFill>
                  <a:srgbClr val="1C2120"/>
                </a:solidFill>
                <a:latin typeface="Poppins Bold"/>
                <a:ea typeface="Poppins Bold"/>
                <a:cs typeface="Poppins Bold"/>
                <a:sym typeface="Poppins Bold"/>
              </a:rPr>
              <a:t>620.77 Million</a:t>
            </a:r>
          </a:p>
        </p:txBody>
      </p:sp>
      <p:sp>
        <p:nvSpPr>
          <p:cNvPr id="7" name="TextBox 7"/>
          <p:cNvSpPr txBox="1"/>
          <p:nvPr/>
        </p:nvSpPr>
        <p:spPr>
          <a:xfrm>
            <a:off x="11517726" y="3018381"/>
            <a:ext cx="2073132" cy="160612"/>
          </a:xfrm>
          <a:prstGeom prst="rect">
            <a:avLst/>
          </a:prstGeom>
        </p:spPr>
        <p:txBody>
          <a:bodyPr lIns="0" tIns="0" rIns="0" bIns="0" rtlCol="0" anchor="t">
            <a:spAutoFit/>
          </a:bodyPr>
          <a:lstStyle/>
          <a:p>
            <a:pPr algn="ctr">
              <a:lnSpc>
                <a:spcPts val="1256"/>
              </a:lnSpc>
            </a:pPr>
            <a:r>
              <a:rPr lang="en-US" sz="1163">
                <a:solidFill>
                  <a:srgbClr val="1C2120"/>
                </a:solidFill>
                <a:latin typeface="Poppins"/>
                <a:ea typeface="Poppins"/>
                <a:cs typeface="Poppins"/>
                <a:sym typeface="Poppins"/>
              </a:rPr>
              <a:t>People Who Cannot Speak</a:t>
            </a:r>
          </a:p>
        </p:txBody>
      </p:sp>
      <p:sp>
        <p:nvSpPr>
          <p:cNvPr id="8" name="TextBox 8"/>
          <p:cNvSpPr txBox="1"/>
          <p:nvPr/>
        </p:nvSpPr>
        <p:spPr>
          <a:xfrm>
            <a:off x="11618115" y="3366493"/>
            <a:ext cx="1872354" cy="805063"/>
          </a:xfrm>
          <a:prstGeom prst="rect">
            <a:avLst/>
          </a:prstGeom>
        </p:spPr>
        <p:txBody>
          <a:bodyPr lIns="0" tIns="0" rIns="0" bIns="0" rtlCol="0" anchor="t">
            <a:spAutoFit/>
          </a:bodyPr>
          <a:lstStyle/>
          <a:p>
            <a:pPr marL="0" lvl="0" indent="0" algn="l">
              <a:lnSpc>
                <a:spcPts val="1300"/>
              </a:lnSpc>
              <a:spcBef>
                <a:spcPct val="0"/>
              </a:spcBef>
            </a:pPr>
            <a:r>
              <a:rPr lang="en-US" sz="963" spc="57" dirty="0">
                <a:solidFill>
                  <a:srgbClr val="000000"/>
                </a:solidFill>
                <a:latin typeface="Open Sans"/>
                <a:ea typeface="Open Sans"/>
                <a:cs typeface="Open Sans"/>
                <a:sym typeface="Open Sans"/>
              </a:rPr>
              <a:t>&amp; Approximately 362,790 individuals are estimated to have ALS as a contributing factor to their inability to speak</a:t>
            </a:r>
          </a:p>
        </p:txBody>
      </p:sp>
      <p:pic>
        <p:nvPicPr>
          <p:cNvPr id="9" name="Picture 9"/>
          <p:cNvPicPr>
            <a:picLocks noChangeAspect="1"/>
          </p:cNvPicPr>
          <p:nvPr/>
        </p:nvPicPr>
        <p:blipFill>
          <a:blip r:embed="rId3"/>
          <a:stretch>
            <a:fillRect/>
          </a:stretch>
        </p:blipFill>
        <p:spPr>
          <a:xfrm>
            <a:off x="13554050" y="1944269"/>
            <a:ext cx="4845834" cy="5513006"/>
          </a:xfrm>
          <a:prstGeom prst="rect">
            <a:avLst/>
          </a:prstGeom>
        </p:spPr>
      </p:pic>
      <p:sp>
        <p:nvSpPr>
          <p:cNvPr id="10" name="TextBox 10"/>
          <p:cNvSpPr txBox="1"/>
          <p:nvPr/>
        </p:nvSpPr>
        <p:spPr>
          <a:xfrm>
            <a:off x="672804" y="6523411"/>
            <a:ext cx="14797780" cy="1922449"/>
          </a:xfrm>
          <a:prstGeom prst="rect">
            <a:avLst/>
          </a:prstGeom>
        </p:spPr>
        <p:txBody>
          <a:bodyPr lIns="0" tIns="0" rIns="0" bIns="0" rtlCol="0" anchor="t">
            <a:spAutoFit/>
          </a:bodyPr>
          <a:lstStyle/>
          <a:p>
            <a:pPr algn="l">
              <a:lnSpc>
                <a:spcPts val="2632"/>
              </a:lnSpc>
            </a:pPr>
            <a:endParaRPr dirty="0"/>
          </a:p>
          <a:p>
            <a:pPr algn="l">
              <a:lnSpc>
                <a:spcPts val="2632"/>
              </a:lnSpc>
            </a:pPr>
            <a:r>
              <a:rPr lang="en-US" sz="1880" b="1" dirty="0">
                <a:solidFill>
                  <a:srgbClr val="000000"/>
                </a:solidFill>
                <a:latin typeface="Open Sans Bold"/>
                <a:ea typeface="Open Sans Bold"/>
                <a:cs typeface="Open Sans Bold"/>
                <a:sym typeface="Open Sans Bold"/>
              </a:rPr>
              <a:t>Why It Matters:</a:t>
            </a:r>
            <a:r>
              <a:rPr lang="en-US" sz="1880" dirty="0">
                <a:solidFill>
                  <a:srgbClr val="000000"/>
                </a:solidFill>
                <a:latin typeface="Open Sans Light"/>
                <a:ea typeface="Open Sans Light"/>
                <a:cs typeface="Open Sans Light"/>
                <a:sym typeface="Open Sans Light"/>
              </a:rPr>
              <a:t> </a:t>
            </a:r>
          </a:p>
          <a:p>
            <a:pPr algn="l">
              <a:lnSpc>
                <a:spcPct val="150000"/>
              </a:lnSpc>
            </a:pPr>
            <a:r>
              <a:rPr lang="en-US" sz="1880" dirty="0">
                <a:solidFill>
                  <a:srgbClr val="000000"/>
                </a:solidFill>
                <a:latin typeface="Open Sans Light"/>
                <a:ea typeface="Open Sans Light"/>
                <a:cs typeface="Open Sans Light"/>
                <a:sym typeface="Open Sans Light"/>
              </a:rPr>
              <a:t>The potential impact of this technology is on people with severe motor disabilities who are trapped within their own bodies, unable to communicate their thoughts and needs. I saw an opportunity to make a real difference in their lives by enabling them to</a:t>
            </a:r>
            <a:r>
              <a:rPr lang="en-US" sz="1880" dirty="0">
                <a:solidFill>
                  <a:srgbClr val="000000"/>
                </a:solidFill>
                <a:latin typeface="Open Sans"/>
                <a:ea typeface="Open Sans"/>
                <a:cs typeface="Open Sans"/>
                <a:sym typeface="Open Sans"/>
              </a:rPr>
              <a:t> communicate through thought alone​.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dissolv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dissolv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736351" y="3400969"/>
            <a:ext cx="6830714" cy="2128485"/>
            <a:chOff x="0" y="0"/>
            <a:chExt cx="2286638" cy="712528"/>
          </a:xfrm>
        </p:grpSpPr>
        <p:sp>
          <p:nvSpPr>
            <p:cNvPr id="3" name="Freeform 3"/>
            <p:cNvSpPr/>
            <p:nvPr/>
          </p:nvSpPr>
          <p:spPr>
            <a:xfrm>
              <a:off x="0" y="0"/>
              <a:ext cx="2286638" cy="712528"/>
            </a:xfrm>
            <a:custGeom>
              <a:avLst/>
              <a:gdLst/>
              <a:ahLst/>
              <a:cxnLst/>
              <a:rect l="l" t="t" r="r" b="b"/>
              <a:pathLst>
                <a:path w="2286638" h="71252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55FF4D">
                <a:alpha val="74902"/>
              </a:srgbClr>
            </a:solidFill>
          </p:spPr>
          <p:txBody>
            <a:bodyPr/>
            <a:lstStyle/>
            <a:p>
              <a:endParaRPr lang="en-US"/>
            </a:p>
          </p:txBody>
        </p:sp>
        <p:sp>
          <p:nvSpPr>
            <p:cNvPr id="4" name="TextBox 4"/>
            <p:cNvSpPr txBox="1"/>
            <p:nvPr/>
          </p:nvSpPr>
          <p:spPr>
            <a:xfrm>
              <a:off x="0" y="85725"/>
              <a:ext cx="2286638" cy="626803"/>
            </a:xfrm>
            <a:prstGeom prst="rect">
              <a:avLst/>
            </a:prstGeom>
          </p:spPr>
          <p:txBody>
            <a:bodyPr lIns="50800" tIns="50800" rIns="50800" bIns="50800" rtlCol="0" anchor="ctr"/>
            <a:lstStyle/>
            <a:p>
              <a:pPr algn="ctr">
                <a:lnSpc>
                  <a:spcPts val="1925"/>
                </a:lnSpc>
              </a:pPr>
              <a:endParaRPr/>
            </a:p>
          </p:txBody>
        </p:sp>
      </p:grpSp>
      <p:grpSp>
        <p:nvGrpSpPr>
          <p:cNvPr id="5" name="Group 5"/>
          <p:cNvGrpSpPr/>
          <p:nvPr/>
        </p:nvGrpSpPr>
        <p:grpSpPr>
          <a:xfrm>
            <a:off x="9736351" y="5862830"/>
            <a:ext cx="6830714" cy="2128485"/>
            <a:chOff x="0" y="0"/>
            <a:chExt cx="2286638" cy="712528"/>
          </a:xfrm>
        </p:grpSpPr>
        <p:sp>
          <p:nvSpPr>
            <p:cNvPr id="6" name="Freeform 6"/>
            <p:cNvSpPr/>
            <p:nvPr/>
          </p:nvSpPr>
          <p:spPr>
            <a:xfrm>
              <a:off x="0" y="0"/>
              <a:ext cx="2286638" cy="712528"/>
            </a:xfrm>
            <a:custGeom>
              <a:avLst/>
              <a:gdLst/>
              <a:ahLst/>
              <a:cxnLst/>
              <a:rect l="l" t="t" r="r" b="b"/>
              <a:pathLst>
                <a:path w="2286638" h="71252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55FF4D">
                <a:alpha val="74902"/>
              </a:srgbClr>
            </a:solidFill>
          </p:spPr>
          <p:txBody>
            <a:bodyPr/>
            <a:lstStyle/>
            <a:p>
              <a:endParaRPr lang="en-US"/>
            </a:p>
          </p:txBody>
        </p:sp>
        <p:sp>
          <p:nvSpPr>
            <p:cNvPr id="7" name="TextBox 7"/>
            <p:cNvSpPr txBox="1"/>
            <p:nvPr/>
          </p:nvSpPr>
          <p:spPr>
            <a:xfrm>
              <a:off x="0" y="85725"/>
              <a:ext cx="2286638" cy="626803"/>
            </a:xfrm>
            <a:prstGeom prst="rect">
              <a:avLst/>
            </a:prstGeom>
          </p:spPr>
          <p:txBody>
            <a:bodyPr lIns="50800" tIns="50800" rIns="50800" bIns="50800" rtlCol="0" anchor="ctr"/>
            <a:lstStyle/>
            <a:p>
              <a:pPr algn="ctr">
                <a:lnSpc>
                  <a:spcPts val="1925"/>
                </a:lnSpc>
              </a:pPr>
              <a:endParaRPr/>
            </a:p>
          </p:txBody>
        </p:sp>
      </p:grpSp>
      <p:grpSp>
        <p:nvGrpSpPr>
          <p:cNvPr id="8" name="Group 8"/>
          <p:cNvGrpSpPr/>
          <p:nvPr/>
        </p:nvGrpSpPr>
        <p:grpSpPr>
          <a:xfrm>
            <a:off x="1557581" y="3431552"/>
            <a:ext cx="6830714" cy="2128485"/>
            <a:chOff x="0" y="0"/>
            <a:chExt cx="2286638" cy="712528"/>
          </a:xfrm>
        </p:grpSpPr>
        <p:sp>
          <p:nvSpPr>
            <p:cNvPr id="9" name="Freeform 9"/>
            <p:cNvSpPr/>
            <p:nvPr/>
          </p:nvSpPr>
          <p:spPr>
            <a:xfrm>
              <a:off x="0" y="0"/>
              <a:ext cx="2286638" cy="712528"/>
            </a:xfrm>
            <a:custGeom>
              <a:avLst/>
              <a:gdLst/>
              <a:ahLst/>
              <a:cxnLst/>
              <a:rect l="l" t="t" r="r" b="b"/>
              <a:pathLst>
                <a:path w="2286638" h="71252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55FF4D">
                <a:alpha val="74902"/>
              </a:srgbClr>
            </a:solidFill>
          </p:spPr>
          <p:txBody>
            <a:bodyPr/>
            <a:lstStyle/>
            <a:p>
              <a:endParaRPr lang="en-US"/>
            </a:p>
          </p:txBody>
        </p:sp>
        <p:sp>
          <p:nvSpPr>
            <p:cNvPr id="10" name="TextBox 10"/>
            <p:cNvSpPr txBox="1"/>
            <p:nvPr/>
          </p:nvSpPr>
          <p:spPr>
            <a:xfrm>
              <a:off x="0" y="85725"/>
              <a:ext cx="2286638" cy="626803"/>
            </a:xfrm>
            <a:prstGeom prst="rect">
              <a:avLst/>
            </a:prstGeom>
          </p:spPr>
          <p:txBody>
            <a:bodyPr lIns="50800" tIns="50800" rIns="50800" bIns="50800" rtlCol="0" anchor="ctr"/>
            <a:lstStyle/>
            <a:p>
              <a:pPr algn="ctr">
                <a:lnSpc>
                  <a:spcPts val="1925"/>
                </a:lnSpc>
              </a:pPr>
              <a:endParaRPr/>
            </a:p>
          </p:txBody>
        </p:sp>
      </p:grpSp>
      <p:sp>
        <p:nvSpPr>
          <p:cNvPr id="11" name="AutoShape 11"/>
          <p:cNvSpPr/>
          <p:nvPr/>
        </p:nvSpPr>
        <p:spPr>
          <a:xfrm flipV="1">
            <a:off x="11771478" y="4095814"/>
            <a:ext cx="0" cy="738797"/>
          </a:xfrm>
          <a:prstGeom prst="line">
            <a:avLst/>
          </a:prstGeom>
          <a:ln w="38100" cap="flat">
            <a:solidFill>
              <a:srgbClr val="000000"/>
            </a:solidFill>
            <a:prstDash val="solid"/>
            <a:headEnd type="none" w="sm" len="sm"/>
            <a:tailEnd type="none" w="sm" len="sm"/>
          </a:ln>
        </p:spPr>
        <p:txBody>
          <a:bodyPr/>
          <a:lstStyle/>
          <a:p>
            <a:endParaRPr lang="en-US"/>
          </a:p>
        </p:txBody>
      </p:sp>
      <p:sp>
        <p:nvSpPr>
          <p:cNvPr id="12" name="AutoShape 12"/>
          <p:cNvSpPr/>
          <p:nvPr/>
        </p:nvSpPr>
        <p:spPr>
          <a:xfrm flipV="1">
            <a:off x="11790528" y="6621965"/>
            <a:ext cx="0" cy="738797"/>
          </a:xfrm>
          <a:prstGeom prst="line">
            <a:avLst/>
          </a:prstGeom>
          <a:ln w="38100" cap="flat">
            <a:solidFill>
              <a:srgbClr val="000000"/>
            </a:solidFill>
            <a:prstDash val="solid"/>
            <a:headEnd type="none" w="sm" len="sm"/>
            <a:tailEnd type="none" w="sm" len="sm"/>
          </a:ln>
        </p:spPr>
        <p:txBody>
          <a:bodyPr/>
          <a:lstStyle/>
          <a:p>
            <a:endParaRPr lang="en-US"/>
          </a:p>
        </p:txBody>
      </p:sp>
      <p:grpSp>
        <p:nvGrpSpPr>
          <p:cNvPr id="13" name="Group 13"/>
          <p:cNvGrpSpPr/>
          <p:nvPr/>
        </p:nvGrpSpPr>
        <p:grpSpPr>
          <a:xfrm>
            <a:off x="13057979" y="9169704"/>
            <a:ext cx="5010489" cy="615928"/>
            <a:chOff x="0" y="0"/>
            <a:chExt cx="1319635" cy="162220"/>
          </a:xfrm>
        </p:grpSpPr>
        <p:sp>
          <p:nvSpPr>
            <p:cNvPr id="14" name="Freeform 14"/>
            <p:cNvSpPr/>
            <p:nvPr/>
          </p:nvSpPr>
          <p:spPr>
            <a:xfrm>
              <a:off x="0" y="0"/>
              <a:ext cx="1319635" cy="162220"/>
            </a:xfrm>
            <a:custGeom>
              <a:avLst/>
              <a:gdLst/>
              <a:ahLst/>
              <a:cxnLst/>
              <a:rect l="l" t="t" r="r" b="b"/>
              <a:pathLst>
                <a:path w="1319635" h="162220">
                  <a:moveTo>
                    <a:pt x="78802" y="0"/>
                  </a:moveTo>
                  <a:lnTo>
                    <a:pt x="1240833" y="0"/>
                  </a:lnTo>
                  <a:cubicBezTo>
                    <a:pt x="1284354" y="0"/>
                    <a:pt x="1319635" y="35281"/>
                    <a:pt x="1319635" y="78802"/>
                  </a:cubicBezTo>
                  <a:lnTo>
                    <a:pt x="1319635" y="83418"/>
                  </a:lnTo>
                  <a:cubicBezTo>
                    <a:pt x="1319635" y="126939"/>
                    <a:pt x="1284354" y="162220"/>
                    <a:pt x="1240833" y="162220"/>
                  </a:cubicBezTo>
                  <a:lnTo>
                    <a:pt x="78802" y="162220"/>
                  </a:lnTo>
                  <a:cubicBezTo>
                    <a:pt x="35281" y="162220"/>
                    <a:pt x="0" y="126939"/>
                    <a:pt x="0" y="83418"/>
                  </a:cubicBezTo>
                  <a:lnTo>
                    <a:pt x="0" y="78802"/>
                  </a:lnTo>
                  <a:cubicBezTo>
                    <a:pt x="0" y="35281"/>
                    <a:pt x="35281" y="0"/>
                    <a:pt x="78802" y="0"/>
                  </a:cubicBezTo>
                  <a:close/>
                </a:path>
              </a:pathLst>
            </a:custGeom>
            <a:solidFill>
              <a:srgbClr val="55FF4D">
                <a:alpha val="74902"/>
              </a:srgbClr>
            </a:solidFill>
          </p:spPr>
          <p:txBody>
            <a:bodyPr/>
            <a:lstStyle/>
            <a:p>
              <a:endParaRPr lang="en-US"/>
            </a:p>
          </p:txBody>
        </p:sp>
        <p:sp>
          <p:nvSpPr>
            <p:cNvPr id="15" name="TextBox 15"/>
            <p:cNvSpPr txBox="1"/>
            <p:nvPr/>
          </p:nvSpPr>
          <p:spPr>
            <a:xfrm>
              <a:off x="0" y="-38100"/>
              <a:ext cx="1319635" cy="200320"/>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953064" y="3746596"/>
            <a:ext cx="1575476" cy="1347032"/>
          </a:xfrm>
          <a:custGeom>
            <a:avLst/>
            <a:gdLst/>
            <a:ahLst/>
            <a:cxnLst/>
            <a:rect l="l" t="t" r="r" b="b"/>
            <a:pathLst>
              <a:path w="1575476" h="1347032">
                <a:moveTo>
                  <a:pt x="0" y="0"/>
                </a:moveTo>
                <a:lnTo>
                  <a:pt x="1575476" y="0"/>
                </a:lnTo>
                <a:lnTo>
                  <a:pt x="1575476" y="1347032"/>
                </a:lnTo>
                <a:lnTo>
                  <a:pt x="0" y="1347032"/>
                </a:lnTo>
                <a:lnTo>
                  <a:pt x="0" y="0"/>
                </a:lnTo>
                <a:close/>
              </a:path>
            </a:pathLst>
          </a:custGeom>
          <a:blipFill>
            <a:blip r:embed="rId2">
              <a:alphaModFix amt="85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9" name="Freeform 19"/>
          <p:cNvSpPr/>
          <p:nvPr/>
        </p:nvSpPr>
        <p:spPr>
          <a:xfrm>
            <a:off x="10331166" y="3826026"/>
            <a:ext cx="1220201" cy="1361451"/>
          </a:xfrm>
          <a:custGeom>
            <a:avLst/>
            <a:gdLst/>
            <a:ahLst/>
            <a:cxnLst/>
            <a:rect l="l" t="t" r="r" b="b"/>
            <a:pathLst>
              <a:path w="1220201" h="1361451">
                <a:moveTo>
                  <a:pt x="0" y="0"/>
                </a:moveTo>
                <a:lnTo>
                  <a:pt x="1220201" y="0"/>
                </a:lnTo>
                <a:lnTo>
                  <a:pt x="1220201" y="1361451"/>
                </a:lnTo>
                <a:lnTo>
                  <a:pt x="0" y="13614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0" name="Freeform 20"/>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6"/>
            <a:stretch>
              <a:fillRect t="-10270" b="-14099"/>
            </a:stretch>
          </a:blipFill>
        </p:spPr>
        <p:txBody>
          <a:bodyPr/>
          <a:lstStyle/>
          <a:p>
            <a:endParaRPr lang="en-US"/>
          </a:p>
        </p:txBody>
      </p:sp>
      <p:grpSp>
        <p:nvGrpSpPr>
          <p:cNvPr id="21" name="Group 21"/>
          <p:cNvGrpSpPr/>
          <p:nvPr/>
        </p:nvGrpSpPr>
        <p:grpSpPr>
          <a:xfrm>
            <a:off x="1678774" y="5862830"/>
            <a:ext cx="6830714" cy="2128485"/>
            <a:chOff x="0" y="0"/>
            <a:chExt cx="2286638" cy="712528"/>
          </a:xfrm>
        </p:grpSpPr>
        <p:sp>
          <p:nvSpPr>
            <p:cNvPr id="22" name="Freeform 22"/>
            <p:cNvSpPr/>
            <p:nvPr/>
          </p:nvSpPr>
          <p:spPr>
            <a:xfrm>
              <a:off x="0" y="0"/>
              <a:ext cx="2286638" cy="712528"/>
            </a:xfrm>
            <a:custGeom>
              <a:avLst/>
              <a:gdLst/>
              <a:ahLst/>
              <a:cxnLst/>
              <a:rect l="l" t="t" r="r" b="b"/>
              <a:pathLst>
                <a:path w="2286638" h="71252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55FF4D">
                <a:alpha val="74902"/>
              </a:srgbClr>
            </a:solidFill>
          </p:spPr>
          <p:txBody>
            <a:bodyPr/>
            <a:lstStyle/>
            <a:p>
              <a:endParaRPr lang="en-US"/>
            </a:p>
          </p:txBody>
        </p:sp>
        <p:sp>
          <p:nvSpPr>
            <p:cNvPr id="23" name="TextBox 23"/>
            <p:cNvSpPr txBox="1"/>
            <p:nvPr/>
          </p:nvSpPr>
          <p:spPr>
            <a:xfrm>
              <a:off x="0" y="85725"/>
              <a:ext cx="2286638" cy="626803"/>
            </a:xfrm>
            <a:prstGeom prst="rect">
              <a:avLst/>
            </a:prstGeom>
          </p:spPr>
          <p:txBody>
            <a:bodyPr lIns="50800" tIns="50800" rIns="50800" bIns="50800" rtlCol="0" anchor="ctr"/>
            <a:lstStyle/>
            <a:p>
              <a:pPr algn="ctr">
                <a:lnSpc>
                  <a:spcPts val="1925"/>
                </a:lnSpc>
              </a:pPr>
              <a:endParaRPr/>
            </a:p>
          </p:txBody>
        </p:sp>
      </p:grpSp>
      <p:sp>
        <p:nvSpPr>
          <p:cNvPr id="24" name="Freeform 24"/>
          <p:cNvSpPr/>
          <p:nvPr/>
        </p:nvSpPr>
        <p:spPr>
          <a:xfrm>
            <a:off x="1953064" y="6589160"/>
            <a:ext cx="1314729" cy="867721"/>
          </a:xfrm>
          <a:custGeom>
            <a:avLst/>
            <a:gdLst/>
            <a:ahLst/>
            <a:cxnLst/>
            <a:rect l="l" t="t" r="r" b="b"/>
            <a:pathLst>
              <a:path w="1314729" h="867721">
                <a:moveTo>
                  <a:pt x="0" y="0"/>
                </a:moveTo>
                <a:lnTo>
                  <a:pt x="1314729" y="0"/>
                </a:lnTo>
                <a:lnTo>
                  <a:pt x="1314729" y="867721"/>
                </a:lnTo>
                <a:lnTo>
                  <a:pt x="0" y="86772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5" name="Freeform 25"/>
          <p:cNvSpPr/>
          <p:nvPr/>
        </p:nvSpPr>
        <p:spPr>
          <a:xfrm>
            <a:off x="10063015" y="6246624"/>
            <a:ext cx="1613359" cy="1378688"/>
          </a:xfrm>
          <a:custGeom>
            <a:avLst/>
            <a:gdLst/>
            <a:ahLst/>
            <a:cxnLst/>
            <a:rect l="l" t="t" r="r" b="b"/>
            <a:pathLst>
              <a:path w="1613359" h="1378688">
                <a:moveTo>
                  <a:pt x="0" y="0"/>
                </a:moveTo>
                <a:lnTo>
                  <a:pt x="1613359" y="0"/>
                </a:lnTo>
                <a:lnTo>
                  <a:pt x="1613359" y="1378688"/>
                </a:lnTo>
                <a:lnTo>
                  <a:pt x="0" y="137868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26" name="TextBox 26"/>
          <p:cNvSpPr txBox="1"/>
          <p:nvPr/>
        </p:nvSpPr>
        <p:spPr>
          <a:xfrm>
            <a:off x="465038" y="1427164"/>
            <a:ext cx="14331639" cy="697455"/>
          </a:xfrm>
          <a:prstGeom prst="rect">
            <a:avLst/>
          </a:prstGeom>
        </p:spPr>
        <p:txBody>
          <a:bodyPr lIns="0" tIns="0" rIns="0" bIns="0" rtlCol="0" anchor="t">
            <a:spAutoFit/>
          </a:bodyPr>
          <a:lstStyle/>
          <a:p>
            <a:pPr marL="0" lvl="1" indent="0" algn="l">
              <a:lnSpc>
                <a:spcPts val="5219"/>
              </a:lnSpc>
              <a:spcBef>
                <a:spcPct val="0"/>
              </a:spcBef>
            </a:pPr>
            <a:r>
              <a:rPr lang="en-US" sz="5380" b="1">
                <a:solidFill>
                  <a:srgbClr val="1C2120"/>
                </a:solidFill>
                <a:latin typeface="Montserrat Bold"/>
                <a:ea typeface="Montserrat Bold"/>
                <a:cs typeface="Montserrat Bold"/>
                <a:sym typeface="Montserrat Bold"/>
              </a:rPr>
              <a:t>Real-World Applications &amp; Importance</a:t>
            </a:r>
          </a:p>
        </p:txBody>
      </p:sp>
      <p:sp>
        <p:nvSpPr>
          <p:cNvPr id="27" name="TextBox 27"/>
          <p:cNvSpPr txBox="1"/>
          <p:nvPr/>
        </p:nvSpPr>
        <p:spPr>
          <a:xfrm>
            <a:off x="4000027" y="3727546"/>
            <a:ext cx="4037482" cy="1897159"/>
          </a:xfrm>
          <a:prstGeom prst="rect">
            <a:avLst/>
          </a:prstGeom>
        </p:spPr>
        <p:txBody>
          <a:bodyPr lIns="0" tIns="0" rIns="0" bIns="0" rtlCol="0" anchor="t">
            <a:spAutoFit/>
          </a:bodyPr>
          <a:lstStyle/>
          <a:p>
            <a:pPr algn="just">
              <a:lnSpc>
                <a:spcPts val="1905"/>
              </a:lnSpc>
            </a:pPr>
            <a:r>
              <a:rPr lang="en-US" sz="1411" b="1" spc="22" dirty="0">
                <a:solidFill>
                  <a:srgbClr val="1C2120"/>
                </a:solidFill>
                <a:latin typeface="Open Sans Bold"/>
                <a:ea typeface="Open Sans Bold"/>
                <a:cs typeface="Open Sans Bold"/>
                <a:sym typeface="Open Sans Bold"/>
              </a:rPr>
              <a:t>Assistive Communication :</a:t>
            </a:r>
          </a:p>
          <a:p>
            <a:pPr algn="just">
              <a:lnSpc>
                <a:spcPts val="1905"/>
              </a:lnSpc>
            </a:pPr>
            <a:r>
              <a:rPr lang="en-US" sz="1411" spc="22" dirty="0">
                <a:solidFill>
                  <a:srgbClr val="1C2120"/>
                </a:solidFill>
                <a:latin typeface="Open Sans"/>
                <a:ea typeface="Open Sans"/>
                <a:cs typeface="Open Sans"/>
                <a:sym typeface="Open Sans"/>
              </a:rPr>
              <a:t>Imagined speech BCI could let paralyzed or mute individuals “speak” through a computer by just thinking words​. This has life-changing implications for patient autonomy and quality of life.</a:t>
            </a:r>
          </a:p>
          <a:p>
            <a:pPr algn="just">
              <a:lnSpc>
                <a:spcPts val="1905"/>
              </a:lnSpc>
            </a:pPr>
            <a:endParaRPr lang="en-US" sz="1411" spc="22" dirty="0">
              <a:solidFill>
                <a:srgbClr val="1C2120"/>
              </a:solidFill>
              <a:latin typeface="Open Sans"/>
              <a:ea typeface="Open Sans"/>
              <a:cs typeface="Open Sans"/>
              <a:sym typeface="Open Sans"/>
            </a:endParaRPr>
          </a:p>
          <a:p>
            <a:pPr marL="0" lvl="0" indent="0" algn="just">
              <a:lnSpc>
                <a:spcPts val="1905"/>
              </a:lnSpc>
              <a:spcBef>
                <a:spcPct val="0"/>
              </a:spcBef>
            </a:pPr>
            <a:endParaRPr lang="en-US" sz="1411" spc="22" dirty="0">
              <a:solidFill>
                <a:srgbClr val="1C2120"/>
              </a:solidFill>
              <a:latin typeface="Open Sans"/>
              <a:ea typeface="Open Sans"/>
              <a:cs typeface="Open Sans"/>
              <a:sym typeface="Open Sans"/>
            </a:endParaRPr>
          </a:p>
        </p:txBody>
      </p:sp>
      <p:sp>
        <p:nvSpPr>
          <p:cNvPr id="28" name="TextBox 28"/>
          <p:cNvSpPr txBox="1"/>
          <p:nvPr/>
        </p:nvSpPr>
        <p:spPr>
          <a:xfrm>
            <a:off x="12123963" y="3619441"/>
            <a:ext cx="4253449" cy="2135284"/>
          </a:xfrm>
          <a:prstGeom prst="rect">
            <a:avLst/>
          </a:prstGeom>
        </p:spPr>
        <p:txBody>
          <a:bodyPr lIns="0" tIns="0" rIns="0" bIns="0" rtlCol="0" anchor="t">
            <a:spAutoFit/>
          </a:bodyPr>
          <a:lstStyle/>
          <a:p>
            <a:pPr algn="just">
              <a:lnSpc>
                <a:spcPts val="1905"/>
              </a:lnSpc>
            </a:pPr>
            <a:r>
              <a:rPr lang="en-US" sz="1411" b="1" spc="22">
                <a:solidFill>
                  <a:srgbClr val="1C2120"/>
                </a:solidFill>
                <a:latin typeface="Open Sans Bold"/>
                <a:ea typeface="Open Sans Bold"/>
                <a:cs typeface="Open Sans Bold"/>
                <a:sym typeface="Open Sans Bold"/>
              </a:rPr>
              <a:t>Hands-Free Control:</a:t>
            </a:r>
            <a:r>
              <a:rPr lang="en-US" sz="1411" spc="22">
                <a:solidFill>
                  <a:srgbClr val="1C2120"/>
                </a:solidFill>
                <a:latin typeface="Open Sans"/>
                <a:ea typeface="Open Sans"/>
                <a:cs typeface="Open Sans"/>
                <a:sym typeface="Open Sans"/>
              </a:rPr>
              <a:t> </a:t>
            </a:r>
          </a:p>
          <a:p>
            <a:pPr algn="just">
              <a:lnSpc>
                <a:spcPts val="1905"/>
              </a:lnSpc>
            </a:pPr>
            <a:r>
              <a:rPr lang="en-US" sz="1411" spc="22">
                <a:solidFill>
                  <a:srgbClr val="1C2120"/>
                </a:solidFill>
                <a:latin typeface="Open Sans"/>
                <a:ea typeface="Open Sans"/>
                <a:cs typeface="Open Sans"/>
                <a:sym typeface="Open Sans"/>
              </a:rPr>
              <a:t>BCIs are being explored to control wheelchairs, prosthetics, or smart home devices by thought​. An imagined speech interface can complement these, allowing complex commands (words/sentences) instead of simple motor imagery.</a:t>
            </a:r>
          </a:p>
          <a:p>
            <a:pPr algn="just">
              <a:lnSpc>
                <a:spcPts val="1905"/>
              </a:lnSpc>
            </a:pPr>
            <a:endParaRPr lang="en-US" sz="1411" spc="22">
              <a:solidFill>
                <a:srgbClr val="1C2120"/>
              </a:solidFill>
              <a:latin typeface="Open Sans"/>
              <a:ea typeface="Open Sans"/>
              <a:cs typeface="Open Sans"/>
              <a:sym typeface="Open Sans"/>
            </a:endParaRPr>
          </a:p>
          <a:p>
            <a:pPr marL="0" lvl="0" indent="0" algn="just">
              <a:lnSpc>
                <a:spcPts val="1905"/>
              </a:lnSpc>
              <a:spcBef>
                <a:spcPct val="0"/>
              </a:spcBef>
            </a:pPr>
            <a:endParaRPr lang="en-US" sz="1411" spc="22">
              <a:solidFill>
                <a:srgbClr val="1C2120"/>
              </a:solidFill>
              <a:latin typeface="Open Sans"/>
              <a:ea typeface="Open Sans"/>
              <a:cs typeface="Open Sans"/>
              <a:sym typeface="Open Sans"/>
            </a:endParaRPr>
          </a:p>
        </p:txBody>
      </p:sp>
      <p:sp>
        <p:nvSpPr>
          <p:cNvPr id="29" name="TextBox 29"/>
          <p:cNvSpPr txBox="1"/>
          <p:nvPr/>
        </p:nvSpPr>
        <p:spPr>
          <a:xfrm>
            <a:off x="12123963" y="6098988"/>
            <a:ext cx="4253449" cy="1527589"/>
          </a:xfrm>
          <a:prstGeom prst="rect">
            <a:avLst/>
          </a:prstGeom>
        </p:spPr>
        <p:txBody>
          <a:bodyPr lIns="0" tIns="0" rIns="0" bIns="0" rtlCol="0" anchor="t">
            <a:spAutoFit/>
          </a:bodyPr>
          <a:lstStyle/>
          <a:p>
            <a:pPr algn="l">
              <a:lnSpc>
                <a:spcPts val="1770"/>
              </a:lnSpc>
            </a:pPr>
            <a:r>
              <a:rPr lang="en-US" sz="1311" b="1" spc="20">
                <a:solidFill>
                  <a:srgbClr val="1C2120"/>
                </a:solidFill>
                <a:latin typeface="Open Sans Bold"/>
                <a:ea typeface="Open Sans Bold"/>
                <a:cs typeface="Open Sans Bold"/>
                <a:sym typeface="Open Sans Bold"/>
              </a:rPr>
              <a:t>Brain-Computer Communication:</a:t>
            </a:r>
          </a:p>
          <a:p>
            <a:pPr marL="0" lvl="0" indent="0" algn="l">
              <a:lnSpc>
                <a:spcPts val="1770"/>
              </a:lnSpc>
              <a:spcBef>
                <a:spcPct val="0"/>
              </a:spcBef>
            </a:pPr>
            <a:r>
              <a:rPr lang="en-US" sz="1311" spc="20">
                <a:solidFill>
                  <a:srgbClr val="1C2120"/>
                </a:solidFill>
                <a:latin typeface="Open Sans"/>
                <a:ea typeface="Open Sans"/>
                <a:cs typeface="Open Sans"/>
                <a:sym typeface="Open Sans"/>
              </a:rPr>
              <a:t>In the long term, this research is a step toward seamless brain-computer communication. Changing TV channels, sending messages, or creative expression (painting, writing) could all be done via thought commands​​. The importance is clear: it expands how humans interact with technology.</a:t>
            </a:r>
          </a:p>
        </p:txBody>
      </p:sp>
      <p:sp>
        <p:nvSpPr>
          <p:cNvPr id="30" name="TextBox 30"/>
          <p:cNvSpPr txBox="1"/>
          <p:nvPr/>
        </p:nvSpPr>
        <p:spPr>
          <a:xfrm>
            <a:off x="13174995" y="9334340"/>
            <a:ext cx="3933386" cy="319137"/>
          </a:xfrm>
          <a:prstGeom prst="rect">
            <a:avLst/>
          </a:prstGeom>
        </p:spPr>
        <p:txBody>
          <a:bodyPr lIns="0" tIns="0" rIns="0" bIns="0" rtlCol="0" anchor="t">
            <a:spAutoFit/>
          </a:bodyPr>
          <a:lstStyle/>
          <a:p>
            <a:pPr algn="ctr">
              <a:lnSpc>
                <a:spcPts val="2365"/>
              </a:lnSpc>
            </a:pPr>
            <a:r>
              <a:rPr lang="en-US" sz="2190">
                <a:solidFill>
                  <a:srgbClr val="1C2120">
                    <a:alpha val="74902"/>
                  </a:srgbClr>
                </a:solidFill>
                <a:latin typeface="Poppins"/>
                <a:ea typeface="Poppins"/>
                <a:cs typeface="Poppins"/>
                <a:sym typeface="Poppins"/>
              </a:rPr>
              <a:t>Current problems with EEG</a:t>
            </a:r>
          </a:p>
        </p:txBody>
      </p:sp>
      <p:sp>
        <p:nvSpPr>
          <p:cNvPr id="31" name="TextBox 31"/>
          <p:cNvSpPr txBox="1"/>
          <p:nvPr/>
        </p:nvSpPr>
        <p:spPr>
          <a:xfrm>
            <a:off x="3823815" y="6088031"/>
            <a:ext cx="4471100" cy="1659034"/>
          </a:xfrm>
          <a:prstGeom prst="rect">
            <a:avLst/>
          </a:prstGeom>
        </p:spPr>
        <p:txBody>
          <a:bodyPr lIns="0" tIns="0" rIns="0" bIns="0" rtlCol="0" anchor="t">
            <a:spAutoFit/>
          </a:bodyPr>
          <a:lstStyle/>
          <a:p>
            <a:pPr marL="0" lvl="0" indent="0" algn="just">
              <a:lnSpc>
                <a:spcPts val="1905"/>
              </a:lnSpc>
              <a:spcBef>
                <a:spcPct val="0"/>
              </a:spcBef>
            </a:pPr>
            <a:r>
              <a:rPr lang="en-US" sz="1411" b="1" u="none" strike="noStrike" spc="22">
                <a:solidFill>
                  <a:srgbClr val="1C2120"/>
                </a:solidFill>
                <a:latin typeface="Open Sans Bold"/>
                <a:ea typeface="Open Sans Bold"/>
                <a:cs typeface="Open Sans Bold"/>
                <a:sym typeface="Open Sans Bold"/>
              </a:rPr>
              <a:t>Healthcare &amp; Rehabilitation:</a:t>
            </a:r>
          </a:p>
          <a:p>
            <a:pPr marL="0" lvl="0" indent="0" algn="just">
              <a:lnSpc>
                <a:spcPts val="1905"/>
              </a:lnSpc>
              <a:spcBef>
                <a:spcPct val="0"/>
              </a:spcBef>
            </a:pPr>
            <a:r>
              <a:rPr lang="en-US" sz="1411" u="none" strike="noStrike" spc="22">
                <a:solidFill>
                  <a:srgbClr val="1C2120"/>
                </a:solidFill>
                <a:latin typeface="Open Sans"/>
                <a:ea typeface="Open Sans"/>
                <a:cs typeface="Open Sans"/>
                <a:sym typeface="Open Sans"/>
              </a:rPr>
              <a:t>Such systems can aid stroke or neurodegenerative diseases like ALS highlights the urgent need for innovative communication solutions. It also contributes to neurofeedback therapies – e.g. patients training to produce certain brain patterns.</a:t>
            </a:r>
          </a:p>
          <a:p>
            <a:pPr marL="0" lvl="0" indent="0" algn="just">
              <a:lnSpc>
                <a:spcPts val="1905"/>
              </a:lnSpc>
              <a:spcBef>
                <a:spcPct val="0"/>
              </a:spcBef>
            </a:pPr>
            <a:endParaRPr lang="en-US" sz="1411" u="none" strike="noStrike" spc="22">
              <a:solidFill>
                <a:srgbClr val="1C2120"/>
              </a:solidFill>
              <a:latin typeface="Open Sans"/>
              <a:ea typeface="Open Sans"/>
              <a:cs typeface="Open Sans"/>
              <a:sym typeface="Open Sans"/>
            </a:endParaRPr>
          </a:p>
        </p:txBody>
      </p:sp>
      <p:sp>
        <p:nvSpPr>
          <p:cNvPr id="32" name="AutoShape 32"/>
          <p:cNvSpPr/>
          <p:nvPr/>
        </p:nvSpPr>
        <p:spPr>
          <a:xfrm flipV="1">
            <a:off x="3761902" y="4126396"/>
            <a:ext cx="0" cy="738797"/>
          </a:xfrm>
          <a:prstGeom prst="line">
            <a:avLst/>
          </a:prstGeom>
          <a:ln w="38100" cap="flat">
            <a:solidFill>
              <a:srgbClr val="000000"/>
            </a:solidFill>
            <a:prstDash val="solid"/>
            <a:headEnd type="none" w="sm" len="sm"/>
            <a:tailEnd type="none" w="sm" len="sm"/>
          </a:ln>
        </p:spPr>
        <p:txBody>
          <a:bodyPr/>
          <a:lstStyle/>
          <a:p>
            <a:endParaRPr lang="en-US"/>
          </a:p>
        </p:txBody>
      </p:sp>
      <p:sp>
        <p:nvSpPr>
          <p:cNvPr id="33" name="AutoShape 33"/>
          <p:cNvSpPr/>
          <p:nvPr/>
        </p:nvSpPr>
        <p:spPr>
          <a:xfrm flipV="1">
            <a:off x="3547590" y="6611008"/>
            <a:ext cx="0" cy="738797"/>
          </a:xfrm>
          <a:prstGeom prst="line">
            <a:avLst/>
          </a:prstGeom>
          <a:ln w="38100" cap="flat">
            <a:solidFill>
              <a:srgbClr val="000000"/>
            </a:solidFill>
            <a:prstDash val="solid"/>
            <a:headEnd type="none" w="sm" len="sm"/>
            <a:tailEnd type="none" w="sm" len="sm"/>
          </a:ln>
        </p:spPr>
        <p:txBody>
          <a:bodyPr/>
          <a:lstStyle/>
          <a:p>
            <a:endParaRPr lang="en-US"/>
          </a:p>
        </p:txBody>
      </p:sp>
      <p:sp>
        <p:nvSpPr>
          <p:cNvPr id="34" name="AutoShape 34"/>
          <p:cNvSpPr/>
          <p:nvPr/>
        </p:nvSpPr>
        <p:spPr>
          <a:xfrm>
            <a:off x="17189107" y="9489146"/>
            <a:ext cx="615915" cy="0"/>
          </a:xfrm>
          <a:prstGeom prst="line">
            <a:avLst/>
          </a:prstGeom>
          <a:ln w="38100" cap="flat">
            <a:solidFill>
              <a:srgbClr val="000000"/>
            </a:solidFill>
            <a:prstDash val="solid"/>
            <a:headEnd type="none" w="sm" len="sm"/>
            <a:tailEnd type="triangle" w="lg"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2"/>
            <a:stretch>
              <a:fillRect t="-10270" b="-14099"/>
            </a:stretch>
          </a:blipFill>
        </p:spPr>
        <p:txBody>
          <a:bodyPr/>
          <a:lstStyle/>
          <a:p>
            <a:endParaRPr lang="en-US"/>
          </a:p>
        </p:txBody>
      </p:sp>
      <p:sp>
        <p:nvSpPr>
          <p:cNvPr id="3" name="Freeform 3"/>
          <p:cNvSpPr/>
          <p:nvPr/>
        </p:nvSpPr>
        <p:spPr>
          <a:xfrm flipH="1">
            <a:off x="13990648" y="6005763"/>
            <a:ext cx="4297352" cy="4281237"/>
          </a:xfrm>
          <a:custGeom>
            <a:avLst/>
            <a:gdLst/>
            <a:ahLst/>
            <a:cxnLst/>
            <a:rect l="l" t="t" r="r" b="b"/>
            <a:pathLst>
              <a:path w="4297352" h="4281237">
                <a:moveTo>
                  <a:pt x="4297352" y="0"/>
                </a:moveTo>
                <a:lnTo>
                  <a:pt x="0" y="0"/>
                </a:lnTo>
                <a:lnTo>
                  <a:pt x="0" y="4281237"/>
                </a:lnTo>
                <a:lnTo>
                  <a:pt x="4297352" y="4281237"/>
                </a:lnTo>
                <a:lnTo>
                  <a:pt x="4297352" y="0"/>
                </a:lnTo>
                <a:close/>
              </a:path>
            </a:pathLst>
          </a:custGeom>
          <a:blipFill>
            <a:blip r:embed="rId3">
              <a:alphaModFix amt="49000"/>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4" name="TextBox 4"/>
          <p:cNvSpPr txBox="1"/>
          <p:nvPr/>
        </p:nvSpPr>
        <p:spPr>
          <a:xfrm>
            <a:off x="881176" y="2980931"/>
            <a:ext cx="16192500" cy="6313973"/>
          </a:xfrm>
          <a:prstGeom prst="rect">
            <a:avLst/>
          </a:prstGeom>
        </p:spPr>
        <p:txBody>
          <a:bodyPr wrap="square" lIns="0" tIns="0" rIns="0" bIns="0" rtlCol="0" anchor="t">
            <a:spAutoFit/>
          </a:bodyPr>
          <a:lstStyle/>
          <a:p>
            <a:pPr algn="just">
              <a:lnSpc>
                <a:spcPts val="2632"/>
              </a:lnSpc>
            </a:pPr>
            <a:r>
              <a:rPr lang="en-US" sz="1880" dirty="0">
                <a:solidFill>
                  <a:srgbClr val="000000"/>
                </a:solidFill>
                <a:latin typeface="Open Sans"/>
                <a:ea typeface="Open Sans"/>
                <a:cs typeface="Open Sans"/>
                <a:sym typeface="Open Sans"/>
              </a:rPr>
              <a:t>EEG-based brain-computer interfaces (BCIs) systems often struggle with </a:t>
            </a:r>
            <a:r>
              <a:rPr lang="en-US" sz="1880" b="1" dirty="0">
                <a:solidFill>
                  <a:srgbClr val="000000"/>
                </a:solidFill>
                <a:latin typeface="Open Sans"/>
                <a:ea typeface="Open Sans"/>
                <a:cs typeface="Open Sans"/>
                <a:sym typeface="Open Sans"/>
              </a:rPr>
              <a:t>low accuracy</a:t>
            </a:r>
            <a:r>
              <a:rPr lang="en-US" sz="1880" dirty="0">
                <a:solidFill>
                  <a:srgbClr val="000000"/>
                </a:solidFill>
                <a:latin typeface="Open Sans"/>
                <a:ea typeface="Open Sans"/>
                <a:cs typeface="Open Sans"/>
                <a:sym typeface="Open Sans"/>
              </a:rPr>
              <a:t> and </a:t>
            </a:r>
            <a:r>
              <a:rPr lang="en-US" sz="1880" b="1" dirty="0">
                <a:solidFill>
                  <a:srgbClr val="000000"/>
                </a:solidFill>
                <a:latin typeface="Open Sans"/>
                <a:ea typeface="Open Sans"/>
                <a:cs typeface="Open Sans"/>
                <a:sym typeface="Open Sans"/>
              </a:rPr>
              <a:t>reliability</a:t>
            </a:r>
            <a:r>
              <a:rPr lang="en-US" sz="1880" dirty="0">
                <a:solidFill>
                  <a:srgbClr val="000000"/>
                </a:solidFill>
                <a:latin typeface="Open Sans"/>
                <a:ea typeface="Open Sans"/>
                <a:cs typeface="Open Sans"/>
                <a:sym typeface="Open Sans"/>
              </a:rPr>
              <a:t>, hindering their practical application. Some of the key issues include:</a:t>
            </a:r>
          </a:p>
          <a:p>
            <a:pPr algn="just">
              <a:lnSpc>
                <a:spcPts val="2632"/>
              </a:lnSpc>
            </a:pPr>
            <a:endParaRPr lang="en-US" sz="1880" dirty="0">
              <a:solidFill>
                <a:srgbClr val="000000"/>
              </a:solidFill>
              <a:latin typeface="Open Sans"/>
              <a:ea typeface="Open Sans"/>
              <a:cs typeface="Open Sans"/>
              <a:sym typeface="Open Sans"/>
            </a:endParaRPr>
          </a:p>
          <a:p>
            <a:pPr algn="just">
              <a:lnSpc>
                <a:spcPts val="2632"/>
              </a:lnSpc>
            </a:pPr>
            <a:r>
              <a:rPr lang="en-US" sz="1880" dirty="0">
                <a:solidFill>
                  <a:srgbClr val="000000"/>
                </a:solidFill>
                <a:latin typeface="Open Sans"/>
                <a:ea typeface="Open Sans"/>
                <a:cs typeface="Open Sans"/>
                <a:sym typeface="Open Sans"/>
              </a:rPr>
              <a:t>1. The brain's electrical signals are incredibly </a:t>
            </a:r>
            <a:r>
              <a:rPr lang="en-US" sz="1880" i="1" dirty="0">
                <a:solidFill>
                  <a:srgbClr val="000000"/>
                </a:solidFill>
                <a:latin typeface="Open Sans Italics"/>
                <a:ea typeface="Open Sans Italics"/>
                <a:cs typeface="Open Sans Italics"/>
                <a:sym typeface="Open Sans Italics"/>
              </a:rPr>
              <a:t>noisy</a:t>
            </a:r>
            <a:r>
              <a:rPr lang="en-US" sz="1880" dirty="0">
                <a:solidFill>
                  <a:srgbClr val="000000"/>
                </a:solidFill>
                <a:latin typeface="Open Sans"/>
                <a:ea typeface="Open Sans"/>
                <a:cs typeface="Open Sans"/>
                <a:sym typeface="Open Sans"/>
              </a:rPr>
              <a:t> and </a:t>
            </a:r>
            <a:r>
              <a:rPr lang="en-US" sz="1880" i="1" dirty="0">
                <a:solidFill>
                  <a:srgbClr val="000000"/>
                </a:solidFill>
                <a:latin typeface="Open Sans Italics"/>
                <a:ea typeface="Open Sans Italics"/>
                <a:cs typeface="Open Sans Italics"/>
                <a:sym typeface="Open Sans Italics"/>
              </a:rPr>
              <a:t>complex,</a:t>
            </a:r>
            <a:r>
              <a:rPr lang="en-US" sz="1880" dirty="0">
                <a:solidFill>
                  <a:srgbClr val="000000"/>
                </a:solidFill>
                <a:latin typeface="Open Sans"/>
                <a:ea typeface="Open Sans"/>
                <a:cs typeface="Open Sans"/>
                <a:sym typeface="Open Sans"/>
              </a:rPr>
              <a:t> </a:t>
            </a:r>
            <a:r>
              <a:rPr lang="en-US" sz="1880" i="1" dirty="0">
                <a:solidFill>
                  <a:srgbClr val="000000"/>
                </a:solidFill>
                <a:latin typeface="Open Sans Italics"/>
                <a:ea typeface="Open Sans Italics"/>
                <a:cs typeface="Open Sans Italics"/>
                <a:sym typeface="Open Sans Italics"/>
              </a:rPr>
              <a:t>artifacts overlap</a:t>
            </a:r>
            <a:r>
              <a:rPr lang="en-US" sz="1880" dirty="0">
                <a:solidFill>
                  <a:srgbClr val="000000"/>
                </a:solidFill>
                <a:latin typeface="Open Sans"/>
                <a:ea typeface="Open Sans"/>
                <a:cs typeface="Open Sans"/>
                <a:sym typeface="Open Sans"/>
              </a:rPr>
              <a:t> makes it difficult to extract meaningful patterns. </a:t>
            </a:r>
          </a:p>
          <a:p>
            <a:pPr marL="405893" lvl="1" indent="-202946" algn="just">
              <a:lnSpc>
                <a:spcPts val="2632"/>
              </a:lnSpc>
              <a:buFont typeface="Arial"/>
              <a:buChar char="•"/>
            </a:pPr>
            <a:r>
              <a:rPr lang="en-US" sz="1880" dirty="0">
                <a:solidFill>
                  <a:srgbClr val="000000"/>
                </a:solidFill>
                <a:latin typeface="Open Sans"/>
                <a:ea typeface="Open Sans"/>
                <a:cs typeface="Open Sans"/>
                <a:sym typeface="Open Sans"/>
              </a:rPr>
              <a:t>External interference from environmental electrical sources.</a:t>
            </a:r>
          </a:p>
          <a:p>
            <a:pPr algn="just">
              <a:lnSpc>
                <a:spcPts val="2632"/>
              </a:lnSpc>
            </a:pPr>
            <a:endParaRPr lang="en-US" sz="1880" dirty="0">
              <a:solidFill>
                <a:srgbClr val="000000"/>
              </a:solidFill>
              <a:latin typeface="Open Sans"/>
              <a:ea typeface="Open Sans"/>
              <a:cs typeface="Open Sans"/>
              <a:sym typeface="Open Sans"/>
            </a:endParaRPr>
          </a:p>
          <a:p>
            <a:pPr algn="just">
              <a:lnSpc>
                <a:spcPts val="2632"/>
              </a:lnSpc>
            </a:pPr>
            <a:r>
              <a:rPr lang="en-US" sz="1880" dirty="0">
                <a:solidFill>
                  <a:srgbClr val="000000"/>
                </a:solidFill>
                <a:latin typeface="Open Sans"/>
                <a:ea typeface="Open Sans"/>
                <a:cs typeface="Open Sans"/>
                <a:sym typeface="Open Sans"/>
              </a:rPr>
              <a:t>2. High Inter-Subject Variability</a:t>
            </a:r>
          </a:p>
          <a:p>
            <a:pPr marL="405893" lvl="1" indent="-202946" algn="just">
              <a:lnSpc>
                <a:spcPts val="2632"/>
              </a:lnSpc>
              <a:buFont typeface="Arial"/>
              <a:buChar char="•"/>
            </a:pPr>
            <a:r>
              <a:rPr lang="en-US" sz="1880" dirty="0">
                <a:solidFill>
                  <a:srgbClr val="000000"/>
                </a:solidFill>
                <a:latin typeface="Open Sans"/>
                <a:ea typeface="Open Sans"/>
                <a:cs typeface="Open Sans"/>
                <a:sym typeface="Open Sans"/>
              </a:rPr>
              <a:t>Brain activity patterns differ significantly across individuals, necessitating personalized calibration for each user, which increases the complexity of real-world applications.</a:t>
            </a:r>
          </a:p>
          <a:p>
            <a:pPr algn="just">
              <a:lnSpc>
                <a:spcPts val="2632"/>
              </a:lnSpc>
            </a:pPr>
            <a:endParaRPr lang="en-US" sz="1880" dirty="0">
              <a:solidFill>
                <a:srgbClr val="000000"/>
              </a:solidFill>
              <a:latin typeface="Open Sans"/>
              <a:ea typeface="Open Sans"/>
              <a:cs typeface="Open Sans"/>
              <a:sym typeface="Open Sans"/>
            </a:endParaRPr>
          </a:p>
          <a:p>
            <a:pPr algn="just">
              <a:lnSpc>
                <a:spcPts val="2632"/>
              </a:lnSpc>
            </a:pPr>
            <a:r>
              <a:rPr lang="en-US" sz="1880" dirty="0">
                <a:solidFill>
                  <a:srgbClr val="000000"/>
                </a:solidFill>
                <a:latin typeface="Open Sans"/>
                <a:ea typeface="Open Sans"/>
                <a:cs typeface="Open Sans"/>
                <a:sym typeface="Open Sans"/>
              </a:rPr>
              <a:t>3. Temporal and Spatial Complexity of Imagined Speech</a:t>
            </a:r>
          </a:p>
          <a:p>
            <a:pPr marL="405893" lvl="1" indent="-202946" algn="just">
              <a:lnSpc>
                <a:spcPts val="2632"/>
              </a:lnSpc>
              <a:buFont typeface="Arial"/>
              <a:buChar char="•"/>
            </a:pPr>
            <a:r>
              <a:rPr lang="en-US" sz="1880" dirty="0">
                <a:solidFill>
                  <a:srgbClr val="000000"/>
                </a:solidFill>
                <a:latin typeface="Open Sans"/>
                <a:ea typeface="Open Sans"/>
                <a:cs typeface="Open Sans"/>
                <a:sym typeface="Open Sans"/>
              </a:rPr>
              <a:t>EEG signals evolve over time, making it challenging to detect the precise moment when a person starts imagining a word.</a:t>
            </a:r>
          </a:p>
          <a:p>
            <a:pPr marL="405893" lvl="1" indent="-202946" algn="just">
              <a:lnSpc>
                <a:spcPts val="2632"/>
              </a:lnSpc>
              <a:buFont typeface="Arial"/>
              <a:buChar char="•"/>
            </a:pPr>
            <a:r>
              <a:rPr lang="en-US" sz="1880" dirty="0">
                <a:solidFill>
                  <a:srgbClr val="000000"/>
                </a:solidFill>
                <a:latin typeface="Open Sans"/>
                <a:ea typeface="Open Sans"/>
                <a:cs typeface="Open Sans"/>
                <a:sym typeface="Open Sans"/>
              </a:rPr>
              <a:t>Existing feature extraction methods struggle with identifying distinct patterns for different words due to overlapping neural activity.</a:t>
            </a:r>
          </a:p>
          <a:p>
            <a:pPr algn="just">
              <a:lnSpc>
                <a:spcPts val="2632"/>
              </a:lnSpc>
            </a:pPr>
            <a:endParaRPr lang="en-US" sz="1880" dirty="0">
              <a:solidFill>
                <a:srgbClr val="000000"/>
              </a:solidFill>
              <a:latin typeface="Open Sans"/>
              <a:ea typeface="Open Sans"/>
              <a:cs typeface="Open Sans"/>
              <a:sym typeface="Open Sans"/>
            </a:endParaRPr>
          </a:p>
          <a:p>
            <a:pPr algn="just">
              <a:lnSpc>
                <a:spcPts val="2632"/>
              </a:lnSpc>
            </a:pPr>
            <a:r>
              <a:rPr lang="en-US" sz="1880" dirty="0">
                <a:solidFill>
                  <a:srgbClr val="000000"/>
                </a:solidFill>
                <a:latin typeface="Open Sans"/>
                <a:ea typeface="Open Sans"/>
                <a:cs typeface="Open Sans"/>
                <a:sym typeface="Open Sans"/>
              </a:rPr>
              <a:t>4. High Dimensionality and Computational Challenges</a:t>
            </a:r>
          </a:p>
          <a:p>
            <a:pPr marL="405893" lvl="1" indent="-202946" algn="just">
              <a:lnSpc>
                <a:spcPts val="2632"/>
              </a:lnSpc>
              <a:buFont typeface="Arial"/>
              <a:buChar char="•"/>
            </a:pPr>
            <a:r>
              <a:rPr lang="en-US" sz="1880" dirty="0">
                <a:solidFill>
                  <a:srgbClr val="000000"/>
                </a:solidFill>
                <a:latin typeface="Open Sans"/>
                <a:ea typeface="Open Sans"/>
                <a:cs typeface="Open Sans"/>
                <a:sym typeface="Open Sans"/>
              </a:rPr>
              <a:t>EEG data are high-dimensional.</a:t>
            </a:r>
          </a:p>
          <a:p>
            <a:pPr marL="405893" lvl="1" indent="-202946" algn="just">
              <a:lnSpc>
                <a:spcPts val="2632"/>
              </a:lnSpc>
              <a:buFont typeface="Arial"/>
              <a:buChar char="•"/>
            </a:pPr>
            <a:r>
              <a:rPr lang="en-US" sz="1880" dirty="0">
                <a:solidFill>
                  <a:srgbClr val="000000"/>
                </a:solidFill>
                <a:latin typeface="Open Sans"/>
                <a:ea typeface="Open Sans"/>
                <a:cs typeface="Open Sans"/>
                <a:sym typeface="Open Sans"/>
              </a:rPr>
              <a:t>Processing such large datasets in real-time increases the risk of overfitting machine learning models, leading to poor generalization.</a:t>
            </a:r>
          </a:p>
          <a:p>
            <a:pPr marL="405893" lvl="1" indent="-202946" algn="just">
              <a:lnSpc>
                <a:spcPts val="2632"/>
              </a:lnSpc>
              <a:buFont typeface="Arial"/>
              <a:buChar char="•"/>
            </a:pPr>
            <a:r>
              <a:rPr lang="en-US" sz="1880" dirty="0">
                <a:solidFill>
                  <a:srgbClr val="000000"/>
                </a:solidFill>
                <a:latin typeface="Open Sans"/>
                <a:ea typeface="Open Sans"/>
                <a:cs typeface="Open Sans"/>
                <a:sym typeface="Open Sans"/>
              </a:rPr>
              <a:t>Computational efficiency is a major concern, as real-time BCIs require low-latency processing to ensure a seamless user experience.</a:t>
            </a:r>
          </a:p>
          <a:p>
            <a:pPr algn="just">
              <a:lnSpc>
                <a:spcPts val="2632"/>
              </a:lnSpc>
              <a:spcBef>
                <a:spcPct val="0"/>
              </a:spcBef>
            </a:pPr>
            <a:endParaRPr lang="en-US" sz="1880" dirty="0">
              <a:solidFill>
                <a:srgbClr val="000000"/>
              </a:solidFill>
              <a:latin typeface="Open Sans"/>
              <a:ea typeface="Open Sans"/>
              <a:cs typeface="Open Sans"/>
              <a:sym typeface="Open Sans"/>
            </a:endParaRPr>
          </a:p>
        </p:txBody>
      </p:sp>
      <p:sp>
        <p:nvSpPr>
          <p:cNvPr id="5" name="Freeform 5"/>
          <p:cNvSpPr/>
          <p:nvPr/>
        </p:nvSpPr>
        <p:spPr>
          <a:xfrm>
            <a:off x="940804" y="1516524"/>
            <a:ext cx="11139318" cy="55697"/>
          </a:xfrm>
          <a:custGeom>
            <a:avLst/>
            <a:gdLst/>
            <a:ahLst/>
            <a:cxnLst/>
            <a:rect l="l" t="t" r="r" b="b"/>
            <a:pathLst>
              <a:path w="11139318" h="55697">
                <a:moveTo>
                  <a:pt x="0" y="0"/>
                </a:moveTo>
                <a:lnTo>
                  <a:pt x="11139318" y="0"/>
                </a:lnTo>
                <a:lnTo>
                  <a:pt x="11139318" y="55697"/>
                </a:lnTo>
                <a:lnTo>
                  <a:pt x="0" y="5569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TextBox 6"/>
          <p:cNvSpPr txBox="1"/>
          <p:nvPr/>
        </p:nvSpPr>
        <p:spPr>
          <a:xfrm>
            <a:off x="894918" y="808530"/>
            <a:ext cx="6735633" cy="749276"/>
          </a:xfrm>
          <a:prstGeom prst="rect">
            <a:avLst/>
          </a:prstGeom>
        </p:spPr>
        <p:txBody>
          <a:bodyPr lIns="0" tIns="0" rIns="0" bIns="0" rtlCol="0" anchor="t">
            <a:spAutoFit/>
          </a:bodyPr>
          <a:lstStyle/>
          <a:p>
            <a:pPr algn="l">
              <a:lnSpc>
                <a:spcPts val="5927"/>
              </a:lnSpc>
            </a:pPr>
            <a:r>
              <a:rPr lang="en-US" sz="4980" b="1">
                <a:solidFill>
                  <a:srgbClr val="1C2120"/>
                </a:solidFill>
                <a:latin typeface="Montserrat Bold"/>
                <a:ea typeface="Montserrat Bold"/>
                <a:cs typeface="Montserrat Bold"/>
                <a:sym typeface="Montserrat Bold"/>
              </a:rPr>
              <a:t>Current Problems </a:t>
            </a:r>
          </a:p>
        </p:txBody>
      </p:sp>
      <p:sp>
        <p:nvSpPr>
          <p:cNvPr id="7" name="TextBox 7"/>
          <p:cNvSpPr txBox="1"/>
          <p:nvPr/>
        </p:nvSpPr>
        <p:spPr>
          <a:xfrm>
            <a:off x="881176" y="2437048"/>
            <a:ext cx="15335926" cy="315888"/>
          </a:xfrm>
          <a:prstGeom prst="rect">
            <a:avLst/>
          </a:prstGeom>
        </p:spPr>
        <p:txBody>
          <a:bodyPr lIns="0" tIns="0" rIns="0" bIns="0" rtlCol="0" anchor="t">
            <a:spAutoFit/>
          </a:bodyPr>
          <a:lstStyle/>
          <a:p>
            <a:pPr marL="0" lvl="0" indent="0" algn="l">
              <a:lnSpc>
                <a:spcPts val="2589"/>
              </a:lnSpc>
              <a:spcBef>
                <a:spcPct val="0"/>
              </a:spcBef>
            </a:pPr>
            <a:r>
              <a:rPr lang="en-US" sz="1917" dirty="0">
                <a:solidFill>
                  <a:srgbClr val="000000"/>
                </a:solidFill>
                <a:latin typeface="Open Sans"/>
                <a:ea typeface="Open Sans"/>
                <a:cs typeface="Open Sans"/>
                <a:sym typeface="Open Sans"/>
              </a:rPr>
              <a:t>Decoding imagined speech from EEG signals is like trying to </a:t>
            </a:r>
            <a:r>
              <a:rPr lang="en-US" sz="1917" b="1" dirty="0">
                <a:solidFill>
                  <a:srgbClr val="000000"/>
                </a:solidFill>
                <a:latin typeface="Open Sans Bold"/>
                <a:ea typeface="Open Sans Bold"/>
                <a:cs typeface="Open Sans Bold"/>
                <a:sym typeface="Open Sans Bold"/>
              </a:rPr>
              <a:t>decipher a secret code</a:t>
            </a:r>
            <a:r>
              <a:rPr lang="en-US" sz="1917" dirty="0">
                <a:solidFill>
                  <a:srgbClr val="000000"/>
                </a:solidFill>
                <a:latin typeface="Open Sans"/>
                <a:ea typeface="Open Sans"/>
                <a:cs typeface="Open Sans"/>
                <a:sym typeface="Open Sans"/>
              </a:rPr>
              <a:t>. </a:t>
            </a:r>
          </a:p>
        </p:txBody>
      </p:sp>
      <p:grpSp>
        <p:nvGrpSpPr>
          <p:cNvPr id="9" name="Group 8">
            <a:extLst>
              <a:ext uri="{FF2B5EF4-FFF2-40B4-BE49-F238E27FC236}">
                <a16:creationId xmlns:a16="http://schemas.microsoft.com/office/drawing/2014/main" id="{66B69C59-EF6B-0B19-E7B4-77E9F8B25139}"/>
              </a:ext>
            </a:extLst>
          </p:cNvPr>
          <p:cNvGrpSpPr/>
          <p:nvPr/>
        </p:nvGrpSpPr>
        <p:grpSpPr>
          <a:xfrm>
            <a:off x="7150630" y="852327"/>
            <a:ext cx="4929491" cy="705479"/>
            <a:chOff x="0" y="0"/>
            <a:chExt cx="1014770" cy="138843"/>
          </a:xfrm>
        </p:grpSpPr>
        <p:sp>
          <p:nvSpPr>
            <p:cNvPr id="10" name="Freeform 9">
              <a:extLst>
                <a:ext uri="{FF2B5EF4-FFF2-40B4-BE49-F238E27FC236}">
                  <a16:creationId xmlns:a16="http://schemas.microsoft.com/office/drawing/2014/main" id="{69EF3D74-50BA-306D-1E54-2884533F40B3}"/>
                </a:ext>
              </a:extLst>
            </p:cNvPr>
            <p:cNvSpPr/>
            <p:nvPr/>
          </p:nvSpPr>
          <p:spPr>
            <a:xfrm>
              <a:off x="0" y="0"/>
              <a:ext cx="1014770" cy="138843"/>
            </a:xfrm>
            <a:custGeom>
              <a:avLst/>
              <a:gdLst/>
              <a:ahLst/>
              <a:cxnLst/>
              <a:rect l="l" t="t" r="r" b="b"/>
              <a:pathLst>
                <a:path w="1014770" h="138843">
                  <a:moveTo>
                    <a:pt x="0" y="0"/>
                  </a:moveTo>
                  <a:lnTo>
                    <a:pt x="1014770" y="0"/>
                  </a:lnTo>
                  <a:lnTo>
                    <a:pt x="1014770" y="138843"/>
                  </a:lnTo>
                  <a:lnTo>
                    <a:pt x="0" y="138843"/>
                  </a:lnTo>
                  <a:close/>
                </a:path>
              </a:pathLst>
            </a:custGeom>
            <a:solidFill>
              <a:srgbClr val="55FF4D"/>
            </a:solidFill>
          </p:spPr>
          <p:txBody>
            <a:bodyPr/>
            <a:lstStyle/>
            <a:p>
              <a:endParaRPr lang="en-US"/>
            </a:p>
          </p:txBody>
        </p:sp>
        <p:sp>
          <p:nvSpPr>
            <p:cNvPr id="11" name="TextBox 10">
              <a:extLst>
                <a:ext uri="{FF2B5EF4-FFF2-40B4-BE49-F238E27FC236}">
                  <a16:creationId xmlns:a16="http://schemas.microsoft.com/office/drawing/2014/main" id="{340D300B-2E5F-48D3-366C-7C017575286E}"/>
                </a:ext>
              </a:extLst>
            </p:cNvPr>
            <p:cNvSpPr txBox="1"/>
            <p:nvPr/>
          </p:nvSpPr>
          <p:spPr>
            <a:xfrm>
              <a:off x="0" y="-38100"/>
              <a:ext cx="1014770" cy="176943"/>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7346952" y="914246"/>
            <a:ext cx="4761745" cy="528320"/>
          </a:xfrm>
          <a:prstGeom prst="rect">
            <a:avLst/>
          </a:prstGeom>
        </p:spPr>
        <p:txBody>
          <a:bodyPr lIns="0" tIns="0" rIns="0" bIns="0" rtlCol="0" anchor="t">
            <a:spAutoFit/>
          </a:bodyPr>
          <a:lstStyle/>
          <a:p>
            <a:pPr algn="l">
              <a:lnSpc>
                <a:spcPts val="4165"/>
              </a:lnSpc>
            </a:pPr>
            <a:r>
              <a:rPr lang="en-US" sz="3500" b="1">
                <a:solidFill>
                  <a:srgbClr val="1C2120"/>
                </a:solidFill>
                <a:latin typeface="Montserrat Bold"/>
                <a:ea typeface="Montserrat Bold"/>
                <a:cs typeface="Montserrat Bold"/>
                <a:sym typeface="Montserrat Bold"/>
              </a:rPr>
              <a:t>with EEG based BCI</a:t>
            </a:r>
          </a:p>
        </p:txBody>
      </p:sp>
      <p:sp>
        <p:nvSpPr>
          <p:cNvPr id="12" name="TextBox 7">
            <a:extLst>
              <a:ext uri="{FF2B5EF4-FFF2-40B4-BE49-F238E27FC236}">
                <a16:creationId xmlns:a16="http://schemas.microsoft.com/office/drawing/2014/main" id="{13A909C2-C732-08D5-75FA-359A7FD14727}"/>
              </a:ext>
            </a:extLst>
          </p:cNvPr>
          <p:cNvSpPr txBox="1"/>
          <p:nvPr/>
        </p:nvSpPr>
        <p:spPr>
          <a:xfrm>
            <a:off x="894918" y="1813316"/>
            <a:ext cx="12516282" cy="276999"/>
          </a:xfrm>
          <a:prstGeom prst="rect">
            <a:avLst/>
          </a:prstGeom>
        </p:spPr>
        <p:txBody>
          <a:bodyPr wrap="square" lIns="0" tIns="0" rIns="0" bIns="0" rtlCol="0" anchor="t">
            <a:spAutoFit/>
          </a:bodyPr>
          <a:lstStyle/>
          <a:p>
            <a:r>
              <a:rPr lang="en-US" b="1" dirty="0"/>
              <a:t>Electroencephalography (EEG)</a:t>
            </a:r>
            <a:r>
              <a:rPr lang="en-US" dirty="0"/>
              <a:t> is a non-invasive technique that measures the electrical activity of neurons in the neocortex.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dissolve">
                                      <p:cBhvr>
                                        <p:cTn id="7" dur="500"/>
                                        <p:tgtEl>
                                          <p:spTgt spid="4">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xEl>
                                              <p:pRg st="6" end="6"/>
                                            </p:txEl>
                                          </p:spTgt>
                                        </p:tgtEl>
                                        <p:attrNameLst>
                                          <p:attrName>style.visibility</p:attrName>
                                        </p:attrNameLst>
                                      </p:cBhvr>
                                      <p:to>
                                        <p:strVal val="visible"/>
                                      </p:to>
                                    </p:set>
                                    <p:animEffect transition="in" filter="dissolve">
                                      <p:cBhvr>
                                        <p:cTn id="12" dur="500"/>
                                        <p:tgtEl>
                                          <p:spTgt spid="4">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xEl>
                                              <p:pRg st="9" end="9"/>
                                            </p:txEl>
                                          </p:spTgt>
                                        </p:tgtEl>
                                        <p:attrNameLst>
                                          <p:attrName>style.visibility</p:attrName>
                                        </p:attrNameLst>
                                      </p:cBhvr>
                                      <p:to>
                                        <p:strVal val="visible"/>
                                      </p:to>
                                    </p:set>
                                    <p:animEffect transition="in" filter="dissolve">
                                      <p:cBhvr>
                                        <p:cTn id="17" dur="500"/>
                                        <p:tgtEl>
                                          <p:spTgt spid="4">
                                            <p:txEl>
                                              <p:pRg st="9" end="9"/>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4">
                                            <p:txEl>
                                              <p:pRg st="10" end="10"/>
                                            </p:txEl>
                                          </p:spTgt>
                                        </p:tgtEl>
                                        <p:attrNameLst>
                                          <p:attrName>style.visibility</p:attrName>
                                        </p:attrNameLst>
                                      </p:cBhvr>
                                      <p:to>
                                        <p:strVal val="visible"/>
                                      </p:to>
                                    </p:set>
                                    <p:animEffect transition="in" filter="dissolve">
                                      <p:cBhvr>
                                        <p:cTn id="20" dur="500"/>
                                        <p:tgtEl>
                                          <p:spTgt spid="4">
                                            <p:txEl>
                                              <p:pRg st="10" end="1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4">
                                            <p:txEl>
                                              <p:pRg st="13" end="13"/>
                                            </p:txEl>
                                          </p:spTgt>
                                        </p:tgtEl>
                                        <p:attrNameLst>
                                          <p:attrName>style.visibility</p:attrName>
                                        </p:attrNameLst>
                                      </p:cBhvr>
                                      <p:to>
                                        <p:strVal val="visible"/>
                                      </p:to>
                                    </p:set>
                                    <p:animEffect transition="in" filter="dissolve">
                                      <p:cBhvr>
                                        <p:cTn id="25" dur="500"/>
                                        <p:tgtEl>
                                          <p:spTgt spid="4">
                                            <p:txEl>
                                              <p:pRg st="13" end="13"/>
                                            </p:txEl>
                                          </p:spTgt>
                                        </p:tgtEl>
                                      </p:cBhvr>
                                    </p:animEffect>
                                  </p:childTnLst>
                                </p:cTn>
                              </p:par>
                              <p:par>
                                <p:cTn id="26" presetID="9" presetClass="entr" presetSubtype="0" fill="hold" nodeType="withEffect">
                                  <p:stCondLst>
                                    <p:cond delay="0"/>
                                  </p:stCondLst>
                                  <p:childTnLst>
                                    <p:set>
                                      <p:cBhvr>
                                        <p:cTn id="27" dur="1" fill="hold">
                                          <p:stCondLst>
                                            <p:cond delay="0"/>
                                          </p:stCondLst>
                                        </p:cTn>
                                        <p:tgtEl>
                                          <p:spTgt spid="4">
                                            <p:txEl>
                                              <p:pRg st="14" end="14"/>
                                            </p:txEl>
                                          </p:spTgt>
                                        </p:tgtEl>
                                        <p:attrNameLst>
                                          <p:attrName>style.visibility</p:attrName>
                                        </p:attrNameLst>
                                      </p:cBhvr>
                                      <p:to>
                                        <p:strVal val="visible"/>
                                      </p:to>
                                    </p:set>
                                    <p:animEffect transition="in" filter="dissolve">
                                      <p:cBhvr>
                                        <p:cTn id="28" dur="500"/>
                                        <p:tgtEl>
                                          <p:spTgt spid="4">
                                            <p:txEl>
                                              <p:pRg st="14" end="14"/>
                                            </p:txEl>
                                          </p:spTgt>
                                        </p:tgtEl>
                                      </p:cBhvr>
                                    </p:animEffect>
                                  </p:childTnLst>
                                </p:cTn>
                              </p:par>
                              <p:par>
                                <p:cTn id="29" presetID="9" presetClass="entr" presetSubtype="0" fill="hold" nodeType="withEffect">
                                  <p:stCondLst>
                                    <p:cond delay="0"/>
                                  </p:stCondLst>
                                  <p:childTnLst>
                                    <p:set>
                                      <p:cBhvr>
                                        <p:cTn id="30" dur="1" fill="hold">
                                          <p:stCondLst>
                                            <p:cond delay="0"/>
                                          </p:stCondLst>
                                        </p:cTn>
                                        <p:tgtEl>
                                          <p:spTgt spid="4">
                                            <p:txEl>
                                              <p:pRg st="15" end="15"/>
                                            </p:txEl>
                                          </p:spTgt>
                                        </p:tgtEl>
                                        <p:attrNameLst>
                                          <p:attrName>style.visibility</p:attrName>
                                        </p:attrNameLst>
                                      </p:cBhvr>
                                      <p:to>
                                        <p:strVal val="visible"/>
                                      </p:to>
                                    </p:set>
                                    <p:animEffect transition="in" filter="dissolve">
                                      <p:cBhvr>
                                        <p:cTn id="31" dur="500"/>
                                        <p:tgtEl>
                                          <p:spTgt spid="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75664" y="3196959"/>
            <a:ext cx="1051108" cy="105110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cap="sq">
              <a:noFill/>
              <a:prstDash val="lgDash"/>
              <a:miter/>
            </a:ln>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6310506" y="5365660"/>
            <a:ext cx="1051108" cy="105110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cap="sq">
              <a:noFill/>
              <a:prstDash val="lgDash"/>
              <a:miter/>
            </a:ln>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12711369" y="7166818"/>
            <a:ext cx="1051108" cy="1051108"/>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5FF4D"/>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3153213" y="2514277"/>
            <a:ext cx="1051108" cy="1051108"/>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cap="sq">
              <a:noFill/>
              <a:prstDash val="lgDash"/>
              <a:miter/>
            </a:ln>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4" name="Freeform 14"/>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2"/>
            <a:stretch>
              <a:fillRect t="-10270" b="-14099"/>
            </a:stretch>
          </a:blipFill>
        </p:spPr>
        <p:txBody>
          <a:bodyPr/>
          <a:lstStyle/>
          <a:p>
            <a:endParaRPr lang="en-US"/>
          </a:p>
        </p:txBody>
      </p:sp>
      <p:sp>
        <p:nvSpPr>
          <p:cNvPr id="15" name="Freeform 15"/>
          <p:cNvSpPr/>
          <p:nvPr/>
        </p:nvSpPr>
        <p:spPr>
          <a:xfrm rot="-8534287">
            <a:off x="12338539" y="5524397"/>
            <a:ext cx="3578431" cy="1784742"/>
          </a:xfrm>
          <a:custGeom>
            <a:avLst/>
            <a:gdLst/>
            <a:ahLst/>
            <a:cxnLst/>
            <a:rect l="l" t="t" r="r" b="b"/>
            <a:pathLst>
              <a:path w="3578431" h="1784742">
                <a:moveTo>
                  <a:pt x="0" y="0"/>
                </a:moveTo>
                <a:lnTo>
                  <a:pt x="3578431" y="0"/>
                </a:lnTo>
                <a:lnTo>
                  <a:pt x="3578431" y="1784743"/>
                </a:lnTo>
                <a:lnTo>
                  <a:pt x="0" y="178474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6" name="Group 16"/>
          <p:cNvGrpSpPr/>
          <p:nvPr/>
        </p:nvGrpSpPr>
        <p:grpSpPr>
          <a:xfrm>
            <a:off x="1295400" y="4390819"/>
            <a:ext cx="1124060" cy="426454"/>
            <a:chOff x="0" y="0"/>
            <a:chExt cx="296049" cy="112317"/>
          </a:xfrm>
        </p:grpSpPr>
        <p:sp>
          <p:nvSpPr>
            <p:cNvPr id="17" name="Freeform 17"/>
            <p:cNvSpPr/>
            <p:nvPr/>
          </p:nvSpPr>
          <p:spPr>
            <a:xfrm>
              <a:off x="0" y="0"/>
              <a:ext cx="296049" cy="112317"/>
            </a:xfrm>
            <a:custGeom>
              <a:avLst/>
              <a:gdLst/>
              <a:ahLst/>
              <a:cxnLst/>
              <a:rect l="l" t="t" r="r" b="b"/>
              <a:pathLst>
                <a:path w="296049" h="112317">
                  <a:moveTo>
                    <a:pt x="0" y="0"/>
                  </a:moveTo>
                  <a:lnTo>
                    <a:pt x="296049" y="0"/>
                  </a:lnTo>
                  <a:lnTo>
                    <a:pt x="296049" y="112317"/>
                  </a:lnTo>
                  <a:lnTo>
                    <a:pt x="0" y="112317"/>
                  </a:lnTo>
                  <a:close/>
                </a:path>
              </a:pathLst>
            </a:custGeom>
            <a:solidFill>
              <a:srgbClr val="55FF4D"/>
            </a:solidFill>
          </p:spPr>
          <p:txBody>
            <a:bodyPr/>
            <a:lstStyle/>
            <a:p>
              <a:endParaRPr lang="en-US"/>
            </a:p>
          </p:txBody>
        </p:sp>
        <p:sp>
          <p:nvSpPr>
            <p:cNvPr id="18" name="TextBox 18"/>
            <p:cNvSpPr txBox="1"/>
            <p:nvPr/>
          </p:nvSpPr>
          <p:spPr>
            <a:xfrm>
              <a:off x="0" y="-38100"/>
              <a:ext cx="296049" cy="150417"/>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295400" y="5768535"/>
            <a:ext cx="1124060" cy="426454"/>
            <a:chOff x="0" y="0"/>
            <a:chExt cx="296049" cy="112317"/>
          </a:xfrm>
        </p:grpSpPr>
        <p:sp>
          <p:nvSpPr>
            <p:cNvPr id="20" name="Freeform 20"/>
            <p:cNvSpPr/>
            <p:nvPr/>
          </p:nvSpPr>
          <p:spPr>
            <a:xfrm>
              <a:off x="0" y="0"/>
              <a:ext cx="296049" cy="112317"/>
            </a:xfrm>
            <a:custGeom>
              <a:avLst/>
              <a:gdLst/>
              <a:ahLst/>
              <a:cxnLst/>
              <a:rect l="l" t="t" r="r" b="b"/>
              <a:pathLst>
                <a:path w="296049" h="112317">
                  <a:moveTo>
                    <a:pt x="0" y="0"/>
                  </a:moveTo>
                  <a:lnTo>
                    <a:pt x="296049" y="0"/>
                  </a:lnTo>
                  <a:lnTo>
                    <a:pt x="296049" y="112317"/>
                  </a:lnTo>
                  <a:lnTo>
                    <a:pt x="0" y="112317"/>
                  </a:lnTo>
                  <a:close/>
                </a:path>
              </a:pathLst>
            </a:custGeom>
            <a:solidFill>
              <a:srgbClr val="55FF4D"/>
            </a:solidFill>
          </p:spPr>
          <p:txBody>
            <a:bodyPr/>
            <a:lstStyle/>
            <a:p>
              <a:endParaRPr lang="en-US"/>
            </a:p>
          </p:txBody>
        </p:sp>
        <p:sp>
          <p:nvSpPr>
            <p:cNvPr id="21" name="TextBox 21"/>
            <p:cNvSpPr txBox="1"/>
            <p:nvPr/>
          </p:nvSpPr>
          <p:spPr>
            <a:xfrm>
              <a:off x="0" y="-38100"/>
              <a:ext cx="296049" cy="150417"/>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1295400" y="7603877"/>
            <a:ext cx="1124060" cy="426454"/>
            <a:chOff x="0" y="0"/>
            <a:chExt cx="296049" cy="112317"/>
          </a:xfrm>
        </p:grpSpPr>
        <p:sp>
          <p:nvSpPr>
            <p:cNvPr id="23" name="Freeform 23"/>
            <p:cNvSpPr/>
            <p:nvPr/>
          </p:nvSpPr>
          <p:spPr>
            <a:xfrm>
              <a:off x="0" y="0"/>
              <a:ext cx="296049" cy="112317"/>
            </a:xfrm>
            <a:custGeom>
              <a:avLst/>
              <a:gdLst/>
              <a:ahLst/>
              <a:cxnLst/>
              <a:rect l="l" t="t" r="r" b="b"/>
              <a:pathLst>
                <a:path w="296049" h="112317">
                  <a:moveTo>
                    <a:pt x="0" y="0"/>
                  </a:moveTo>
                  <a:lnTo>
                    <a:pt x="296049" y="0"/>
                  </a:lnTo>
                  <a:lnTo>
                    <a:pt x="296049" y="112317"/>
                  </a:lnTo>
                  <a:lnTo>
                    <a:pt x="0" y="112317"/>
                  </a:lnTo>
                  <a:close/>
                </a:path>
              </a:pathLst>
            </a:custGeom>
            <a:solidFill>
              <a:srgbClr val="55FF4D"/>
            </a:solidFill>
          </p:spPr>
          <p:txBody>
            <a:bodyPr/>
            <a:lstStyle/>
            <a:p>
              <a:endParaRPr lang="en-US"/>
            </a:p>
          </p:txBody>
        </p:sp>
        <p:sp>
          <p:nvSpPr>
            <p:cNvPr id="24" name="TextBox 24"/>
            <p:cNvSpPr txBox="1"/>
            <p:nvPr/>
          </p:nvSpPr>
          <p:spPr>
            <a:xfrm>
              <a:off x="0" y="-38100"/>
              <a:ext cx="296049" cy="150417"/>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975380" y="2514277"/>
            <a:ext cx="10145858" cy="6410153"/>
          </a:xfrm>
          <a:prstGeom prst="rect">
            <a:avLst/>
          </a:prstGeom>
        </p:spPr>
        <p:txBody>
          <a:bodyPr lIns="0" tIns="0" rIns="0" bIns="0" rtlCol="0" anchor="t">
            <a:spAutoFit/>
          </a:bodyPr>
          <a:lstStyle/>
          <a:p>
            <a:pPr algn="just">
              <a:lnSpc>
                <a:spcPts val="3558"/>
              </a:lnSpc>
            </a:pPr>
            <a:r>
              <a:rPr lang="en-US" sz="1882" dirty="0">
                <a:solidFill>
                  <a:srgbClr val="000000"/>
                </a:solidFill>
                <a:latin typeface="Open Sans"/>
                <a:ea typeface="Open Sans"/>
                <a:cs typeface="Open Sans"/>
                <a:sym typeface="Open Sans"/>
              </a:rPr>
              <a:t>My research aimed to tackle these challenges by developing and evaluating three sophisticated EEG classification models, assessing various feature extraction methods, and investigating PCA's effectiveness for dimensionality reduction.</a:t>
            </a:r>
          </a:p>
          <a:p>
            <a:pPr marL="0" lvl="0" indent="0" algn="just">
              <a:lnSpc>
                <a:spcPts val="3558"/>
              </a:lnSpc>
            </a:pPr>
            <a:endParaRPr lang="en-US" sz="1882" dirty="0">
              <a:solidFill>
                <a:srgbClr val="000000"/>
              </a:solidFill>
              <a:latin typeface="Open Sans"/>
              <a:ea typeface="Open Sans"/>
              <a:cs typeface="Open Sans"/>
              <a:sym typeface="Open Sans"/>
            </a:endParaRPr>
          </a:p>
          <a:p>
            <a:pPr marL="406495" lvl="1" indent="-203247" algn="just">
              <a:lnSpc>
                <a:spcPts val="3558"/>
              </a:lnSpc>
              <a:buFont typeface="Arial"/>
              <a:buChar char="•"/>
            </a:pPr>
            <a:r>
              <a:rPr lang="en-US" sz="1882" u="none" dirty="0">
                <a:solidFill>
                  <a:srgbClr val="000000"/>
                </a:solidFill>
                <a:latin typeface="Open Sans"/>
                <a:ea typeface="Open Sans"/>
                <a:cs typeface="Open Sans"/>
                <a:sym typeface="Open Sans"/>
              </a:rPr>
              <a:t>GOAL 1:  Which deep learning architecture (Transformer, CNN-LSTM, or Vanilla Multi-Layer Perceptron) is most effective for EEG classification?</a:t>
            </a:r>
          </a:p>
          <a:p>
            <a:pPr marL="406495" lvl="1" indent="-203247" algn="just">
              <a:lnSpc>
                <a:spcPts val="3558"/>
              </a:lnSpc>
              <a:buFont typeface="Arial"/>
              <a:buChar char="•"/>
            </a:pPr>
            <a:endParaRPr lang="en-US" sz="1882" u="none" dirty="0">
              <a:solidFill>
                <a:srgbClr val="000000"/>
              </a:solidFill>
              <a:latin typeface="Open Sans"/>
              <a:ea typeface="Open Sans"/>
              <a:cs typeface="Open Sans"/>
              <a:sym typeface="Open Sans"/>
            </a:endParaRPr>
          </a:p>
          <a:p>
            <a:pPr marL="406495" lvl="1" indent="-203247" algn="just">
              <a:lnSpc>
                <a:spcPts val="3558"/>
              </a:lnSpc>
              <a:buFont typeface="Arial"/>
              <a:buChar char="•"/>
            </a:pPr>
            <a:r>
              <a:rPr lang="en-US" sz="1882" u="none" dirty="0">
                <a:solidFill>
                  <a:srgbClr val="000000"/>
                </a:solidFill>
                <a:latin typeface="Open Sans"/>
                <a:ea typeface="Open Sans"/>
                <a:cs typeface="Open Sans"/>
                <a:sym typeface="Open Sans"/>
              </a:rPr>
              <a:t>GOAL 2:   How do different feature extraction methods (Fast Fourier Transform, Mean Phase Coherence MPC,  Magnitude Squared Coherence (MSC)) impact the performance of these models?</a:t>
            </a:r>
          </a:p>
          <a:p>
            <a:pPr marL="203248" lvl="1" algn="just">
              <a:lnSpc>
                <a:spcPts val="3558"/>
              </a:lnSpc>
            </a:pPr>
            <a:endParaRPr lang="en-US" sz="1882" u="none" dirty="0">
              <a:solidFill>
                <a:srgbClr val="000000"/>
              </a:solidFill>
              <a:latin typeface="Open Sans"/>
              <a:ea typeface="Open Sans"/>
              <a:cs typeface="Open Sans"/>
              <a:sym typeface="Open Sans"/>
            </a:endParaRPr>
          </a:p>
          <a:p>
            <a:pPr marL="406495" lvl="1" indent="-203247" algn="just">
              <a:lnSpc>
                <a:spcPts val="3558"/>
              </a:lnSpc>
              <a:buFont typeface="Arial"/>
              <a:buChar char="•"/>
            </a:pPr>
            <a:r>
              <a:rPr lang="en-US" sz="1882" u="none" dirty="0">
                <a:solidFill>
                  <a:srgbClr val="000000"/>
                </a:solidFill>
                <a:latin typeface="Open Sans"/>
                <a:ea typeface="Open Sans"/>
                <a:cs typeface="Open Sans"/>
                <a:sym typeface="Open Sans"/>
              </a:rPr>
              <a:t>GOAL 3:   Does PCA-based dimensionality reduction improve model generalization?</a:t>
            </a:r>
          </a:p>
          <a:p>
            <a:pPr algn="just">
              <a:lnSpc>
                <a:spcPts val="3558"/>
              </a:lnSpc>
            </a:pPr>
            <a:endParaRPr lang="en-US" sz="1882" u="none" dirty="0">
              <a:solidFill>
                <a:srgbClr val="000000"/>
              </a:solidFill>
              <a:latin typeface="Open Sans"/>
              <a:ea typeface="Open Sans"/>
              <a:cs typeface="Open Sans"/>
              <a:sym typeface="Open Sans"/>
            </a:endParaRPr>
          </a:p>
          <a:p>
            <a:pPr marL="0" lvl="0" indent="0" algn="just">
              <a:lnSpc>
                <a:spcPts val="3558"/>
              </a:lnSpc>
            </a:pPr>
            <a:endParaRPr lang="en-US" sz="1882" u="none" dirty="0">
              <a:solidFill>
                <a:srgbClr val="000000"/>
              </a:solidFill>
              <a:latin typeface="Open Sans"/>
              <a:ea typeface="Open Sans"/>
              <a:cs typeface="Open Sans"/>
              <a:sym typeface="Open Sans"/>
            </a:endParaRPr>
          </a:p>
        </p:txBody>
      </p:sp>
      <p:sp>
        <p:nvSpPr>
          <p:cNvPr id="26" name="Freeform 26"/>
          <p:cNvSpPr/>
          <p:nvPr/>
        </p:nvSpPr>
        <p:spPr>
          <a:xfrm rot="-8625698" flipH="1" flipV="1">
            <a:off x="13076206" y="3924902"/>
            <a:ext cx="3578431" cy="1784742"/>
          </a:xfrm>
          <a:custGeom>
            <a:avLst/>
            <a:gdLst/>
            <a:ahLst/>
            <a:cxnLst/>
            <a:rect l="l" t="t" r="r" b="b"/>
            <a:pathLst>
              <a:path w="3578431" h="1784742">
                <a:moveTo>
                  <a:pt x="3578431" y="1784743"/>
                </a:moveTo>
                <a:lnTo>
                  <a:pt x="0" y="1784743"/>
                </a:lnTo>
                <a:lnTo>
                  <a:pt x="0" y="0"/>
                </a:lnTo>
                <a:lnTo>
                  <a:pt x="3578431" y="0"/>
                </a:lnTo>
                <a:lnTo>
                  <a:pt x="3578431" y="178474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27" name="Group 27"/>
          <p:cNvGrpSpPr/>
          <p:nvPr/>
        </p:nvGrpSpPr>
        <p:grpSpPr>
          <a:xfrm>
            <a:off x="15037605" y="7491061"/>
            <a:ext cx="1051108" cy="1051108"/>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5FF4D"/>
            </a:solidFill>
          </p:spPr>
          <p:txBody>
            <a:bodyPr/>
            <a:lstStyle/>
            <a:p>
              <a:endParaRPr lang="en-US"/>
            </a:p>
          </p:txBody>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a:off x="11660261" y="5543608"/>
            <a:ext cx="1051108" cy="1051108"/>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5FF4D"/>
            </a:solidFill>
          </p:spPr>
          <p:txBody>
            <a:bodyPr/>
            <a:lstStyle/>
            <a:p>
              <a:endParaRPr lang="en-US"/>
            </a:p>
          </p:txBody>
        </p:sp>
        <p:sp>
          <p:nvSpPr>
            <p:cNvPr id="32" name="TextBox 3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3" name="AutoShape 33"/>
          <p:cNvSpPr/>
          <p:nvPr/>
        </p:nvSpPr>
        <p:spPr>
          <a:xfrm>
            <a:off x="11193076" y="3248735"/>
            <a:ext cx="6426653" cy="4642310"/>
          </a:xfrm>
          <a:prstGeom prst="line">
            <a:avLst/>
          </a:prstGeom>
          <a:ln w="57150" cap="rnd">
            <a:solidFill>
              <a:srgbClr val="55FF4D"/>
            </a:solidFill>
            <a:prstDash val="solid"/>
            <a:headEnd type="none" w="sm" len="sm"/>
            <a:tailEnd type="none" w="sm" len="sm"/>
          </a:ln>
        </p:spPr>
        <p:txBody>
          <a:bodyPr/>
          <a:lstStyle/>
          <a:p>
            <a:endParaRPr lang="en-US"/>
          </a:p>
        </p:txBody>
      </p:sp>
      <p:sp>
        <p:nvSpPr>
          <p:cNvPr id="34" name="TextBox 34"/>
          <p:cNvSpPr txBox="1"/>
          <p:nvPr/>
        </p:nvSpPr>
        <p:spPr>
          <a:xfrm>
            <a:off x="954286" y="956611"/>
            <a:ext cx="8704144" cy="697455"/>
          </a:xfrm>
          <a:prstGeom prst="rect">
            <a:avLst/>
          </a:prstGeom>
        </p:spPr>
        <p:txBody>
          <a:bodyPr lIns="0" tIns="0" rIns="0" bIns="0" rtlCol="0" anchor="t">
            <a:spAutoFit/>
          </a:bodyPr>
          <a:lstStyle/>
          <a:p>
            <a:pPr marL="0" lvl="1" indent="0" algn="l">
              <a:lnSpc>
                <a:spcPts val="5219"/>
              </a:lnSpc>
              <a:spcBef>
                <a:spcPct val="0"/>
              </a:spcBef>
            </a:pPr>
            <a:r>
              <a:rPr lang="en-US" sz="5380" b="1">
                <a:solidFill>
                  <a:srgbClr val="1C2120"/>
                </a:solidFill>
                <a:latin typeface="Montserrat Bold"/>
                <a:ea typeface="Montserrat Bold"/>
                <a:cs typeface="Montserrat Bold"/>
                <a:sym typeface="Montserrat Bold"/>
              </a:rPr>
              <a:t>RESEARCH OBJECTIVES</a:t>
            </a:r>
          </a:p>
        </p:txBody>
      </p:sp>
      <p:sp>
        <p:nvSpPr>
          <p:cNvPr id="35" name="TextBox 35"/>
          <p:cNvSpPr txBox="1"/>
          <p:nvPr/>
        </p:nvSpPr>
        <p:spPr>
          <a:xfrm>
            <a:off x="15675664" y="3586860"/>
            <a:ext cx="1051108" cy="242914"/>
          </a:xfrm>
          <a:prstGeom prst="rect">
            <a:avLst/>
          </a:prstGeom>
        </p:spPr>
        <p:txBody>
          <a:bodyPr lIns="0" tIns="0" rIns="0" bIns="0" rtlCol="0" anchor="t">
            <a:spAutoFit/>
          </a:bodyPr>
          <a:lstStyle/>
          <a:p>
            <a:pPr algn="ctr">
              <a:lnSpc>
                <a:spcPts val="1910"/>
              </a:lnSpc>
              <a:spcBef>
                <a:spcPct val="0"/>
              </a:spcBef>
            </a:pPr>
            <a:r>
              <a:rPr lang="en-US" sz="1364" b="1">
                <a:solidFill>
                  <a:srgbClr val="FFFFFF"/>
                </a:solidFill>
                <a:latin typeface="Open Sans Bold"/>
                <a:ea typeface="Open Sans Bold"/>
                <a:cs typeface="Open Sans Bold"/>
                <a:sym typeface="Open Sans Bold"/>
              </a:rPr>
              <a:t>CNN_LTSM</a:t>
            </a:r>
          </a:p>
        </p:txBody>
      </p:sp>
      <p:sp>
        <p:nvSpPr>
          <p:cNvPr id="36" name="TextBox 36"/>
          <p:cNvSpPr txBox="1"/>
          <p:nvPr/>
        </p:nvSpPr>
        <p:spPr>
          <a:xfrm>
            <a:off x="16310506" y="5781618"/>
            <a:ext cx="1091649" cy="200144"/>
          </a:xfrm>
          <a:prstGeom prst="rect">
            <a:avLst/>
          </a:prstGeom>
        </p:spPr>
        <p:txBody>
          <a:bodyPr lIns="0" tIns="0" rIns="0" bIns="0" rtlCol="0" anchor="t">
            <a:spAutoFit/>
          </a:bodyPr>
          <a:lstStyle/>
          <a:p>
            <a:pPr algn="ctr">
              <a:lnSpc>
                <a:spcPts val="1709"/>
              </a:lnSpc>
              <a:spcBef>
                <a:spcPct val="0"/>
              </a:spcBef>
            </a:pPr>
            <a:r>
              <a:rPr lang="en-US" sz="1221" b="1">
                <a:solidFill>
                  <a:srgbClr val="FFFFFF"/>
                </a:solidFill>
                <a:latin typeface="Open Sans Bold"/>
                <a:ea typeface="Open Sans Bold"/>
                <a:cs typeface="Open Sans Bold"/>
                <a:sym typeface="Open Sans Bold"/>
              </a:rPr>
              <a:t>Transformer</a:t>
            </a:r>
          </a:p>
        </p:txBody>
      </p:sp>
      <p:sp>
        <p:nvSpPr>
          <p:cNvPr id="37" name="TextBox 37"/>
          <p:cNvSpPr txBox="1"/>
          <p:nvPr/>
        </p:nvSpPr>
        <p:spPr>
          <a:xfrm>
            <a:off x="13153213" y="2899324"/>
            <a:ext cx="1051108" cy="242914"/>
          </a:xfrm>
          <a:prstGeom prst="rect">
            <a:avLst/>
          </a:prstGeom>
        </p:spPr>
        <p:txBody>
          <a:bodyPr lIns="0" tIns="0" rIns="0" bIns="0" rtlCol="0" anchor="t">
            <a:spAutoFit/>
          </a:bodyPr>
          <a:lstStyle/>
          <a:p>
            <a:pPr algn="ctr">
              <a:lnSpc>
                <a:spcPts val="1910"/>
              </a:lnSpc>
              <a:spcBef>
                <a:spcPct val="0"/>
              </a:spcBef>
            </a:pPr>
            <a:r>
              <a:rPr lang="en-US" sz="1364" b="1">
                <a:solidFill>
                  <a:srgbClr val="FFFFFF"/>
                </a:solidFill>
                <a:latin typeface="Open Sans Bold"/>
                <a:ea typeface="Open Sans Bold"/>
                <a:cs typeface="Open Sans Bold"/>
                <a:sym typeface="Open Sans Bold"/>
              </a:rPr>
              <a:t>MLP</a:t>
            </a:r>
          </a:p>
        </p:txBody>
      </p:sp>
      <p:sp>
        <p:nvSpPr>
          <p:cNvPr id="38" name="TextBox 38"/>
          <p:cNvSpPr txBox="1"/>
          <p:nvPr/>
        </p:nvSpPr>
        <p:spPr>
          <a:xfrm>
            <a:off x="14276527" y="4853670"/>
            <a:ext cx="1381745" cy="482395"/>
          </a:xfrm>
          <a:prstGeom prst="rect">
            <a:avLst/>
          </a:prstGeom>
        </p:spPr>
        <p:txBody>
          <a:bodyPr lIns="0" tIns="0" rIns="0" bIns="0" rtlCol="0" anchor="t">
            <a:spAutoFit/>
          </a:bodyPr>
          <a:lstStyle/>
          <a:p>
            <a:pPr algn="l">
              <a:lnSpc>
                <a:spcPts val="1910"/>
              </a:lnSpc>
            </a:pPr>
            <a:r>
              <a:rPr lang="en-US" sz="1364" b="1">
                <a:solidFill>
                  <a:srgbClr val="000000"/>
                </a:solidFill>
                <a:latin typeface="Open Sans Bold"/>
                <a:ea typeface="Open Sans Bold"/>
                <a:cs typeface="Open Sans Bold"/>
                <a:sym typeface="Open Sans Bold"/>
              </a:rPr>
              <a:t>Deep Learning </a:t>
            </a:r>
          </a:p>
          <a:p>
            <a:pPr algn="l">
              <a:lnSpc>
                <a:spcPts val="1910"/>
              </a:lnSpc>
              <a:spcBef>
                <a:spcPct val="0"/>
              </a:spcBef>
            </a:pPr>
            <a:r>
              <a:rPr lang="en-US" sz="1364" b="1">
                <a:solidFill>
                  <a:srgbClr val="000000"/>
                </a:solidFill>
                <a:latin typeface="Open Sans Bold"/>
                <a:ea typeface="Open Sans Bold"/>
                <a:cs typeface="Open Sans Bold"/>
                <a:sym typeface="Open Sans Bold"/>
              </a:rPr>
              <a:t>Models</a:t>
            </a:r>
          </a:p>
        </p:txBody>
      </p:sp>
      <p:sp>
        <p:nvSpPr>
          <p:cNvPr id="39" name="TextBox 39"/>
          <p:cNvSpPr txBox="1"/>
          <p:nvPr/>
        </p:nvSpPr>
        <p:spPr>
          <a:xfrm>
            <a:off x="13678767" y="5940996"/>
            <a:ext cx="1051108" cy="751581"/>
          </a:xfrm>
          <a:prstGeom prst="rect">
            <a:avLst/>
          </a:prstGeom>
        </p:spPr>
        <p:txBody>
          <a:bodyPr lIns="0" tIns="0" rIns="0" bIns="0" rtlCol="0" anchor="t">
            <a:spAutoFit/>
          </a:bodyPr>
          <a:lstStyle/>
          <a:p>
            <a:pPr algn="just">
              <a:lnSpc>
                <a:spcPts val="2011"/>
              </a:lnSpc>
            </a:pPr>
            <a:r>
              <a:rPr lang="en-US" sz="1436" b="1">
                <a:solidFill>
                  <a:srgbClr val="FFFFFF"/>
                </a:solidFill>
                <a:latin typeface="Open Sans Bold"/>
                <a:ea typeface="Open Sans Bold"/>
                <a:cs typeface="Open Sans Bold"/>
                <a:sym typeface="Open Sans Bold"/>
              </a:rPr>
              <a:t>Feature</a:t>
            </a:r>
          </a:p>
          <a:p>
            <a:pPr algn="just">
              <a:lnSpc>
                <a:spcPts val="2011"/>
              </a:lnSpc>
              <a:spcBef>
                <a:spcPct val="0"/>
              </a:spcBef>
            </a:pPr>
            <a:r>
              <a:rPr lang="en-US" sz="1436" b="1">
                <a:solidFill>
                  <a:srgbClr val="FFFFFF"/>
                </a:solidFill>
                <a:latin typeface="Open Sans Bold"/>
                <a:ea typeface="Open Sans Bold"/>
                <a:cs typeface="Open Sans Bold"/>
                <a:sym typeface="Open Sans Bold"/>
              </a:rPr>
              <a:t>Extraction Methods</a:t>
            </a:r>
          </a:p>
        </p:txBody>
      </p:sp>
      <p:sp>
        <p:nvSpPr>
          <p:cNvPr id="40" name="TextBox 40"/>
          <p:cNvSpPr txBox="1"/>
          <p:nvPr/>
        </p:nvSpPr>
        <p:spPr>
          <a:xfrm>
            <a:off x="11660261" y="5928655"/>
            <a:ext cx="1051108" cy="242914"/>
          </a:xfrm>
          <a:prstGeom prst="rect">
            <a:avLst/>
          </a:prstGeom>
        </p:spPr>
        <p:txBody>
          <a:bodyPr lIns="0" tIns="0" rIns="0" bIns="0" rtlCol="0" anchor="t">
            <a:spAutoFit/>
          </a:bodyPr>
          <a:lstStyle/>
          <a:p>
            <a:pPr algn="ctr">
              <a:lnSpc>
                <a:spcPts val="1910"/>
              </a:lnSpc>
              <a:spcBef>
                <a:spcPct val="0"/>
              </a:spcBef>
            </a:pPr>
            <a:r>
              <a:rPr lang="en-US" sz="1364" b="1">
                <a:solidFill>
                  <a:srgbClr val="000000"/>
                </a:solidFill>
                <a:latin typeface="Open Sans Bold"/>
                <a:ea typeface="Open Sans Bold"/>
                <a:cs typeface="Open Sans Bold"/>
                <a:sym typeface="Open Sans Bold"/>
              </a:rPr>
              <a:t>FFT</a:t>
            </a:r>
          </a:p>
        </p:txBody>
      </p:sp>
      <p:sp>
        <p:nvSpPr>
          <p:cNvPr id="41" name="TextBox 41"/>
          <p:cNvSpPr txBox="1"/>
          <p:nvPr/>
        </p:nvSpPr>
        <p:spPr>
          <a:xfrm>
            <a:off x="12711369" y="7551865"/>
            <a:ext cx="1051108" cy="242914"/>
          </a:xfrm>
          <a:prstGeom prst="rect">
            <a:avLst/>
          </a:prstGeom>
        </p:spPr>
        <p:txBody>
          <a:bodyPr lIns="0" tIns="0" rIns="0" bIns="0" rtlCol="0" anchor="t">
            <a:spAutoFit/>
          </a:bodyPr>
          <a:lstStyle/>
          <a:p>
            <a:pPr algn="ctr">
              <a:lnSpc>
                <a:spcPts val="1910"/>
              </a:lnSpc>
              <a:spcBef>
                <a:spcPct val="0"/>
              </a:spcBef>
            </a:pPr>
            <a:r>
              <a:rPr lang="en-US" sz="1364" b="1">
                <a:solidFill>
                  <a:srgbClr val="000000"/>
                </a:solidFill>
                <a:latin typeface="Open Sans Bold"/>
                <a:ea typeface="Open Sans Bold"/>
                <a:cs typeface="Open Sans Bold"/>
                <a:sym typeface="Open Sans Bold"/>
              </a:rPr>
              <a:t>MPC</a:t>
            </a:r>
          </a:p>
        </p:txBody>
      </p:sp>
      <p:sp>
        <p:nvSpPr>
          <p:cNvPr id="42" name="TextBox 42"/>
          <p:cNvSpPr txBox="1"/>
          <p:nvPr/>
        </p:nvSpPr>
        <p:spPr>
          <a:xfrm>
            <a:off x="15037605" y="7876108"/>
            <a:ext cx="1051108" cy="242914"/>
          </a:xfrm>
          <a:prstGeom prst="rect">
            <a:avLst/>
          </a:prstGeom>
        </p:spPr>
        <p:txBody>
          <a:bodyPr lIns="0" tIns="0" rIns="0" bIns="0" rtlCol="0" anchor="t">
            <a:spAutoFit/>
          </a:bodyPr>
          <a:lstStyle/>
          <a:p>
            <a:pPr algn="ctr">
              <a:lnSpc>
                <a:spcPts val="1910"/>
              </a:lnSpc>
              <a:spcBef>
                <a:spcPct val="0"/>
              </a:spcBef>
            </a:pPr>
            <a:r>
              <a:rPr lang="en-US" sz="1364" b="1">
                <a:solidFill>
                  <a:srgbClr val="000000"/>
                </a:solidFill>
                <a:latin typeface="Open Sans Bold"/>
                <a:ea typeface="Open Sans Bold"/>
                <a:cs typeface="Open Sans Bold"/>
                <a:sym typeface="Open Sans Bold"/>
              </a:rPr>
              <a:t>MSC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5">
                                            <p:txEl>
                                              <p:pRg st="2" end="2"/>
                                            </p:txEl>
                                          </p:spTgt>
                                        </p:tgtEl>
                                        <p:attrNameLst>
                                          <p:attrName>style.visibility</p:attrName>
                                        </p:attrNameLst>
                                      </p:cBhvr>
                                      <p:to>
                                        <p:strVal val="visible"/>
                                      </p:to>
                                    </p:set>
                                    <p:animEffect transition="in" filter="dissolve">
                                      <p:cBhvr>
                                        <p:cTn id="7" dur="500"/>
                                        <p:tgtEl>
                                          <p:spTgt spid="25">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dissolv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25">
                                            <p:txEl>
                                              <p:pRg st="4" end="4"/>
                                            </p:txEl>
                                          </p:spTgt>
                                        </p:tgtEl>
                                        <p:attrNameLst>
                                          <p:attrName>style.visibility</p:attrName>
                                        </p:attrNameLst>
                                      </p:cBhvr>
                                      <p:to>
                                        <p:strVal val="visible"/>
                                      </p:to>
                                    </p:set>
                                    <p:animEffect transition="in" filter="dissolve">
                                      <p:cBhvr>
                                        <p:cTn id="15" dur="500"/>
                                        <p:tgtEl>
                                          <p:spTgt spid="25">
                                            <p:txEl>
                                              <p:pRg st="4" end="4"/>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dissolve">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25">
                                            <p:txEl>
                                              <p:pRg st="6" end="6"/>
                                            </p:txEl>
                                          </p:spTgt>
                                        </p:tgtEl>
                                        <p:attrNameLst>
                                          <p:attrName>style.visibility</p:attrName>
                                        </p:attrNameLst>
                                      </p:cBhvr>
                                      <p:to>
                                        <p:strVal val="visible"/>
                                      </p:to>
                                    </p:set>
                                    <p:animEffect transition="in" filter="dissolve">
                                      <p:cBhvr>
                                        <p:cTn id="23" dur="500"/>
                                        <p:tgtEl>
                                          <p:spTgt spid="25">
                                            <p:txEl>
                                              <p:pRg st="6" end="6"/>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dissolve">
                                      <p:cBhvr>
                                        <p:cTn id="2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2C2C7"/>
        </a:solidFill>
        <a:effectLst/>
      </p:bgPr>
    </p:bg>
    <p:spTree>
      <p:nvGrpSpPr>
        <p:cNvPr id="1" name=""/>
        <p:cNvGrpSpPr/>
        <p:nvPr/>
      </p:nvGrpSpPr>
      <p:grpSpPr>
        <a:xfrm>
          <a:off x="0" y="0"/>
          <a:ext cx="0" cy="0"/>
          <a:chOff x="0" y="0"/>
          <a:chExt cx="0" cy="0"/>
        </a:xfrm>
      </p:grpSpPr>
      <p:sp>
        <p:nvSpPr>
          <p:cNvPr id="2" name="Freeform 2"/>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2"/>
            <a:stretch>
              <a:fillRect t="-10270" b="-14099"/>
            </a:stretch>
          </a:blipFill>
        </p:spPr>
        <p:txBody>
          <a:bodyPr/>
          <a:lstStyle/>
          <a:p>
            <a:endParaRPr lang="en-US"/>
          </a:p>
        </p:txBody>
      </p:sp>
      <p:grpSp>
        <p:nvGrpSpPr>
          <p:cNvPr id="3" name="Group 3"/>
          <p:cNvGrpSpPr/>
          <p:nvPr/>
        </p:nvGrpSpPr>
        <p:grpSpPr>
          <a:xfrm>
            <a:off x="-204400" y="3403361"/>
            <a:ext cx="5009547" cy="1242761"/>
            <a:chOff x="0" y="0"/>
            <a:chExt cx="1319387" cy="327311"/>
          </a:xfrm>
        </p:grpSpPr>
        <p:sp>
          <p:nvSpPr>
            <p:cNvPr id="4" name="Freeform 4"/>
            <p:cNvSpPr/>
            <p:nvPr/>
          </p:nvSpPr>
          <p:spPr>
            <a:xfrm>
              <a:off x="0" y="0"/>
              <a:ext cx="1319387" cy="327311"/>
            </a:xfrm>
            <a:custGeom>
              <a:avLst/>
              <a:gdLst/>
              <a:ahLst/>
              <a:cxnLst/>
              <a:rect l="l" t="t" r="r" b="b"/>
              <a:pathLst>
                <a:path w="1319387" h="327311">
                  <a:moveTo>
                    <a:pt x="0" y="0"/>
                  </a:moveTo>
                  <a:lnTo>
                    <a:pt x="1319387" y="0"/>
                  </a:lnTo>
                  <a:lnTo>
                    <a:pt x="1319387" y="327311"/>
                  </a:lnTo>
                  <a:lnTo>
                    <a:pt x="0" y="327311"/>
                  </a:lnTo>
                  <a:close/>
                </a:path>
              </a:pathLst>
            </a:custGeom>
            <a:solidFill>
              <a:srgbClr val="55FF4D"/>
            </a:solidFill>
          </p:spPr>
          <p:txBody>
            <a:bodyPr/>
            <a:lstStyle/>
            <a:p>
              <a:endParaRPr lang="en-US"/>
            </a:p>
          </p:txBody>
        </p:sp>
        <p:sp>
          <p:nvSpPr>
            <p:cNvPr id="5" name="TextBox 5"/>
            <p:cNvSpPr txBox="1"/>
            <p:nvPr/>
          </p:nvSpPr>
          <p:spPr>
            <a:xfrm>
              <a:off x="0" y="-28575"/>
              <a:ext cx="1319387" cy="355886"/>
            </a:xfrm>
            <a:prstGeom prst="rect">
              <a:avLst/>
            </a:prstGeom>
          </p:spPr>
          <p:txBody>
            <a:bodyPr lIns="50800" tIns="50800" rIns="50800" bIns="50800" rtlCol="0" anchor="ctr"/>
            <a:lstStyle/>
            <a:p>
              <a:pPr algn="ctr">
                <a:lnSpc>
                  <a:spcPts val="2243"/>
                </a:lnSpc>
              </a:pPr>
              <a:endParaRPr/>
            </a:p>
          </p:txBody>
        </p:sp>
      </p:grpSp>
      <p:grpSp>
        <p:nvGrpSpPr>
          <p:cNvPr id="6" name="Group 6"/>
          <p:cNvGrpSpPr/>
          <p:nvPr/>
        </p:nvGrpSpPr>
        <p:grpSpPr>
          <a:xfrm>
            <a:off x="0" y="4830534"/>
            <a:ext cx="9031825" cy="1215996"/>
            <a:chOff x="0" y="0"/>
            <a:chExt cx="2378752" cy="320262"/>
          </a:xfrm>
        </p:grpSpPr>
        <p:sp>
          <p:nvSpPr>
            <p:cNvPr id="7" name="Freeform 7"/>
            <p:cNvSpPr/>
            <p:nvPr/>
          </p:nvSpPr>
          <p:spPr>
            <a:xfrm>
              <a:off x="0" y="0"/>
              <a:ext cx="2378752" cy="320262"/>
            </a:xfrm>
            <a:custGeom>
              <a:avLst/>
              <a:gdLst/>
              <a:ahLst/>
              <a:cxnLst/>
              <a:rect l="l" t="t" r="r" b="b"/>
              <a:pathLst>
                <a:path w="2378752" h="320262">
                  <a:moveTo>
                    <a:pt x="0" y="0"/>
                  </a:moveTo>
                  <a:lnTo>
                    <a:pt x="2378752" y="0"/>
                  </a:lnTo>
                  <a:lnTo>
                    <a:pt x="2378752" y="320262"/>
                  </a:lnTo>
                  <a:lnTo>
                    <a:pt x="0" y="320262"/>
                  </a:lnTo>
                  <a:close/>
                </a:path>
              </a:pathLst>
            </a:custGeom>
            <a:solidFill>
              <a:srgbClr val="55FF4D"/>
            </a:solidFill>
          </p:spPr>
          <p:txBody>
            <a:bodyPr/>
            <a:lstStyle/>
            <a:p>
              <a:endParaRPr lang="en-US"/>
            </a:p>
          </p:txBody>
        </p:sp>
        <p:sp>
          <p:nvSpPr>
            <p:cNvPr id="8" name="TextBox 8"/>
            <p:cNvSpPr txBox="1"/>
            <p:nvPr/>
          </p:nvSpPr>
          <p:spPr>
            <a:xfrm>
              <a:off x="0" y="-28575"/>
              <a:ext cx="2378752" cy="348837"/>
            </a:xfrm>
            <a:prstGeom prst="rect">
              <a:avLst/>
            </a:prstGeom>
          </p:spPr>
          <p:txBody>
            <a:bodyPr lIns="50800" tIns="50800" rIns="50800" bIns="50800" rtlCol="0" anchor="ctr"/>
            <a:lstStyle/>
            <a:p>
              <a:pPr algn="ctr">
                <a:lnSpc>
                  <a:spcPts val="2243"/>
                </a:lnSpc>
              </a:pPr>
              <a:endParaRPr/>
            </a:p>
          </p:txBody>
        </p:sp>
      </p:grpSp>
      <p:sp>
        <p:nvSpPr>
          <p:cNvPr id="9" name="TextBox 9"/>
          <p:cNvSpPr txBox="1"/>
          <p:nvPr/>
        </p:nvSpPr>
        <p:spPr>
          <a:xfrm>
            <a:off x="-412644" y="3453241"/>
            <a:ext cx="5451708" cy="1028700"/>
          </a:xfrm>
          <a:prstGeom prst="rect">
            <a:avLst/>
          </a:prstGeom>
        </p:spPr>
        <p:txBody>
          <a:bodyPr lIns="0" tIns="0" rIns="0" bIns="0" rtlCol="0" anchor="t">
            <a:spAutoFit/>
          </a:bodyPr>
          <a:lstStyle/>
          <a:p>
            <a:pPr algn="ctr">
              <a:lnSpc>
                <a:spcPts val="8400"/>
              </a:lnSpc>
            </a:pPr>
            <a:r>
              <a:rPr lang="en-US" sz="6000">
                <a:solidFill>
                  <a:srgbClr val="000000"/>
                </a:solidFill>
                <a:latin typeface="Montserrat"/>
                <a:ea typeface="Montserrat"/>
                <a:cs typeface="Montserrat"/>
                <a:sym typeface="Montserrat"/>
              </a:rPr>
              <a:t>CHAPTER 2</a:t>
            </a:r>
          </a:p>
        </p:txBody>
      </p:sp>
      <p:sp>
        <p:nvSpPr>
          <p:cNvPr id="10" name="TextBox 10"/>
          <p:cNvSpPr txBox="1"/>
          <p:nvPr/>
        </p:nvSpPr>
        <p:spPr>
          <a:xfrm>
            <a:off x="0" y="4859687"/>
            <a:ext cx="8934452" cy="1028700"/>
          </a:xfrm>
          <a:prstGeom prst="rect">
            <a:avLst/>
          </a:prstGeom>
        </p:spPr>
        <p:txBody>
          <a:bodyPr lIns="0" tIns="0" rIns="0" bIns="0" rtlCol="0" anchor="t">
            <a:spAutoFit/>
          </a:bodyPr>
          <a:lstStyle/>
          <a:p>
            <a:pPr algn="ctr">
              <a:lnSpc>
                <a:spcPts val="8400"/>
              </a:lnSpc>
            </a:pPr>
            <a:r>
              <a:rPr lang="en-US" sz="6000" b="1">
                <a:solidFill>
                  <a:srgbClr val="000000"/>
                </a:solidFill>
                <a:latin typeface="Montserrat Bold"/>
                <a:ea typeface="Montserrat Bold"/>
                <a:cs typeface="Montserrat Bold"/>
                <a:sym typeface="Montserrat Bold"/>
              </a:rPr>
              <a:t>LITERATURE REVIEW</a:t>
            </a:r>
          </a:p>
        </p:txBody>
      </p:sp>
      <p:sp>
        <p:nvSpPr>
          <p:cNvPr id="11" name="TextBox 11"/>
          <p:cNvSpPr txBox="1"/>
          <p:nvPr/>
        </p:nvSpPr>
        <p:spPr>
          <a:xfrm>
            <a:off x="224553" y="-199390"/>
            <a:ext cx="1971749" cy="2321564"/>
          </a:xfrm>
          <a:prstGeom prst="rect">
            <a:avLst/>
          </a:prstGeom>
        </p:spPr>
        <p:txBody>
          <a:bodyPr lIns="0" tIns="0" rIns="0" bIns="0" rtlCol="0" anchor="t">
            <a:spAutoFit/>
          </a:bodyPr>
          <a:lstStyle/>
          <a:p>
            <a:pPr algn="ctr">
              <a:lnSpc>
                <a:spcPts val="19039"/>
              </a:lnSpc>
              <a:spcBef>
                <a:spcPct val="0"/>
              </a:spcBef>
            </a:pPr>
            <a:r>
              <a:rPr lang="en-US" sz="13599" b="1">
                <a:solidFill>
                  <a:srgbClr val="FFFFFF"/>
                </a:solidFill>
                <a:latin typeface="Open Sans Bold"/>
                <a:ea typeface="Open Sans Bold"/>
                <a:cs typeface="Open Sans Bold"/>
                <a:sym typeface="Open Sans Bold"/>
              </a:rPr>
              <a:t>02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3"/>
            <a:stretch>
              <a:fillRect t="-10270" b="-14099"/>
            </a:stretch>
          </a:blipFill>
        </p:spPr>
        <p:txBody>
          <a:bodyPr/>
          <a:lstStyle/>
          <a:p>
            <a:endParaRPr lang="en-US"/>
          </a:p>
        </p:txBody>
      </p:sp>
      <p:sp>
        <p:nvSpPr>
          <p:cNvPr id="3" name="Freeform 3"/>
          <p:cNvSpPr/>
          <p:nvPr/>
        </p:nvSpPr>
        <p:spPr>
          <a:xfrm>
            <a:off x="13795101" y="2927070"/>
            <a:ext cx="4024426" cy="3604660"/>
          </a:xfrm>
          <a:custGeom>
            <a:avLst/>
            <a:gdLst/>
            <a:ahLst/>
            <a:cxnLst/>
            <a:rect l="l" t="t" r="r" b="b"/>
            <a:pathLst>
              <a:path w="4024426" h="3604660">
                <a:moveTo>
                  <a:pt x="0" y="0"/>
                </a:moveTo>
                <a:lnTo>
                  <a:pt x="4024426" y="0"/>
                </a:lnTo>
                <a:lnTo>
                  <a:pt x="4024426" y="3604660"/>
                </a:lnTo>
                <a:lnTo>
                  <a:pt x="0" y="3604660"/>
                </a:lnTo>
                <a:lnTo>
                  <a:pt x="0" y="0"/>
                </a:lnTo>
                <a:close/>
              </a:path>
            </a:pathLst>
          </a:custGeom>
          <a:blipFill>
            <a:blip r:embed="rId4"/>
            <a:stretch>
              <a:fillRect/>
            </a:stretch>
          </a:blipFill>
        </p:spPr>
        <p:txBody>
          <a:bodyPr/>
          <a:lstStyle/>
          <a:p>
            <a:endParaRPr lang="en-US"/>
          </a:p>
        </p:txBody>
      </p:sp>
      <p:sp>
        <p:nvSpPr>
          <p:cNvPr id="4" name="Freeform 4"/>
          <p:cNvSpPr/>
          <p:nvPr/>
        </p:nvSpPr>
        <p:spPr>
          <a:xfrm>
            <a:off x="818718" y="1345151"/>
            <a:ext cx="12589974" cy="62950"/>
          </a:xfrm>
          <a:custGeom>
            <a:avLst/>
            <a:gdLst/>
            <a:ahLst/>
            <a:cxnLst/>
            <a:rect l="l" t="t" r="r" b="b"/>
            <a:pathLst>
              <a:path w="12589974" h="62950">
                <a:moveTo>
                  <a:pt x="0" y="0"/>
                </a:moveTo>
                <a:lnTo>
                  <a:pt x="12589974" y="0"/>
                </a:lnTo>
                <a:lnTo>
                  <a:pt x="12589974" y="62949"/>
                </a:lnTo>
                <a:lnTo>
                  <a:pt x="0" y="629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5" name="Group 5"/>
          <p:cNvGrpSpPr/>
          <p:nvPr/>
        </p:nvGrpSpPr>
        <p:grpSpPr>
          <a:xfrm>
            <a:off x="8905318" y="649300"/>
            <a:ext cx="4503373" cy="695851"/>
            <a:chOff x="0" y="0"/>
            <a:chExt cx="1186074" cy="183269"/>
          </a:xfrm>
        </p:grpSpPr>
        <p:sp>
          <p:nvSpPr>
            <p:cNvPr id="6" name="Freeform 6"/>
            <p:cNvSpPr/>
            <p:nvPr/>
          </p:nvSpPr>
          <p:spPr>
            <a:xfrm>
              <a:off x="0" y="0"/>
              <a:ext cx="1186074" cy="183269"/>
            </a:xfrm>
            <a:custGeom>
              <a:avLst/>
              <a:gdLst/>
              <a:ahLst/>
              <a:cxnLst/>
              <a:rect l="l" t="t" r="r" b="b"/>
              <a:pathLst>
                <a:path w="1186074" h="183269">
                  <a:moveTo>
                    <a:pt x="0" y="0"/>
                  </a:moveTo>
                  <a:lnTo>
                    <a:pt x="1186074" y="0"/>
                  </a:lnTo>
                  <a:lnTo>
                    <a:pt x="1186074" y="183269"/>
                  </a:lnTo>
                  <a:lnTo>
                    <a:pt x="0" y="183269"/>
                  </a:lnTo>
                  <a:close/>
                </a:path>
              </a:pathLst>
            </a:custGeom>
            <a:solidFill>
              <a:srgbClr val="55FF4D"/>
            </a:solidFill>
          </p:spPr>
          <p:txBody>
            <a:bodyPr/>
            <a:lstStyle/>
            <a:p>
              <a:endParaRPr lang="en-US"/>
            </a:p>
          </p:txBody>
        </p:sp>
        <p:sp>
          <p:nvSpPr>
            <p:cNvPr id="7" name="TextBox 7"/>
            <p:cNvSpPr txBox="1"/>
            <p:nvPr/>
          </p:nvSpPr>
          <p:spPr>
            <a:xfrm>
              <a:off x="0" y="-38100"/>
              <a:ext cx="1186074" cy="221369"/>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760331" y="5015937"/>
            <a:ext cx="3852956" cy="527171"/>
            <a:chOff x="0" y="0"/>
            <a:chExt cx="1014770" cy="138843"/>
          </a:xfrm>
        </p:grpSpPr>
        <p:sp>
          <p:nvSpPr>
            <p:cNvPr id="9" name="Freeform 9"/>
            <p:cNvSpPr/>
            <p:nvPr/>
          </p:nvSpPr>
          <p:spPr>
            <a:xfrm>
              <a:off x="0" y="0"/>
              <a:ext cx="1014770" cy="138843"/>
            </a:xfrm>
            <a:custGeom>
              <a:avLst/>
              <a:gdLst/>
              <a:ahLst/>
              <a:cxnLst/>
              <a:rect l="l" t="t" r="r" b="b"/>
              <a:pathLst>
                <a:path w="1014770" h="138843">
                  <a:moveTo>
                    <a:pt x="0" y="0"/>
                  </a:moveTo>
                  <a:lnTo>
                    <a:pt x="1014770" y="0"/>
                  </a:lnTo>
                  <a:lnTo>
                    <a:pt x="1014770" y="138843"/>
                  </a:lnTo>
                  <a:lnTo>
                    <a:pt x="0" y="138843"/>
                  </a:lnTo>
                  <a:close/>
                </a:path>
              </a:pathLst>
            </a:custGeom>
            <a:solidFill>
              <a:srgbClr val="55FF4D"/>
            </a:solidFill>
          </p:spPr>
          <p:txBody>
            <a:bodyPr/>
            <a:lstStyle/>
            <a:p>
              <a:endParaRPr lang="en-US"/>
            </a:p>
          </p:txBody>
        </p:sp>
        <p:sp>
          <p:nvSpPr>
            <p:cNvPr id="10" name="TextBox 10"/>
            <p:cNvSpPr txBox="1"/>
            <p:nvPr/>
          </p:nvSpPr>
          <p:spPr>
            <a:xfrm>
              <a:off x="0" y="-38100"/>
              <a:ext cx="1014770" cy="176943"/>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787088" y="2378071"/>
            <a:ext cx="12621604" cy="1657223"/>
          </a:xfrm>
          <a:prstGeom prst="rect">
            <a:avLst/>
          </a:prstGeom>
        </p:spPr>
        <p:txBody>
          <a:bodyPr lIns="0" tIns="0" rIns="0" bIns="0" rtlCol="0" anchor="t">
            <a:spAutoFit/>
          </a:bodyPr>
          <a:lstStyle/>
          <a:p>
            <a:pPr algn="l">
              <a:lnSpc>
                <a:spcPts val="2632"/>
              </a:lnSpc>
              <a:spcBef>
                <a:spcPct val="0"/>
              </a:spcBef>
            </a:pPr>
            <a:r>
              <a:rPr lang="en-US" sz="1880" dirty="0">
                <a:solidFill>
                  <a:srgbClr val="000000"/>
                </a:solidFill>
                <a:latin typeface="Open Sans Light"/>
                <a:ea typeface="Open Sans Light"/>
                <a:cs typeface="Open Sans Light"/>
                <a:sym typeface="Open Sans Light"/>
              </a:rPr>
              <a:t>Several gaps and limitations were identified in the current research. Many studies focused on </a:t>
            </a:r>
            <a:r>
              <a:rPr lang="en-US" sz="1880" b="1" dirty="0">
                <a:solidFill>
                  <a:srgbClr val="000000"/>
                </a:solidFill>
                <a:latin typeface="Open Sans Bold"/>
                <a:ea typeface="Open Sans Bold"/>
                <a:cs typeface="Open Sans Bold"/>
                <a:sym typeface="Open Sans Bold"/>
              </a:rPr>
              <a:t>traditional machine learning models</a:t>
            </a:r>
            <a:r>
              <a:rPr lang="en-US" sz="1880" dirty="0">
                <a:solidFill>
                  <a:srgbClr val="000000"/>
                </a:solidFill>
                <a:latin typeface="Open Sans Light"/>
                <a:ea typeface="Open Sans Light"/>
                <a:cs typeface="Open Sans Light"/>
                <a:sym typeface="Open Sans Light"/>
              </a:rPr>
              <a:t>, which may not be optimal for capturing the complex patterns in EEG data. Additionally, many studies rely on </a:t>
            </a:r>
            <a:r>
              <a:rPr lang="en-US" sz="1880" b="1" dirty="0">
                <a:solidFill>
                  <a:srgbClr val="000000"/>
                </a:solidFill>
                <a:latin typeface="Open Sans Bold"/>
                <a:ea typeface="Open Sans Bold"/>
                <a:cs typeface="Open Sans Bold"/>
                <a:sym typeface="Open Sans Bold"/>
              </a:rPr>
              <a:t>FFT (frequency-based features) </a:t>
            </a:r>
            <a:r>
              <a:rPr lang="en-US" sz="1880" dirty="0">
                <a:solidFill>
                  <a:srgbClr val="000000"/>
                </a:solidFill>
                <a:latin typeface="Open Sans Light"/>
                <a:ea typeface="Open Sans Light"/>
                <a:cs typeface="Open Sans Light"/>
                <a:sym typeface="Open Sans Light"/>
              </a:rPr>
              <a:t>but overlook </a:t>
            </a:r>
            <a:r>
              <a:rPr lang="en-US" sz="1880" b="1" i="1" dirty="0">
                <a:solidFill>
                  <a:srgbClr val="000000"/>
                </a:solidFill>
                <a:latin typeface="Open Sans Bold Italics"/>
                <a:ea typeface="Open Sans Bold Italics"/>
                <a:cs typeface="Open Sans Bold Italics"/>
                <a:sym typeface="Open Sans Bold Italics"/>
              </a:rPr>
              <a:t>connectivity-based insights</a:t>
            </a:r>
            <a:r>
              <a:rPr lang="en-US" sz="1880" dirty="0">
                <a:solidFill>
                  <a:srgbClr val="000000"/>
                </a:solidFill>
                <a:latin typeface="Open Sans Light"/>
                <a:ea typeface="Open Sans Light"/>
                <a:cs typeface="Open Sans Light"/>
                <a:sym typeface="Open Sans Light"/>
              </a:rPr>
              <a:t> such as </a:t>
            </a:r>
            <a:r>
              <a:rPr lang="en-US" sz="1880" b="1" dirty="0">
                <a:solidFill>
                  <a:srgbClr val="000000"/>
                </a:solidFill>
                <a:latin typeface="Open Sans Bold"/>
                <a:ea typeface="Open Sans Bold"/>
                <a:cs typeface="Open Sans Bold"/>
                <a:sym typeface="Open Sans Bold"/>
              </a:rPr>
              <a:t>MPC</a:t>
            </a:r>
            <a:r>
              <a:rPr lang="en-US" sz="1880" dirty="0">
                <a:solidFill>
                  <a:srgbClr val="000000"/>
                </a:solidFill>
                <a:latin typeface="Open Sans Light"/>
                <a:ea typeface="Open Sans Light"/>
                <a:cs typeface="Open Sans Light"/>
                <a:sym typeface="Open Sans Light"/>
              </a:rPr>
              <a:t> and </a:t>
            </a:r>
            <a:r>
              <a:rPr lang="en-US" sz="1880" b="1" dirty="0">
                <a:solidFill>
                  <a:srgbClr val="000000"/>
                </a:solidFill>
                <a:latin typeface="Open Sans Bold"/>
                <a:ea typeface="Open Sans Bold"/>
                <a:cs typeface="Open Sans Bold"/>
                <a:sym typeface="Open Sans Bold"/>
              </a:rPr>
              <a:t>MSC</a:t>
            </a:r>
            <a:r>
              <a:rPr lang="en-US" sz="1880" dirty="0">
                <a:solidFill>
                  <a:srgbClr val="000000"/>
                </a:solidFill>
                <a:latin typeface="Open Sans Light"/>
                <a:ea typeface="Open Sans Light"/>
                <a:cs typeface="Open Sans Light"/>
                <a:sym typeface="Open Sans Light"/>
              </a:rPr>
              <a:t>. Handling high-dimensional EEG data remains a challenge, with limited research on </a:t>
            </a:r>
            <a:r>
              <a:rPr lang="en-US" sz="1880" b="1" dirty="0">
                <a:solidFill>
                  <a:srgbClr val="000000"/>
                </a:solidFill>
                <a:latin typeface="Open Sans Bold"/>
                <a:ea typeface="Open Sans Bold"/>
                <a:cs typeface="Open Sans Bold"/>
                <a:sym typeface="Open Sans Bold"/>
              </a:rPr>
              <a:t>PCA for dimensionality reduction</a:t>
            </a:r>
            <a:r>
              <a:rPr lang="en-US" sz="1880" dirty="0">
                <a:solidFill>
                  <a:srgbClr val="000000"/>
                </a:solidFill>
                <a:latin typeface="Open Sans Light"/>
                <a:ea typeface="Open Sans Light"/>
                <a:cs typeface="Open Sans Light"/>
                <a:sym typeface="Open Sans Light"/>
              </a:rPr>
              <a:t> in deep learning.</a:t>
            </a:r>
          </a:p>
        </p:txBody>
      </p:sp>
      <p:sp>
        <p:nvSpPr>
          <p:cNvPr id="12" name="TextBox 12"/>
          <p:cNvSpPr txBox="1"/>
          <p:nvPr/>
        </p:nvSpPr>
        <p:spPr>
          <a:xfrm>
            <a:off x="787088" y="5199091"/>
            <a:ext cx="12621604" cy="2979726"/>
          </a:xfrm>
          <a:prstGeom prst="rect">
            <a:avLst/>
          </a:prstGeom>
        </p:spPr>
        <p:txBody>
          <a:bodyPr lIns="0" tIns="0" rIns="0" bIns="0" rtlCol="0" anchor="t">
            <a:spAutoFit/>
          </a:bodyPr>
          <a:lstStyle/>
          <a:p>
            <a:pPr algn="l">
              <a:lnSpc>
                <a:spcPts val="2632"/>
              </a:lnSpc>
            </a:pPr>
            <a:endParaRPr dirty="0"/>
          </a:p>
          <a:p>
            <a:pPr algn="l">
              <a:lnSpc>
                <a:spcPts val="2632"/>
              </a:lnSpc>
            </a:pPr>
            <a:r>
              <a:rPr lang="en-US" sz="1880" dirty="0">
                <a:latin typeface="Open Sans Light"/>
                <a:ea typeface="Open Sans Light"/>
                <a:cs typeface="Open Sans Light"/>
                <a:sym typeface="Open Sans Light"/>
              </a:rPr>
              <a:t>We proposed a Transformer-based deep learning model, which is particularly well-suited for capturing long-range dependencies in EEG sequence data. LSTM was used for </a:t>
            </a:r>
            <a:r>
              <a:rPr lang="en-US" sz="1880" i="1" dirty="0">
                <a:latin typeface="Open Sans Light Italics"/>
                <a:ea typeface="Open Sans Light Italics"/>
                <a:cs typeface="Open Sans Light Italics"/>
                <a:sym typeface="Open Sans Light Italics"/>
              </a:rPr>
              <a:t>comparison</a:t>
            </a:r>
            <a:r>
              <a:rPr lang="en-US" sz="1880" dirty="0">
                <a:latin typeface="Open Sans Light"/>
                <a:ea typeface="Open Sans Light"/>
                <a:cs typeface="Open Sans Light"/>
                <a:sym typeface="Open Sans Light"/>
              </a:rPr>
              <a:t>, extracting both spatial and temporal EEG features, while MLP served as a baseline for performance evaluation. </a:t>
            </a:r>
          </a:p>
          <a:p>
            <a:pPr algn="l">
              <a:lnSpc>
                <a:spcPts val="2632"/>
              </a:lnSpc>
            </a:pPr>
            <a:endParaRPr lang="en-US" sz="1880" dirty="0">
              <a:latin typeface="Open Sans Light"/>
              <a:ea typeface="Open Sans Light"/>
              <a:cs typeface="Open Sans Light"/>
              <a:sym typeface="Open Sans Light"/>
            </a:endParaRPr>
          </a:p>
          <a:p>
            <a:pPr algn="l">
              <a:lnSpc>
                <a:spcPts val="2632"/>
              </a:lnSpc>
            </a:pPr>
            <a:r>
              <a:rPr lang="en-US" sz="1880" dirty="0">
                <a:latin typeface="Open Sans Light"/>
                <a:ea typeface="Open Sans Light"/>
                <a:cs typeface="Open Sans Light"/>
                <a:sym typeface="Open Sans Light"/>
              </a:rPr>
              <a:t>To enhance model performance, PCA is used to</a:t>
            </a:r>
            <a:r>
              <a:rPr lang="en-US" sz="1880" i="1" dirty="0">
                <a:latin typeface="Open Sans Light Italics"/>
                <a:ea typeface="Open Sans Light Italics"/>
                <a:cs typeface="Open Sans Light Italics"/>
                <a:sym typeface="Open Sans Light Italics"/>
              </a:rPr>
              <a:t> reduce the high-dimensional EEG feature space</a:t>
            </a:r>
            <a:r>
              <a:rPr lang="en-US" sz="1880" dirty="0">
                <a:latin typeface="Open Sans Light"/>
                <a:ea typeface="Open Sans Light"/>
                <a:cs typeface="Open Sans Light"/>
                <a:sym typeface="Open Sans Light"/>
              </a:rPr>
              <a:t>, improving </a:t>
            </a:r>
            <a:r>
              <a:rPr lang="en-US" sz="1880" i="1" dirty="0">
                <a:latin typeface="Open Sans Light Italics"/>
                <a:ea typeface="Open Sans Light Italics"/>
                <a:cs typeface="Open Sans Light Italics"/>
                <a:sym typeface="Open Sans Light Italics"/>
              </a:rPr>
              <a:t>generalization</a:t>
            </a:r>
            <a:r>
              <a:rPr lang="en-US" sz="1880" dirty="0">
                <a:latin typeface="Open Sans Light"/>
                <a:ea typeface="Open Sans Light"/>
                <a:cs typeface="Open Sans Light"/>
                <a:sym typeface="Open Sans Light"/>
              </a:rPr>
              <a:t> while preserving essential information for classification.</a:t>
            </a:r>
          </a:p>
          <a:p>
            <a:pPr algn="l">
              <a:lnSpc>
                <a:spcPts val="2632"/>
              </a:lnSpc>
            </a:pPr>
            <a:endParaRPr lang="en-US" sz="1880" dirty="0">
              <a:latin typeface="Open Sans Light"/>
              <a:ea typeface="Open Sans Light"/>
              <a:cs typeface="Open Sans Light"/>
              <a:sym typeface="Open Sans Light"/>
            </a:endParaRPr>
          </a:p>
          <a:p>
            <a:pPr algn="l">
              <a:lnSpc>
                <a:spcPts val="2632"/>
              </a:lnSpc>
            </a:pPr>
            <a:r>
              <a:rPr lang="en-US" sz="1880" dirty="0">
                <a:latin typeface="Open Sans Light"/>
                <a:ea typeface="Open Sans Light"/>
                <a:cs typeface="Open Sans Light"/>
                <a:sym typeface="Open Sans Light"/>
              </a:rPr>
              <a:t>Most of the standard EEG devices available are arranged consistently using the global 10-20 system.</a:t>
            </a:r>
          </a:p>
        </p:txBody>
      </p:sp>
      <p:sp>
        <p:nvSpPr>
          <p:cNvPr id="13" name="TextBox 13"/>
          <p:cNvSpPr txBox="1"/>
          <p:nvPr/>
        </p:nvSpPr>
        <p:spPr>
          <a:xfrm>
            <a:off x="818718" y="5153025"/>
            <a:ext cx="3567410" cy="355473"/>
          </a:xfrm>
          <a:prstGeom prst="rect">
            <a:avLst/>
          </a:prstGeom>
        </p:spPr>
        <p:txBody>
          <a:bodyPr lIns="0" tIns="0" rIns="0" bIns="0" rtlCol="0" anchor="t">
            <a:spAutoFit/>
          </a:bodyPr>
          <a:lstStyle/>
          <a:p>
            <a:pPr algn="ctr">
              <a:lnSpc>
                <a:spcPts val="2856"/>
              </a:lnSpc>
              <a:spcBef>
                <a:spcPct val="0"/>
              </a:spcBef>
            </a:pPr>
            <a:r>
              <a:rPr lang="en-US" sz="2400" b="1">
                <a:solidFill>
                  <a:srgbClr val="000000"/>
                </a:solidFill>
                <a:latin typeface="Montserrat Bold"/>
                <a:ea typeface="Montserrat Bold"/>
                <a:cs typeface="Montserrat Bold"/>
                <a:sym typeface="Montserrat Bold"/>
              </a:rPr>
              <a:t>To address these gaps</a:t>
            </a:r>
          </a:p>
        </p:txBody>
      </p:sp>
      <p:sp>
        <p:nvSpPr>
          <p:cNvPr id="14" name="TextBox 14"/>
          <p:cNvSpPr txBox="1"/>
          <p:nvPr/>
        </p:nvSpPr>
        <p:spPr>
          <a:xfrm>
            <a:off x="8986431" y="764540"/>
            <a:ext cx="4761745" cy="528320"/>
          </a:xfrm>
          <a:prstGeom prst="rect">
            <a:avLst/>
          </a:prstGeom>
        </p:spPr>
        <p:txBody>
          <a:bodyPr lIns="0" tIns="0" rIns="0" bIns="0" rtlCol="0" anchor="t">
            <a:spAutoFit/>
          </a:bodyPr>
          <a:lstStyle/>
          <a:p>
            <a:pPr algn="l">
              <a:lnSpc>
                <a:spcPts val="4165"/>
              </a:lnSpc>
            </a:pPr>
            <a:r>
              <a:rPr lang="en-US" sz="3500" b="1">
                <a:solidFill>
                  <a:srgbClr val="1C2120"/>
                </a:solidFill>
                <a:latin typeface="Montserrat Bold"/>
                <a:ea typeface="Montserrat Bold"/>
                <a:cs typeface="Montserrat Bold"/>
                <a:sym typeface="Montserrat Bold"/>
              </a:rPr>
              <a:t>in EEG - based BCI</a:t>
            </a:r>
          </a:p>
        </p:txBody>
      </p:sp>
      <p:sp>
        <p:nvSpPr>
          <p:cNvPr id="15" name="TextBox 15"/>
          <p:cNvSpPr txBox="1"/>
          <p:nvPr/>
        </p:nvSpPr>
        <p:spPr>
          <a:xfrm>
            <a:off x="787088" y="658825"/>
            <a:ext cx="8199343" cy="749276"/>
          </a:xfrm>
          <a:prstGeom prst="rect">
            <a:avLst/>
          </a:prstGeom>
        </p:spPr>
        <p:txBody>
          <a:bodyPr lIns="0" tIns="0" rIns="0" bIns="0" rtlCol="0" anchor="t">
            <a:spAutoFit/>
          </a:bodyPr>
          <a:lstStyle/>
          <a:p>
            <a:pPr algn="l">
              <a:lnSpc>
                <a:spcPts val="5927"/>
              </a:lnSpc>
            </a:pPr>
            <a:r>
              <a:rPr lang="en-US" sz="4980" b="1">
                <a:solidFill>
                  <a:srgbClr val="1C2120"/>
                </a:solidFill>
                <a:latin typeface="Montserrat Bold"/>
                <a:ea typeface="Montserrat Bold"/>
                <a:cs typeface="Montserrat Bold"/>
                <a:sym typeface="Montserrat Bold"/>
              </a:rPr>
              <a:t>Overcoming Limitations </a:t>
            </a:r>
          </a:p>
        </p:txBody>
      </p:sp>
      <p:sp>
        <p:nvSpPr>
          <p:cNvPr id="16" name="TextBox 16"/>
          <p:cNvSpPr txBox="1"/>
          <p:nvPr/>
        </p:nvSpPr>
        <p:spPr>
          <a:xfrm>
            <a:off x="13748176" y="6779216"/>
            <a:ext cx="4118276" cy="1323848"/>
          </a:xfrm>
          <a:prstGeom prst="rect">
            <a:avLst/>
          </a:prstGeom>
        </p:spPr>
        <p:txBody>
          <a:bodyPr lIns="0" tIns="0" rIns="0" bIns="0" rtlCol="0" anchor="t">
            <a:spAutoFit/>
          </a:bodyPr>
          <a:lstStyle/>
          <a:p>
            <a:pPr algn="l">
              <a:lnSpc>
                <a:spcPts val="2632"/>
              </a:lnSpc>
            </a:pPr>
            <a:r>
              <a:rPr lang="en-US" sz="1880">
                <a:solidFill>
                  <a:srgbClr val="000000"/>
                </a:solidFill>
                <a:latin typeface="Open Sans"/>
                <a:ea typeface="Open Sans"/>
                <a:cs typeface="Open Sans"/>
                <a:sym typeface="Open Sans"/>
              </a:rPr>
              <a:t>This figure shows the view from the top of the head with the nose at the front.</a:t>
            </a:r>
          </a:p>
          <a:p>
            <a:pPr algn="l">
              <a:lnSpc>
                <a:spcPts val="2632"/>
              </a:lnSpc>
              <a:spcBef>
                <a:spcPct val="0"/>
              </a:spcBef>
            </a:pPr>
            <a:endParaRPr lang="en-US" sz="1880">
              <a:solidFill>
                <a:srgbClr val="000000"/>
              </a:solidFill>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2"/>
            <a:stretch>
              <a:fillRect t="-10270" b="-14099"/>
            </a:stretch>
          </a:blipFill>
        </p:spPr>
        <p:txBody>
          <a:bodyPr/>
          <a:lstStyle/>
          <a:p>
            <a:endParaRPr lang="en-US"/>
          </a:p>
        </p:txBody>
      </p:sp>
      <p:sp>
        <p:nvSpPr>
          <p:cNvPr id="3" name="TextBox 3"/>
          <p:cNvSpPr txBox="1"/>
          <p:nvPr/>
        </p:nvSpPr>
        <p:spPr>
          <a:xfrm>
            <a:off x="904647" y="3112628"/>
            <a:ext cx="15326197" cy="5991098"/>
          </a:xfrm>
          <a:prstGeom prst="rect">
            <a:avLst/>
          </a:prstGeom>
        </p:spPr>
        <p:txBody>
          <a:bodyPr lIns="0" tIns="0" rIns="0" bIns="0" rtlCol="0" anchor="t">
            <a:spAutoFit/>
          </a:bodyPr>
          <a:lstStyle/>
          <a:p>
            <a:pPr algn="just">
              <a:lnSpc>
                <a:spcPts val="2632"/>
              </a:lnSpc>
            </a:pPr>
            <a:r>
              <a:rPr lang="en-US" sz="1880" b="1" dirty="0">
                <a:solidFill>
                  <a:srgbClr val="000000"/>
                </a:solidFill>
                <a:latin typeface="Open Sans Bold"/>
                <a:ea typeface="Open Sans Bold"/>
                <a:cs typeface="Open Sans Bold"/>
                <a:sym typeface="Open Sans Bold"/>
              </a:rPr>
              <a:t>Frequency-Based Features</a:t>
            </a:r>
            <a:r>
              <a:rPr lang="en-US" sz="1880" dirty="0">
                <a:solidFill>
                  <a:srgbClr val="000000"/>
                </a:solidFill>
                <a:latin typeface="Open Sans"/>
                <a:ea typeface="Open Sans"/>
                <a:cs typeface="Open Sans"/>
                <a:sym typeface="Open Sans"/>
              </a:rPr>
              <a:t>: </a:t>
            </a:r>
          </a:p>
          <a:p>
            <a:pPr marL="405893" lvl="1" indent="-202946" algn="just">
              <a:lnSpc>
                <a:spcPts val="2632"/>
              </a:lnSpc>
              <a:buFont typeface="Arial"/>
              <a:buChar char="•"/>
            </a:pPr>
            <a:r>
              <a:rPr lang="en-US" sz="1880" b="1" dirty="0">
                <a:solidFill>
                  <a:srgbClr val="000000"/>
                </a:solidFill>
                <a:latin typeface="Open Sans Bold"/>
                <a:ea typeface="Open Sans Bold"/>
                <a:cs typeface="Open Sans Bold"/>
                <a:sym typeface="Open Sans Bold"/>
              </a:rPr>
              <a:t>Fast Fourier Transform (FFT):</a:t>
            </a:r>
            <a:r>
              <a:rPr lang="en-US" sz="1880" dirty="0">
                <a:solidFill>
                  <a:srgbClr val="000000"/>
                </a:solidFill>
                <a:latin typeface="Open Sans"/>
                <a:ea typeface="Open Sans"/>
                <a:cs typeface="Open Sans"/>
                <a:sym typeface="Open Sans"/>
              </a:rPr>
              <a:t> Converts EEG signals from the time domain to the frequency domain to extract power spectral features.</a:t>
            </a:r>
          </a:p>
          <a:p>
            <a:pPr marL="405893" lvl="1" indent="-202946" algn="just">
              <a:lnSpc>
                <a:spcPts val="2632"/>
              </a:lnSpc>
              <a:buFont typeface="Arial"/>
              <a:buChar char="•"/>
            </a:pPr>
            <a:r>
              <a:rPr lang="en-US" sz="1880" dirty="0">
                <a:solidFill>
                  <a:srgbClr val="000000"/>
                </a:solidFill>
                <a:latin typeface="Open Sans"/>
                <a:ea typeface="Open Sans"/>
                <a:cs typeface="Open Sans"/>
                <a:sym typeface="Open Sans"/>
              </a:rPr>
              <a:t>Extracted frequency bands: </a:t>
            </a:r>
            <a:r>
              <a:rPr lang="en-US" sz="1880" i="1" dirty="0">
                <a:solidFill>
                  <a:srgbClr val="000000"/>
                </a:solidFill>
                <a:latin typeface="Open Sans Italics"/>
                <a:ea typeface="Open Sans Italics"/>
                <a:cs typeface="Open Sans Italics"/>
                <a:sym typeface="Open Sans Italics"/>
              </a:rPr>
              <a:t>Delta</a:t>
            </a:r>
            <a:r>
              <a:rPr lang="en-US" sz="1880" dirty="0">
                <a:solidFill>
                  <a:srgbClr val="000000"/>
                </a:solidFill>
                <a:latin typeface="Open Sans"/>
                <a:ea typeface="Open Sans"/>
                <a:cs typeface="Open Sans"/>
                <a:sym typeface="Open Sans"/>
              </a:rPr>
              <a:t> (0.5–4 Hz), </a:t>
            </a:r>
            <a:r>
              <a:rPr lang="en-US" sz="1880" i="1" dirty="0">
                <a:solidFill>
                  <a:srgbClr val="000000"/>
                </a:solidFill>
                <a:latin typeface="Open Sans Italics"/>
                <a:ea typeface="Open Sans Italics"/>
                <a:cs typeface="Open Sans Italics"/>
                <a:sym typeface="Open Sans Italics"/>
              </a:rPr>
              <a:t>Theta</a:t>
            </a:r>
            <a:r>
              <a:rPr lang="en-US" sz="1880" dirty="0">
                <a:solidFill>
                  <a:srgbClr val="000000"/>
                </a:solidFill>
                <a:latin typeface="Open Sans"/>
                <a:ea typeface="Open Sans"/>
                <a:cs typeface="Open Sans"/>
                <a:sym typeface="Open Sans"/>
              </a:rPr>
              <a:t> (4–8 Hz), </a:t>
            </a:r>
            <a:r>
              <a:rPr lang="en-US" sz="1880" i="1" dirty="0">
                <a:solidFill>
                  <a:srgbClr val="000000"/>
                </a:solidFill>
                <a:latin typeface="Open Sans Italics"/>
                <a:ea typeface="Open Sans Italics"/>
                <a:cs typeface="Open Sans Italics"/>
                <a:sym typeface="Open Sans Italics"/>
              </a:rPr>
              <a:t>Alpha</a:t>
            </a:r>
            <a:r>
              <a:rPr lang="en-US" sz="1880" dirty="0">
                <a:solidFill>
                  <a:srgbClr val="000000"/>
                </a:solidFill>
                <a:latin typeface="Open Sans"/>
                <a:ea typeface="Open Sans"/>
                <a:cs typeface="Open Sans"/>
                <a:sym typeface="Open Sans"/>
              </a:rPr>
              <a:t> (8–12 Hz), </a:t>
            </a:r>
            <a:r>
              <a:rPr lang="en-US" sz="1880" i="1" dirty="0">
                <a:solidFill>
                  <a:srgbClr val="000000"/>
                </a:solidFill>
                <a:latin typeface="Open Sans Italics"/>
                <a:ea typeface="Open Sans Italics"/>
                <a:cs typeface="Open Sans Italics"/>
                <a:sym typeface="Open Sans Italics"/>
              </a:rPr>
              <a:t>Beta</a:t>
            </a:r>
            <a:r>
              <a:rPr lang="en-US" sz="1880" dirty="0">
                <a:solidFill>
                  <a:srgbClr val="000000"/>
                </a:solidFill>
                <a:latin typeface="Open Sans"/>
                <a:ea typeface="Open Sans"/>
                <a:cs typeface="Open Sans"/>
                <a:sym typeface="Open Sans"/>
              </a:rPr>
              <a:t> (12–30 Hz), and </a:t>
            </a:r>
            <a:r>
              <a:rPr lang="en-US" sz="1880" i="1" dirty="0">
                <a:solidFill>
                  <a:srgbClr val="000000"/>
                </a:solidFill>
                <a:latin typeface="Open Sans Italics"/>
                <a:ea typeface="Open Sans Italics"/>
                <a:cs typeface="Open Sans Italics"/>
                <a:sym typeface="Open Sans Italics"/>
              </a:rPr>
              <a:t>Gamma</a:t>
            </a:r>
            <a:r>
              <a:rPr lang="en-US" sz="1880" dirty="0">
                <a:solidFill>
                  <a:srgbClr val="000000"/>
                </a:solidFill>
                <a:latin typeface="Open Sans"/>
                <a:ea typeface="Open Sans"/>
                <a:cs typeface="Open Sans"/>
                <a:sym typeface="Open Sans"/>
              </a:rPr>
              <a:t> (30–50 Hz).</a:t>
            </a:r>
          </a:p>
          <a:p>
            <a:pPr algn="just">
              <a:lnSpc>
                <a:spcPts val="2632"/>
              </a:lnSpc>
            </a:pPr>
            <a:endParaRPr lang="en-US" sz="1880" dirty="0">
              <a:solidFill>
                <a:srgbClr val="000000"/>
              </a:solidFill>
              <a:latin typeface="Open Sans"/>
              <a:ea typeface="Open Sans"/>
              <a:cs typeface="Open Sans"/>
              <a:sym typeface="Open Sans"/>
            </a:endParaRPr>
          </a:p>
          <a:p>
            <a:pPr algn="just">
              <a:lnSpc>
                <a:spcPts val="2632"/>
              </a:lnSpc>
            </a:pPr>
            <a:r>
              <a:rPr lang="en-US" sz="1880" b="1" dirty="0">
                <a:solidFill>
                  <a:srgbClr val="000000"/>
                </a:solidFill>
                <a:latin typeface="Open Sans Bold"/>
                <a:ea typeface="Open Sans Bold"/>
                <a:cs typeface="Open Sans Bold"/>
                <a:sym typeface="Open Sans Bold"/>
              </a:rPr>
              <a:t>Connectivity-Based Features:</a:t>
            </a:r>
          </a:p>
          <a:p>
            <a:pPr marL="405893" lvl="1" indent="-202946" algn="just">
              <a:lnSpc>
                <a:spcPts val="2632"/>
              </a:lnSpc>
              <a:buFont typeface="Arial"/>
              <a:buChar char="•"/>
            </a:pPr>
            <a:r>
              <a:rPr lang="en-US" sz="1880" b="1" dirty="0">
                <a:solidFill>
                  <a:srgbClr val="000000"/>
                </a:solidFill>
                <a:latin typeface="Open Sans Bold"/>
                <a:ea typeface="Open Sans Bold"/>
                <a:cs typeface="Open Sans Bold"/>
                <a:sym typeface="Open Sans Bold"/>
              </a:rPr>
              <a:t>Mean Phase Coherence (MPC): </a:t>
            </a:r>
            <a:r>
              <a:rPr lang="en-US" sz="1880" dirty="0">
                <a:solidFill>
                  <a:srgbClr val="000000"/>
                </a:solidFill>
                <a:latin typeface="Open Sans"/>
                <a:ea typeface="Open Sans"/>
                <a:cs typeface="Open Sans"/>
                <a:sym typeface="Open Sans"/>
              </a:rPr>
              <a:t>Measures </a:t>
            </a:r>
            <a:r>
              <a:rPr lang="en-US" sz="1880" i="1" dirty="0">
                <a:solidFill>
                  <a:srgbClr val="000000"/>
                </a:solidFill>
                <a:latin typeface="Open Sans Italics"/>
                <a:ea typeface="Open Sans Italics"/>
                <a:cs typeface="Open Sans Italics"/>
                <a:sym typeface="Open Sans Italics"/>
              </a:rPr>
              <a:t>how well two EEG signals remain in phase over time</a:t>
            </a:r>
            <a:r>
              <a:rPr lang="en-US" sz="1880" dirty="0">
                <a:solidFill>
                  <a:srgbClr val="000000"/>
                </a:solidFill>
                <a:latin typeface="Open Sans"/>
                <a:ea typeface="Open Sans"/>
                <a:cs typeface="Open Sans"/>
                <a:sym typeface="Open Sans"/>
              </a:rPr>
              <a:t> . The MPC method stands apart from regular amplitude-based correlation techniques as it specifically detects brain activity synchronization patterns, since different words correspond to distinct brain wave patterns, which are essential for understanding EEG-based BCI functional connectivity.</a:t>
            </a:r>
          </a:p>
          <a:p>
            <a:pPr algn="just">
              <a:lnSpc>
                <a:spcPts val="2632"/>
              </a:lnSpc>
            </a:pPr>
            <a:endParaRPr lang="en-US" sz="1880" dirty="0">
              <a:solidFill>
                <a:srgbClr val="000000"/>
              </a:solidFill>
              <a:latin typeface="Open Sans"/>
              <a:ea typeface="Open Sans"/>
              <a:cs typeface="Open Sans"/>
              <a:sym typeface="Open Sans"/>
            </a:endParaRPr>
          </a:p>
          <a:p>
            <a:pPr marL="405893" lvl="1" indent="-202946" algn="just">
              <a:lnSpc>
                <a:spcPts val="2632"/>
              </a:lnSpc>
              <a:buFont typeface="Arial"/>
              <a:buChar char="•"/>
            </a:pPr>
            <a:r>
              <a:rPr lang="en-US" sz="1880" b="1" dirty="0">
                <a:solidFill>
                  <a:srgbClr val="000000"/>
                </a:solidFill>
                <a:latin typeface="Open Sans Bold"/>
                <a:ea typeface="Open Sans Bold"/>
                <a:cs typeface="Open Sans Bold"/>
                <a:sym typeface="Open Sans Bold"/>
              </a:rPr>
              <a:t>Magnitude Squared Coherence (MSC)</a:t>
            </a:r>
            <a:r>
              <a:rPr lang="en-US" sz="1880" dirty="0">
                <a:solidFill>
                  <a:srgbClr val="000000"/>
                </a:solidFill>
                <a:latin typeface="Open Sans"/>
                <a:ea typeface="Open Sans"/>
                <a:cs typeface="Open Sans"/>
                <a:sym typeface="Open Sans"/>
              </a:rPr>
              <a:t>: Measures the </a:t>
            </a:r>
            <a:r>
              <a:rPr lang="en-US" sz="1880" i="1" dirty="0">
                <a:solidFill>
                  <a:srgbClr val="000000"/>
                </a:solidFill>
                <a:latin typeface="Open Sans Italics"/>
                <a:ea typeface="Open Sans Italics"/>
                <a:cs typeface="Open Sans Italics"/>
                <a:sym typeface="Open Sans Italics"/>
              </a:rPr>
              <a:t>power correlation between two signals in the frequency domain</a:t>
            </a:r>
            <a:r>
              <a:rPr lang="en-US" sz="1880" dirty="0">
                <a:solidFill>
                  <a:srgbClr val="000000"/>
                </a:solidFill>
                <a:latin typeface="Open Sans"/>
                <a:ea typeface="Open Sans"/>
                <a:cs typeface="Open Sans"/>
                <a:sym typeface="Open Sans"/>
              </a:rPr>
              <a:t>. It quantifies the </a:t>
            </a:r>
            <a:r>
              <a:rPr lang="en-US" sz="1880" b="1" dirty="0">
                <a:solidFill>
                  <a:srgbClr val="000000"/>
                </a:solidFill>
                <a:latin typeface="Open Sans Bold"/>
                <a:ea typeface="Open Sans Bold"/>
                <a:cs typeface="Open Sans Bold"/>
                <a:sym typeface="Open Sans Bold"/>
              </a:rPr>
              <a:t>linear relationships </a:t>
            </a:r>
            <a:r>
              <a:rPr lang="en-US" sz="1880" dirty="0">
                <a:solidFill>
                  <a:srgbClr val="000000"/>
                </a:solidFill>
                <a:latin typeface="Open Sans"/>
                <a:ea typeface="Open Sans"/>
                <a:cs typeface="Open Sans"/>
                <a:sym typeface="Open Sans"/>
              </a:rPr>
              <a:t>between EEG signals across specific frequency bands by analyzing both their</a:t>
            </a:r>
            <a:r>
              <a:rPr lang="en-US" sz="1880" b="1" dirty="0">
                <a:solidFill>
                  <a:srgbClr val="000000"/>
                </a:solidFill>
                <a:latin typeface="Open Sans Bold"/>
                <a:ea typeface="Open Sans Bold"/>
                <a:cs typeface="Open Sans Bold"/>
                <a:sym typeface="Open Sans Bold"/>
              </a:rPr>
              <a:t> amplitude and phase connections</a:t>
            </a:r>
            <a:r>
              <a:rPr lang="en-US" sz="1880" dirty="0">
                <a:solidFill>
                  <a:srgbClr val="000000"/>
                </a:solidFill>
                <a:latin typeface="Open Sans"/>
                <a:ea typeface="Open Sans"/>
                <a:cs typeface="Open Sans"/>
                <a:sym typeface="Open Sans"/>
              </a:rPr>
              <a:t>. Unlike Mean Phase Coherence (MPC), MSC offers a more comprehensive assessment of neural synchronization by combining </a:t>
            </a:r>
            <a:r>
              <a:rPr lang="en-US" sz="1880" b="1" dirty="0">
                <a:solidFill>
                  <a:srgbClr val="000000"/>
                </a:solidFill>
                <a:latin typeface="Open Sans Bold"/>
                <a:ea typeface="Open Sans Bold"/>
                <a:cs typeface="Open Sans Bold"/>
                <a:sym typeface="Open Sans Bold"/>
              </a:rPr>
              <a:t>power correlation analysis with phase stability evaluation</a:t>
            </a:r>
            <a:r>
              <a:rPr lang="en-US" sz="1880" dirty="0">
                <a:solidFill>
                  <a:srgbClr val="000000"/>
                </a:solidFill>
                <a:latin typeface="Open Sans"/>
                <a:ea typeface="Open Sans"/>
                <a:cs typeface="Open Sans"/>
                <a:sym typeface="Open Sans"/>
              </a:rPr>
              <a:t>.</a:t>
            </a:r>
          </a:p>
          <a:p>
            <a:pPr algn="just">
              <a:lnSpc>
                <a:spcPts val="2632"/>
              </a:lnSpc>
            </a:pPr>
            <a:endParaRPr lang="en-US" sz="1880" dirty="0">
              <a:solidFill>
                <a:srgbClr val="000000"/>
              </a:solidFill>
              <a:latin typeface="Open Sans"/>
              <a:ea typeface="Open Sans"/>
              <a:cs typeface="Open Sans"/>
              <a:sym typeface="Open Sans"/>
            </a:endParaRPr>
          </a:p>
          <a:p>
            <a:pPr algn="just">
              <a:lnSpc>
                <a:spcPts val="2632"/>
              </a:lnSpc>
            </a:pPr>
            <a:r>
              <a:rPr lang="en-US" sz="1880" dirty="0">
                <a:solidFill>
                  <a:srgbClr val="000000"/>
                </a:solidFill>
                <a:latin typeface="Open Sans"/>
                <a:ea typeface="Open Sans"/>
                <a:cs typeface="Open Sans"/>
                <a:sym typeface="Open Sans"/>
              </a:rPr>
              <a:t> </a:t>
            </a:r>
            <a:r>
              <a:rPr lang="en-US" sz="1880" b="1" dirty="0">
                <a:solidFill>
                  <a:srgbClr val="000000"/>
                </a:solidFill>
                <a:latin typeface="Open Sans Bold"/>
                <a:ea typeface="Open Sans Bold"/>
                <a:cs typeface="Open Sans Bold"/>
                <a:sym typeface="Open Sans Bold"/>
              </a:rPr>
              <a:t>PCA:</a:t>
            </a:r>
            <a:r>
              <a:rPr lang="en-US" sz="1880" dirty="0">
                <a:solidFill>
                  <a:srgbClr val="000000"/>
                </a:solidFill>
                <a:latin typeface="Open Sans"/>
                <a:ea typeface="Open Sans"/>
                <a:cs typeface="Open Sans"/>
                <a:sym typeface="Open Sans"/>
              </a:rPr>
              <a:t> Helps in removing redundant and noisy features, enhancing model generalization across subjects.</a:t>
            </a:r>
          </a:p>
          <a:p>
            <a:pPr algn="just">
              <a:lnSpc>
                <a:spcPts val="2632"/>
              </a:lnSpc>
            </a:pPr>
            <a:endParaRPr lang="en-US" sz="1880" dirty="0">
              <a:solidFill>
                <a:srgbClr val="000000"/>
              </a:solidFill>
              <a:latin typeface="Open Sans"/>
              <a:ea typeface="Open Sans"/>
              <a:cs typeface="Open Sans"/>
              <a:sym typeface="Open Sans"/>
            </a:endParaRPr>
          </a:p>
          <a:p>
            <a:pPr algn="just">
              <a:lnSpc>
                <a:spcPts val="2632"/>
              </a:lnSpc>
            </a:pPr>
            <a:endParaRPr lang="en-US" sz="1880" dirty="0">
              <a:solidFill>
                <a:srgbClr val="000000"/>
              </a:solidFill>
              <a:latin typeface="Open Sans"/>
              <a:ea typeface="Open Sans"/>
              <a:cs typeface="Open Sans"/>
              <a:sym typeface="Open Sans"/>
            </a:endParaRPr>
          </a:p>
        </p:txBody>
      </p:sp>
      <p:sp>
        <p:nvSpPr>
          <p:cNvPr id="4" name="TextBox 4"/>
          <p:cNvSpPr txBox="1"/>
          <p:nvPr/>
        </p:nvSpPr>
        <p:spPr>
          <a:xfrm>
            <a:off x="894918" y="1937339"/>
            <a:ext cx="15335926" cy="990473"/>
          </a:xfrm>
          <a:prstGeom prst="rect">
            <a:avLst/>
          </a:prstGeom>
        </p:spPr>
        <p:txBody>
          <a:bodyPr lIns="0" tIns="0" rIns="0" bIns="0" rtlCol="0" anchor="t">
            <a:spAutoFit/>
          </a:bodyPr>
          <a:lstStyle/>
          <a:p>
            <a:pPr algn="l">
              <a:lnSpc>
                <a:spcPts val="2632"/>
              </a:lnSpc>
            </a:pPr>
            <a:r>
              <a:rPr lang="en-US" sz="1880" dirty="0">
                <a:solidFill>
                  <a:srgbClr val="000000"/>
                </a:solidFill>
                <a:latin typeface="Open Sans"/>
                <a:ea typeface="Open Sans"/>
                <a:cs typeface="Open Sans"/>
                <a:sym typeface="Open Sans"/>
              </a:rPr>
              <a:t>Raw EEG data contains irrelevant, redundant, and noisy signals. Feature extraction transforms this into meaningful representations for classification. The major feature types are:</a:t>
            </a:r>
          </a:p>
          <a:p>
            <a:pPr algn="l">
              <a:lnSpc>
                <a:spcPts val="2632"/>
              </a:lnSpc>
            </a:pPr>
            <a:endParaRPr lang="en-US" sz="1880" dirty="0">
              <a:solidFill>
                <a:srgbClr val="000000"/>
              </a:solidFill>
              <a:latin typeface="Open Sans"/>
              <a:ea typeface="Open Sans"/>
              <a:cs typeface="Open Sans"/>
              <a:sym typeface="Open Sans"/>
            </a:endParaRPr>
          </a:p>
        </p:txBody>
      </p:sp>
      <p:sp>
        <p:nvSpPr>
          <p:cNvPr id="5" name="TextBox 5"/>
          <p:cNvSpPr txBox="1"/>
          <p:nvPr/>
        </p:nvSpPr>
        <p:spPr>
          <a:xfrm>
            <a:off x="904647" y="620471"/>
            <a:ext cx="9877657" cy="816459"/>
          </a:xfrm>
          <a:prstGeom prst="rect">
            <a:avLst/>
          </a:prstGeom>
        </p:spPr>
        <p:txBody>
          <a:bodyPr lIns="0" tIns="0" rIns="0" bIns="0" rtlCol="0" anchor="t">
            <a:spAutoFit/>
          </a:bodyPr>
          <a:lstStyle/>
          <a:p>
            <a:pPr algn="l">
              <a:lnSpc>
                <a:spcPts val="6403"/>
              </a:lnSpc>
            </a:pPr>
            <a:r>
              <a:rPr lang="en-US" sz="5380" b="1">
                <a:solidFill>
                  <a:srgbClr val="1C2120"/>
                </a:solidFill>
                <a:latin typeface="Montserrat Bold"/>
                <a:ea typeface="Montserrat Bold"/>
                <a:cs typeface="Montserrat Bold"/>
                <a:sym typeface="Montserrat Bold"/>
              </a:rPr>
              <a:t>Why these methods?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2"/>
            <a:stretch>
              <a:fillRect t="-10270" b="-14099"/>
            </a:stretch>
          </a:blipFill>
        </p:spPr>
        <p:txBody>
          <a:bodyPr/>
          <a:lstStyle/>
          <a:p>
            <a:endParaRPr lang="en-US"/>
          </a:p>
        </p:txBody>
      </p:sp>
      <p:sp>
        <p:nvSpPr>
          <p:cNvPr id="3" name="Freeform 3"/>
          <p:cNvSpPr/>
          <p:nvPr/>
        </p:nvSpPr>
        <p:spPr>
          <a:xfrm>
            <a:off x="11788180" y="2864584"/>
            <a:ext cx="6841024" cy="4557832"/>
          </a:xfrm>
          <a:custGeom>
            <a:avLst/>
            <a:gdLst/>
            <a:ahLst/>
            <a:cxnLst/>
            <a:rect l="l" t="t" r="r" b="b"/>
            <a:pathLst>
              <a:path w="6841024" h="4557832">
                <a:moveTo>
                  <a:pt x="0" y="0"/>
                </a:moveTo>
                <a:lnTo>
                  <a:pt x="6841024" y="0"/>
                </a:lnTo>
                <a:lnTo>
                  <a:pt x="6841024" y="4557832"/>
                </a:lnTo>
                <a:lnTo>
                  <a:pt x="0" y="4557832"/>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894918" y="620471"/>
            <a:ext cx="9877657" cy="816459"/>
          </a:xfrm>
          <a:prstGeom prst="rect">
            <a:avLst/>
          </a:prstGeom>
        </p:spPr>
        <p:txBody>
          <a:bodyPr lIns="0" tIns="0" rIns="0" bIns="0" rtlCol="0" anchor="t">
            <a:spAutoFit/>
          </a:bodyPr>
          <a:lstStyle/>
          <a:p>
            <a:pPr algn="l">
              <a:lnSpc>
                <a:spcPts val="6403"/>
              </a:lnSpc>
            </a:pPr>
            <a:r>
              <a:rPr lang="en-US" sz="5380" b="1">
                <a:solidFill>
                  <a:srgbClr val="1C2120"/>
                </a:solidFill>
                <a:latin typeface="Montserrat Bold"/>
                <a:ea typeface="Montserrat Bold"/>
                <a:cs typeface="Montserrat Bold"/>
                <a:sym typeface="Montserrat Bold"/>
              </a:rPr>
              <a:t>Why these models?</a:t>
            </a:r>
          </a:p>
        </p:txBody>
      </p:sp>
      <p:sp>
        <p:nvSpPr>
          <p:cNvPr id="5" name="TextBox 5"/>
          <p:cNvSpPr txBox="1"/>
          <p:nvPr/>
        </p:nvSpPr>
        <p:spPr>
          <a:xfrm>
            <a:off x="894918" y="2093005"/>
            <a:ext cx="12421694" cy="6980757"/>
          </a:xfrm>
          <a:prstGeom prst="rect">
            <a:avLst/>
          </a:prstGeom>
        </p:spPr>
        <p:txBody>
          <a:bodyPr lIns="0" tIns="0" rIns="0" bIns="0" rtlCol="0" anchor="t">
            <a:spAutoFit/>
          </a:bodyPr>
          <a:lstStyle/>
          <a:p>
            <a:pPr algn="l">
              <a:lnSpc>
                <a:spcPts val="2632"/>
              </a:lnSpc>
            </a:pPr>
            <a:r>
              <a:rPr lang="en-US" sz="1880" b="1" dirty="0">
                <a:solidFill>
                  <a:srgbClr val="000000"/>
                </a:solidFill>
                <a:latin typeface="Open Sans Bold"/>
                <a:ea typeface="Open Sans Bold"/>
                <a:cs typeface="Open Sans Bold"/>
                <a:sym typeface="Open Sans Bold"/>
              </a:rPr>
              <a:t>Transformer</a:t>
            </a:r>
            <a:r>
              <a:rPr lang="en-US" sz="1880" dirty="0">
                <a:solidFill>
                  <a:srgbClr val="000000"/>
                </a:solidFill>
                <a:latin typeface="Open Sans"/>
                <a:ea typeface="Open Sans"/>
                <a:cs typeface="Open Sans"/>
                <a:sym typeface="Open Sans"/>
              </a:rPr>
              <a:t> </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EEG signals have complex temporal patterns that require long-range dependency modeling.</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The self-attention mechanism in Transformers efficiently captures global relationships across EEG time sequences.</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Unlike CNN-LSTM, Transformers process sequences in parallel, improving computational efficiency.</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Achieves higher accuracy in EEG-based imagined speech classification compared to traditional deep learning models.</a:t>
            </a:r>
          </a:p>
          <a:p>
            <a:pPr algn="l">
              <a:lnSpc>
                <a:spcPts val="2632"/>
              </a:lnSpc>
            </a:pPr>
            <a:endParaRPr lang="en-US" sz="1880" dirty="0">
              <a:solidFill>
                <a:srgbClr val="000000"/>
              </a:solidFill>
              <a:latin typeface="Open Sans"/>
              <a:ea typeface="Open Sans"/>
              <a:cs typeface="Open Sans"/>
              <a:sym typeface="Open Sans"/>
            </a:endParaRPr>
          </a:p>
          <a:p>
            <a:pPr algn="l">
              <a:lnSpc>
                <a:spcPts val="2632"/>
              </a:lnSpc>
            </a:pPr>
            <a:r>
              <a:rPr lang="en-US" sz="1880" b="1" dirty="0">
                <a:solidFill>
                  <a:srgbClr val="000000"/>
                </a:solidFill>
                <a:latin typeface="Open Sans Bold"/>
                <a:ea typeface="Open Sans Bold"/>
                <a:cs typeface="Open Sans Bold"/>
                <a:sym typeface="Open Sans Bold"/>
              </a:rPr>
              <a:t>CNN-LSTM: Extracting Spatial and Temporal Features</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EEG signals contain both spatial and temporal (signal variation over time) features.</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CNN layers extract spatial patterns, while LSTM layers model temporal dependencies in EEG sequences.</a:t>
            </a:r>
          </a:p>
          <a:p>
            <a:pPr marL="405893" lvl="1" indent="-202946">
              <a:lnSpc>
                <a:spcPts val="2632"/>
              </a:lnSpc>
              <a:buFont typeface="Arial"/>
              <a:buChar char="•"/>
            </a:pPr>
            <a:r>
              <a:rPr lang="en-US" sz="1880" dirty="0">
                <a:solidFill>
                  <a:srgbClr val="000000"/>
                </a:solidFill>
                <a:latin typeface="Open Sans"/>
                <a:ea typeface="Open Sans"/>
                <a:cs typeface="Open Sans"/>
                <a:sym typeface="Open Sans"/>
              </a:rPr>
              <a:t>Well-suited for tasks requiring localized feature extraction and short-term dependencies.</a:t>
            </a:r>
          </a:p>
          <a:p>
            <a:pPr algn="l">
              <a:lnSpc>
                <a:spcPts val="2632"/>
              </a:lnSpc>
            </a:pPr>
            <a:endParaRPr lang="en-US" sz="1880" dirty="0">
              <a:solidFill>
                <a:srgbClr val="000000"/>
              </a:solidFill>
              <a:latin typeface="Open Sans"/>
              <a:ea typeface="Open Sans"/>
              <a:cs typeface="Open Sans"/>
              <a:sym typeface="Open Sans"/>
            </a:endParaRPr>
          </a:p>
          <a:p>
            <a:pPr algn="l">
              <a:lnSpc>
                <a:spcPts val="2632"/>
              </a:lnSpc>
            </a:pPr>
            <a:r>
              <a:rPr lang="en-US" sz="1880" b="1" dirty="0">
                <a:solidFill>
                  <a:srgbClr val="000000"/>
                </a:solidFill>
                <a:latin typeface="Open Sans Bold"/>
                <a:ea typeface="Open Sans Bold"/>
                <a:cs typeface="Open Sans Bold"/>
                <a:sym typeface="Open Sans Bold"/>
              </a:rPr>
              <a:t>Multi Layer Perceptron: Baseline for Performance Evaluation</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Serves as a benchmark for performance comparison.</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MLPs process EEG data as flattened feature vectors, which limits their ability to capture sequential patterns.</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Helps in evaluating how much deep learning architectures (CNN-LSTM, Transformer) improve EEG classification compared to a simpler neural network.</a:t>
            </a:r>
          </a:p>
          <a:p>
            <a:pPr algn="l">
              <a:lnSpc>
                <a:spcPts val="2632"/>
              </a:lnSpc>
            </a:pPr>
            <a:endParaRPr lang="en-US" sz="1880" dirty="0">
              <a:solidFill>
                <a:srgbClr val="000000"/>
              </a:solidFill>
              <a:latin typeface="Open Sans"/>
              <a:ea typeface="Open Sans"/>
              <a:cs typeface="Open Sans"/>
              <a:sym typeface="Open Sans"/>
            </a:endParaRPr>
          </a:p>
          <a:p>
            <a:pPr algn="l">
              <a:lnSpc>
                <a:spcPts val="2632"/>
              </a:lnSpc>
            </a:pPr>
            <a:endParaRPr lang="en-US" sz="1880" dirty="0">
              <a:solidFill>
                <a:srgbClr val="000000"/>
              </a:solidFill>
              <a:latin typeface="Open Sans"/>
              <a:ea typeface="Open Sans"/>
              <a:cs typeface="Open Sans"/>
              <a:sym typeface="Open Sans"/>
            </a:endParaRPr>
          </a:p>
          <a:p>
            <a:pPr algn="l">
              <a:lnSpc>
                <a:spcPts val="2632"/>
              </a:lnSpc>
            </a:pPr>
            <a:endParaRPr lang="en-US" sz="1880" dirty="0">
              <a:solidFill>
                <a:srgbClr val="000000"/>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C2C2C7"/>
        </a:solidFill>
        <a:effectLst/>
      </p:bgPr>
    </p:bg>
    <p:spTree>
      <p:nvGrpSpPr>
        <p:cNvPr id="1" name=""/>
        <p:cNvGrpSpPr/>
        <p:nvPr/>
      </p:nvGrpSpPr>
      <p:grpSpPr>
        <a:xfrm>
          <a:off x="0" y="0"/>
          <a:ext cx="0" cy="0"/>
          <a:chOff x="0" y="0"/>
          <a:chExt cx="0" cy="0"/>
        </a:xfrm>
      </p:grpSpPr>
      <p:sp>
        <p:nvSpPr>
          <p:cNvPr id="2" name="Freeform 2"/>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2"/>
            <a:stretch>
              <a:fillRect t="-10270" b="-14099"/>
            </a:stretch>
          </a:blipFill>
        </p:spPr>
        <p:txBody>
          <a:bodyPr/>
          <a:lstStyle/>
          <a:p>
            <a:endParaRPr lang="en-US"/>
          </a:p>
        </p:txBody>
      </p:sp>
      <p:grpSp>
        <p:nvGrpSpPr>
          <p:cNvPr id="3" name="Group 3"/>
          <p:cNvGrpSpPr/>
          <p:nvPr/>
        </p:nvGrpSpPr>
        <p:grpSpPr>
          <a:xfrm>
            <a:off x="0" y="3400647"/>
            <a:ext cx="4803593" cy="1221532"/>
            <a:chOff x="0" y="0"/>
            <a:chExt cx="1265144" cy="321720"/>
          </a:xfrm>
        </p:grpSpPr>
        <p:sp>
          <p:nvSpPr>
            <p:cNvPr id="4" name="Freeform 4"/>
            <p:cNvSpPr/>
            <p:nvPr/>
          </p:nvSpPr>
          <p:spPr>
            <a:xfrm>
              <a:off x="0" y="0"/>
              <a:ext cx="1265144" cy="321720"/>
            </a:xfrm>
            <a:custGeom>
              <a:avLst/>
              <a:gdLst/>
              <a:ahLst/>
              <a:cxnLst/>
              <a:rect l="l" t="t" r="r" b="b"/>
              <a:pathLst>
                <a:path w="1265144" h="321720">
                  <a:moveTo>
                    <a:pt x="0" y="0"/>
                  </a:moveTo>
                  <a:lnTo>
                    <a:pt x="1265144" y="0"/>
                  </a:lnTo>
                  <a:lnTo>
                    <a:pt x="1265144" y="321720"/>
                  </a:lnTo>
                  <a:lnTo>
                    <a:pt x="0" y="321720"/>
                  </a:lnTo>
                  <a:close/>
                </a:path>
              </a:pathLst>
            </a:custGeom>
            <a:solidFill>
              <a:srgbClr val="55FF4D"/>
            </a:solidFill>
          </p:spPr>
          <p:txBody>
            <a:bodyPr/>
            <a:lstStyle/>
            <a:p>
              <a:endParaRPr lang="en-US"/>
            </a:p>
          </p:txBody>
        </p:sp>
        <p:sp>
          <p:nvSpPr>
            <p:cNvPr id="5" name="TextBox 5"/>
            <p:cNvSpPr txBox="1"/>
            <p:nvPr/>
          </p:nvSpPr>
          <p:spPr>
            <a:xfrm>
              <a:off x="0" y="-28575"/>
              <a:ext cx="1265144" cy="350295"/>
            </a:xfrm>
            <a:prstGeom prst="rect">
              <a:avLst/>
            </a:prstGeom>
          </p:spPr>
          <p:txBody>
            <a:bodyPr lIns="50800" tIns="50800" rIns="50800" bIns="50800" rtlCol="0" anchor="ctr"/>
            <a:lstStyle/>
            <a:p>
              <a:pPr algn="ctr">
                <a:lnSpc>
                  <a:spcPts val="2243"/>
                </a:lnSpc>
              </a:pPr>
              <a:endParaRPr/>
            </a:p>
          </p:txBody>
        </p:sp>
      </p:grpSp>
      <p:grpSp>
        <p:nvGrpSpPr>
          <p:cNvPr id="6" name="Group 6"/>
          <p:cNvGrpSpPr/>
          <p:nvPr/>
        </p:nvGrpSpPr>
        <p:grpSpPr>
          <a:xfrm>
            <a:off x="-2007775" y="4787081"/>
            <a:ext cx="9063088" cy="1229009"/>
            <a:chOff x="0" y="0"/>
            <a:chExt cx="2386986" cy="323690"/>
          </a:xfrm>
        </p:grpSpPr>
        <p:sp>
          <p:nvSpPr>
            <p:cNvPr id="7" name="Freeform 7"/>
            <p:cNvSpPr/>
            <p:nvPr/>
          </p:nvSpPr>
          <p:spPr>
            <a:xfrm>
              <a:off x="0" y="0"/>
              <a:ext cx="2386986" cy="323690"/>
            </a:xfrm>
            <a:custGeom>
              <a:avLst/>
              <a:gdLst/>
              <a:ahLst/>
              <a:cxnLst/>
              <a:rect l="l" t="t" r="r" b="b"/>
              <a:pathLst>
                <a:path w="2386986" h="323690">
                  <a:moveTo>
                    <a:pt x="0" y="0"/>
                  </a:moveTo>
                  <a:lnTo>
                    <a:pt x="2386986" y="0"/>
                  </a:lnTo>
                  <a:lnTo>
                    <a:pt x="2386986" y="323690"/>
                  </a:lnTo>
                  <a:lnTo>
                    <a:pt x="0" y="323690"/>
                  </a:lnTo>
                  <a:close/>
                </a:path>
              </a:pathLst>
            </a:custGeom>
            <a:solidFill>
              <a:srgbClr val="55FF4D"/>
            </a:solidFill>
          </p:spPr>
          <p:txBody>
            <a:bodyPr/>
            <a:lstStyle/>
            <a:p>
              <a:endParaRPr lang="en-US"/>
            </a:p>
          </p:txBody>
        </p:sp>
        <p:sp>
          <p:nvSpPr>
            <p:cNvPr id="8" name="TextBox 8"/>
            <p:cNvSpPr txBox="1"/>
            <p:nvPr/>
          </p:nvSpPr>
          <p:spPr>
            <a:xfrm>
              <a:off x="0" y="-28575"/>
              <a:ext cx="2386986" cy="352265"/>
            </a:xfrm>
            <a:prstGeom prst="rect">
              <a:avLst/>
            </a:prstGeom>
          </p:spPr>
          <p:txBody>
            <a:bodyPr lIns="50800" tIns="50800" rIns="50800" bIns="50800" rtlCol="0" anchor="ctr"/>
            <a:lstStyle/>
            <a:p>
              <a:pPr algn="ctr">
                <a:lnSpc>
                  <a:spcPts val="2243"/>
                </a:lnSpc>
              </a:pPr>
              <a:endParaRPr/>
            </a:p>
          </p:txBody>
        </p:sp>
      </p:grpSp>
      <p:sp>
        <p:nvSpPr>
          <p:cNvPr id="9" name="TextBox 9"/>
          <p:cNvSpPr txBox="1"/>
          <p:nvPr/>
        </p:nvSpPr>
        <p:spPr>
          <a:xfrm>
            <a:off x="-412644" y="3453241"/>
            <a:ext cx="5451708" cy="1028700"/>
          </a:xfrm>
          <a:prstGeom prst="rect">
            <a:avLst/>
          </a:prstGeom>
        </p:spPr>
        <p:txBody>
          <a:bodyPr lIns="0" tIns="0" rIns="0" bIns="0" rtlCol="0" anchor="t">
            <a:spAutoFit/>
          </a:bodyPr>
          <a:lstStyle/>
          <a:p>
            <a:pPr algn="ctr">
              <a:lnSpc>
                <a:spcPts val="8400"/>
              </a:lnSpc>
            </a:pPr>
            <a:r>
              <a:rPr lang="en-US" sz="6000">
                <a:solidFill>
                  <a:srgbClr val="000000"/>
                </a:solidFill>
                <a:latin typeface="Montserrat"/>
                <a:ea typeface="Montserrat"/>
                <a:cs typeface="Montserrat"/>
                <a:sym typeface="Montserrat"/>
              </a:rPr>
              <a:t>CHAPTER 3</a:t>
            </a:r>
          </a:p>
        </p:txBody>
      </p:sp>
      <p:sp>
        <p:nvSpPr>
          <p:cNvPr id="10" name="TextBox 10"/>
          <p:cNvSpPr txBox="1"/>
          <p:nvPr/>
        </p:nvSpPr>
        <p:spPr>
          <a:xfrm>
            <a:off x="0" y="4831112"/>
            <a:ext cx="7021036" cy="1028700"/>
          </a:xfrm>
          <a:prstGeom prst="rect">
            <a:avLst/>
          </a:prstGeom>
        </p:spPr>
        <p:txBody>
          <a:bodyPr lIns="0" tIns="0" rIns="0" bIns="0" rtlCol="0" anchor="t">
            <a:spAutoFit/>
          </a:bodyPr>
          <a:lstStyle/>
          <a:p>
            <a:pPr algn="ctr">
              <a:lnSpc>
                <a:spcPts val="8400"/>
              </a:lnSpc>
            </a:pPr>
            <a:r>
              <a:rPr lang="en-US" sz="6000" b="1">
                <a:solidFill>
                  <a:srgbClr val="000000"/>
                </a:solidFill>
                <a:latin typeface="Montserrat Bold"/>
                <a:ea typeface="Montserrat Bold"/>
                <a:cs typeface="Montserrat Bold"/>
                <a:sym typeface="Montserrat Bold"/>
              </a:rPr>
              <a:t>METHODOLOGY</a:t>
            </a:r>
          </a:p>
        </p:txBody>
      </p:sp>
      <p:sp>
        <p:nvSpPr>
          <p:cNvPr id="11" name="TextBox 11"/>
          <p:cNvSpPr txBox="1"/>
          <p:nvPr/>
        </p:nvSpPr>
        <p:spPr>
          <a:xfrm>
            <a:off x="224553" y="-199390"/>
            <a:ext cx="1971749" cy="2321564"/>
          </a:xfrm>
          <a:prstGeom prst="rect">
            <a:avLst/>
          </a:prstGeom>
        </p:spPr>
        <p:txBody>
          <a:bodyPr lIns="0" tIns="0" rIns="0" bIns="0" rtlCol="0" anchor="t">
            <a:spAutoFit/>
          </a:bodyPr>
          <a:lstStyle/>
          <a:p>
            <a:pPr algn="ctr">
              <a:lnSpc>
                <a:spcPts val="19039"/>
              </a:lnSpc>
              <a:spcBef>
                <a:spcPct val="0"/>
              </a:spcBef>
            </a:pPr>
            <a:r>
              <a:rPr lang="en-US" sz="13599" b="1">
                <a:solidFill>
                  <a:srgbClr val="FFFFFF"/>
                </a:solidFill>
                <a:latin typeface="Open Sans Bold"/>
                <a:ea typeface="Open Sans Bold"/>
                <a:cs typeface="Open Sans Bold"/>
                <a:sym typeface="Open Sans Bold"/>
              </a:rPr>
              <a:t>03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2"/>
            <a:stretch>
              <a:fillRect t="-10270" b="-14099"/>
            </a:stretch>
          </a:blipFill>
        </p:spPr>
        <p:txBody>
          <a:bodyPr/>
          <a:lstStyle/>
          <a:p>
            <a:endParaRPr lang="en-US"/>
          </a:p>
        </p:txBody>
      </p:sp>
      <p:sp>
        <p:nvSpPr>
          <p:cNvPr id="3" name="Freeform 3"/>
          <p:cNvSpPr/>
          <p:nvPr/>
        </p:nvSpPr>
        <p:spPr>
          <a:xfrm>
            <a:off x="3774920" y="6782530"/>
            <a:ext cx="9276707" cy="2714381"/>
          </a:xfrm>
          <a:custGeom>
            <a:avLst/>
            <a:gdLst/>
            <a:ahLst/>
            <a:cxnLst/>
            <a:rect l="l" t="t" r="r" b="b"/>
            <a:pathLst>
              <a:path w="9276707" h="2714381">
                <a:moveTo>
                  <a:pt x="0" y="0"/>
                </a:moveTo>
                <a:lnTo>
                  <a:pt x="9276707" y="0"/>
                </a:lnTo>
                <a:lnTo>
                  <a:pt x="9276707" y="2714381"/>
                </a:lnTo>
                <a:lnTo>
                  <a:pt x="0" y="2714381"/>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723566" y="2727209"/>
            <a:ext cx="16002336" cy="3893396"/>
          </a:xfrm>
          <a:prstGeom prst="rect">
            <a:avLst/>
          </a:prstGeom>
        </p:spPr>
        <p:txBody>
          <a:bodyPr lIns="0" tIns="0" rIns="0" bIns="0" rtlCol="0" anchor="t">
            <a:spAutoFit/>
          </a:bodyPr>
          <a:lstStyle/>
          <a:p>
            <a:pPr algn="l">
              <a:lnSpc>
                <a:spcPts val="2648"/>
              </a:lnSpc>
            </a:pPr>
            <a:r>
              <a:rPr lang="en-US" sz="1891" dirty="0">
                <a:solidFill>
                  <a:srgbClr val="000000"/>
                </a:solidFill>
                <a:latin typeface="Open Sans"/>
                <a:ea typeface="Open Sans"/>
                <a:cs typeface="Open Sans"/>
                <a:sym typeface="Open Sans"/>
              </a:rPr>
              <a:t>Dataset Overview:</a:t>
            </a:r>
          </a:p>
          <a:p>
            <a:pPr marL="408414" lvl="1" indent="-204207" algn="l">
              <a:lnSpc>
                <a:spcPts val="2648"/>
              </a:lnSpc>
              <a:buFont typeface="Arial"/>
              <a:buChar char="•"/>
            </a:pPr>
            <a:r>
              <a:rPr lang="en-US" sz="1891" dirty="0">
                <a:solidFill>
                  <a:srgbClr val="000000"/>
                </a:solidFill>
                <a:latin typeface="Open Sans"/>
                <a:ea typeface="Open Sans"/>
                <a:cs typeface="Open Sans"/>
                <a:sym typeface="Open Sans"/>
              </a:rPr>
              <a:t>20 unique words mapped to labels.</a:t>
            </a:r>
          </a:p>
          <a:p>
            <a:pPr marL="408414" lvl="1" indent="-204207" algn="l">
              <a:lnSpc>
                <a:spcPts val="2648"/>
              </a:lnSpc>
              <a:buFont typeface="Arial"/>
              <a:buChar char="•"/>
            </a:pPr>
            <a:r>
              <a:rPr lang="en-US" sz="1891" dirty="0">
                <a:solidFill>
                  <a:srgbClr val="000000"/>
                </a:solidFill>
                <a:latin typeface="Open Sans"/>
                <a:ea typeface="Open Sans"/>
                <a:cs typeface="Open Sans"/>
                <a:sym typeface="Open Sans"/>
              </a:rPr>
              <a:t>50 trials per word across multiple subjects.</a:t>
            </a:r>
          </a:p>
          <a:p>
            <a:pPr marL="408414" lvl="1" indent="-204207" algn="l">
              <a:lnSpc>
                <a:spcPts val="2648"/>
              </a:lnSpc>
              <a:buFont typeface="Arial"/>
              <a:buChar char="•"/>
            </a:pPr>
            <a:r>
              <a:rPr lang="en-US" sz="1891" dirty="0">
                <a:solidFill>
                  <a:srgbClr val="000000"/>
                </a:solidFill>
                <a:latin typeface="Open Sans"/>
                <a:ea typeface="Open Sans"/>
                <a:cs typeface="Open Sans"/>
                <a:sym typeface="Open Sans"/>
              </a:rPr>
              <a:t>1,000 trials before augmentation.</a:t>
            </a:r>
          </a:p>
          <a:p>
            <a:pPr algn="l">
              <a:lnSpc>
                <a:spcPts val="2648"/>
              </a:lnSpc>
            </a:pPr>
            <a:endParaRPr lang="en-US" sz="1891" dirty="0">
              <a:solidFill>
                <a:srgbClr val="000000"/>
              </a:solidFill>
              <a:latin typeface="Open Sans"/>
              <a:ea typeface="Open Sans"/>
              <a:cs typeface="Open Sans"/>
              <a:sym typeface="Open Sans"/>
            </a:endParaRPr>
          </a:p>
          <a:p>
            <a:pPr algn="l">
              <a:lnSpc>
                <a:spcPts val="2648"/>
              </a:lnSpc>
            </a:pPr>
            <a:r>
              <a:rPr lang="en-US" sz="1891" dirty="0">
                <a:solidFill>
                  <a:srgbClr val="000000"/>
                </a:solidFill>
                <a:latin typeface="Open Sans"/>
                <a:ea typeface="Open Sans"/>
                <a:cs typeface="Open Sans"/>
                <a:sym typeface="Open Sans"/>
              </a:rPr>
              <a:t>Experimental Procedure:</a:t>
            </a:r>
          </a:p>
          <a:p>
            <a:pPr algn="l">
              <a:lnSpc>
                <a:spcPts val="2648"/>
              </a:lnSpc>
            </a:pPr>
            <a:r>
              <a:rPr lang="en-US" sz="1891" dirty="0">
                <a:solidFill>
                  <a:srgbClr val="000000"/>
                </a:solidFill>
                <a:latin typeface="Open Sans"/>
                <a:ea typeface="Open Sans"/>
                <a:cs typeface="Open Sans"/>
                <a:sym typeface="Open Sans"/>
              </a:rPr>
              <a:t>1️⃣ </a:t>
            </a:r>
            <a:r>
              <a:rPr lang="en-US" sz="1891" b="1" dirty="0">
                <a:solidFill>
                  <a:srgbClr val="000000"/>
                </a:solidFill>
                <a:latin typeface="Open Sans Bold"/>
                <a:ea typeface="Open Sans Bold"/>
                <a:cs typeface="Open Sans Bold"/>
                <a:sym typeface="Open Sans Bold"/>
              </a:rPr>
              <a:t>Rest State</a:t>
            </a:r>
            <a:r>
              <a:rPr lang="en-US" sz="1891" dirty="0">
                <a:solidFill>
                  <a:srgbClr val="000000"/>
                </a:solidFill>
                <a:latin typeface="Open Sans"/>
                <a:ea typeface="Open Sans"/>
                <a:cs typeface="Open Sans"/>
                <a:sym typeface="Open Sans"/>
              </a:rPr>
              <a:t>: Participants focused on a displayed cross during the rest period.</a:t>
            </a:r>
          </a:p>
          <a:p>
            <a:pPr algn="l">
              <a:lnSpc>
                <a:spcPts val="2648"/>
              </a:lnSpc>
            </a:pPr>
            <a:r>
              <a:rPr lang="en-US" sz="1891" dirty="0">
                <a:solidFill>
                  <a:srgbClr val="000000"/>
                </a:solidFill>
                <a:latin typeface="Open Sans"/>
                <a:ea typeface="Open Sans"/>
                <a:cs typeface="Open Sans"/>
                <a:sym typeface="Open Sans"/>
              </a:rPr>
              <a:t>2️⃣ </a:t>
            </a:r>
            <a:r>
              <a:rPr lang="en-US" sz="1891" b="1" dirty="0">
                <a:solidFill>
                  <a:srgbClr val="000000"/>
                </a:solidFill>
                <a:latin typeface="Open Sans Bold"/>
                <a:ea typeface="Open Sans Bold"/>
                <a:cs typeface="Open Sans Bold"/>
                <a:sym typeface="Open Sans Bold"/>
              </a:rPr>
              <a:t>Word Presentation</a:t>
            </a:r>
            <a:r>
              <a:rPr lang="en-US" sz="1891" dirty="0">
                <a:solidFill>
                  <a:srgbClr val="000000"/>
                </a:solidFill>
                <a:latin typeface="Open Sans"/>
                <a:ea typeface="Open Sans"/>
                <a:cs typeface="Open Sans"/>
                <a:sym typeface="Open Sans"/>
              </a:rPr>
              <a:t>: A word was presented visually on the screen.</a:t>
            </a:r>
          </a:p>
          <a:p>
            <a:pPr algn="l">
              <a:lnSpc>
                <a:spcPts val="2648"/>
              </a:lnSpc>
            </a:pPr>
            <a:r>
              <a:rPr lang="en-US" sz="1891" dirty="0">
                <a:solidFill>
                  <a:srgbClr val="000000"/>
                </a:solidFill>
                <a:latin typeface="Open Sans"/>
                <a:ea typeface="Open Sans"/>
                <a:cs typeface="Open Sans"/>
                <a:sym typeface="Open Sans"/>
              </a:rPr>
              <a:t>3️⃣ </a:t>
            </a:r>
            <a:r>
              <a:rPr lang="en-US" sz="1891" b="1" dirty="0">
                <a:solidFill>
                  <a:srgbClr val="000000"/>
                </a:solidFill>
                <a:latin typeface="Open Sans Bold"/>
                <a:ea typeface="Open Sans Bold"/>
                <a:cs typeface="Open Sans Bold"/>
                <a:sym typeface="Open Sans Bold"/>
              </a:rPr>
              <a:t>Imagination Phase</a:t>
            </a:r>
            <a:r>
              <a:rPr lang="en-US" sz="1891" dirty="0">
                <a:solidFill>
                  <a:srgbClr val="000000"/>
                </a:solidFill>
                <a:latin typeface="Open Sans"/>
                <a:ea typeface="Open Sans"/>
                <a:cs typeface="Open Sans"/>
                <a:sym typeface="Open Sans"/>
              </a:rPr>
              <a:t>: Participants mentally visualized the word while keeping their vocal cords and muscles stationary.</a:t>
            </a:r>
          </a:p>
          <a:p>
            <a:pPr algn="l">
              <a:lnSpc>
                <a:spcPts val="2648"/>
              </a:lnSpc>
            </a:pPr>
            <a:r>
              <a:rPr lang="en-US" sz="1891" dirty="0">
                <a:solidFill>
                  <a:srgbClr val="000000"/>
                </a:solidFill>
                <a:latin typeface="Open Sans"/>
                <a:ea typeface="Open Sans"/>
                <a:cs typeface="Open Sans"/>
                <a:sym typeface="Open Sans"/>
              </a:rPr>
              <a:t>4️⃣ </a:t>
            </a:r>
            <a:r>
              <a:rPr lang="en-US" sz="1891" b="1" dirty="0">
                <a:solidFill>
                  <a:srgbClr val="000000"/>
                </a:solidFill>
                <a:latin typeface="Open Sans Bold"/>
                <a:ea typeface="Open Sans Bold"/>
                <a:cs typeface="Open Sans Bold"/>
                <a:sym typeface="Open Sans Bold"/>
              </a:rPr>
              <a:t>Rest State</a:t>
            </a:r>
            <a:r>
              <a:rPr lang="en-US" sz="1891" dirty="0">
                <a:solidFill>
                  <a:srgbClr val="000000"/>
                </a:solidFill>
                <a:latin typeface="Open Sans"/>
                <a:ea typeface="Open Sans"/>
                <a:cs typeface="Open Sans"/>
                <a:sym typeface="Open Sans"/>
              </a:rPr>
              <a:t>: After imagining the word, participants returned to a resting state.</a:t>
            </a:r>
          </a:p>
          <a:p>
            <a:pPr algn="l">
              <a:lnSpc>
                <a:spcPts val="2648"/>
              </a:lnSpc>
            </a:pPr>
            <a:endParaRPr lang="en-US" sz="1891" dirty="0">
              <a:solidFill>
                <a:srgbClr val="000000"/>
              </a:solidFill>
              <a:latin typeface="Open Sans"/>
              <a:ea typeface="Open Sans"/>
              <a:cs typeface="Open Sans"/>
              <a:sym typeface="Open Sans"/>
            </a:endParaRPr>
          </a:p>
          <a:p>
            <a:pPr algn="l">
              <a:lnSpc>
                <a:spcPts val="1808"/>
              </a:lnSpc>
              <a:spcBef>
                <a:spcPct val="0"/>
              </a:spcBef>
            </a:pPr>
            <a:r>
              <a:rPr lang="en-US" sz="1291" dirty="0">
                <a:solidFill>
                  <a:srgbClr val="000000"/>
                </a:solidFill>
                <a:latin typeface="Open Sans"/>
                <a:ea typeface="Open Sans"/>
                <a:cs typeface="Open Sans"/>
                <a:sym typeface="Open Sans"/>
              </a:rPr>
              <a:t>*During the experiment, subjects were instructed to imagine the displayed words. The EEG signals were recorded and preprocessed for further analysis.</a:t>
            </a:r>
          </a:p>
        </p:txBody>
      </p:sp>
      <p:sp>
        <p:nvSpPr>
          <p:cNvPr id="5" name="TextBox 5"/>
          <p:cNvSpPr txBox="1"/>
          <p:nvPr/>
        </p:nvSpPr>
        <p:spPr>
          <a:xfrm>
            <a:off x="723566" y="418804"/>
            <a:ext cx="12109525" cy="816459"/>
          </a:xfrm>
          <a:prstGeom prst="rect">
            <a:avLst/>
          </a:prstGeom>
        </p:spPr>
        <p:txBody>
          <a:bodyPr lIns="0" tIns="0" rIns="0" bIns="0" rtlCol="0" anchor="t">
            <a:spAutoFit/>
          </a:bodyPr>
          <a:lstStyle/>
          <a:p>
            <a:pPr algn="l">
              <a:lnSpc>
                <a:spcPts val="6403"/>
              </a:lnSpc>
            </a:pPr>
            <a:r>
              <a:rPr lang="en-US" sz="5380" b="1">
                <a:solidFill>
                  <a:srgbClr val="1C2120"/>
                </a:solidFill>
                <a:latin typeface="Montserrat Bold"/>
                <a:ea typeface="Montserrat Bold"/>
                <a:cs typeface="Montserrat Bold"/>
                <a:sym typeface="Montserrat Bold"/>
              </a:rPr>
              <a:t>Data Acquisition</a:t>
            </a:r>
          </a:p>
        </p:txBody>
      </p:sp>
      <p:sp>
        <p:nvSpPr>
          <p:cNvPr id="6" name="TextBox 6"/>
          <p:cNvSpPr txBox="1"/>
          <p:nvPr/>
        </p:nvSpPr>
        <p:spPr>
          <a:xfrm>
            <a:off x="723567" y="1615966"/>
            <a:ext cx="12916234" cy="979114"/>
          </a:xfrm>
          <a:prstGeom prst="rect">
            <a:avLst/>
          </a:prstGeom>
        </p:spPr>
        <p:txBody>
          <a:bodyPr wrap="square" lIns="0" tIns="0" rIns="0" bIns="0" rtlCol="0" anchor="t">
            <a:spAutoFit/>
          </a:bodyPr>
          <a:lstStyle/>
          <a:p>
            <a:pPr algn="l">
              <a:lnSpc>
                <a:spcPts val="2632"/>
              </a:lnSpc>
              <a:spcBef>
                <a:spcPct val="0"/>
              </a:spcBef>
            </a:pPr>
            <a:r>
              <a:rPr lang="en-US" sz="1880" dirty="0">
                <a:solidFill>
                  <a:srgbClr val="000000"/>
                </a:solidFill>
                <a:latin typeface="Open Sans"/>
                <a:ea typeface="Open Sans"/>
                <a:cs typeface="Open Sans"/>
                <a:sym typeface="Open Sans"/>
              </a:rPr>
              <a:t>We used a publicly available EEG dataset containing imagined speech trials from multiple subjects. The dataset was collected using the </a:t>
            </a:r>
            <a:r>
              <a:rPr lang="en-US" sz="1880" dirty="0" err="1">
                <a:solidFill>
                  <a:srgbClr val="000000"/>
                </a:solidFill>
                <a:latin typeface="Open Sans"/>
                <a:ea typeface="Open Sans"/>
                <a:cs typeface="Open Sans"/>
                <a:sym typeface="Open Sans"/>
              </a:rPr>
              <a:t>Emotiv</a:t>
            </a:r>
            <a:r>
              <a:rPr lang="en-US" sz="1880" dirty="0">
                <a:solidFill>
                  <a:srgbClr val="000000"/>
                </a:solidFill>
                <a:latin typeface="Open Sans"/>
                <a:ea typeface="Open Sans"/>
                <a:cs typeface="Open Sans"/>
                <a:sym typeface="Open Sans"/>
              </a:rPr>
              <a:t> EPOC+ headset, a non-invasive EEG device with 14 electrodes and a sampling frequency of 256 Hz.</a:t>
            </a:r>
          </a:p>
        </p:txBody>
      </p:sp>
      <p:sp>
        <p:nvSpPr>
          <p:cNvPr id="7" name="TextBox 7"/>
          <p:cNvSpPr txBox="1"/>
          <p:nvPr/>
        </p:nvSpPr>
        <p:spPr>
          <a:xfrm>
            <a:off x="4800408" y="9630261"/>
            <a:ext cx="7848652" cy="653288"/>
          </a:xfrm>
          <a:prstGeom prst="rect">
            <a:avLst/>
          </a:prstGeom>
        </p:spPr>
        <p:txBody>
          <a:bodyPr lIns="0" tIns="0" rIns="0" bIns="0" rtlCol="0" anchor="t">
            <a:spAutoFit/>
          </a:bodyPr>
          <a:lstStyle/>
          <a:p>
            <a:pPr algn="l">
              <a:lnSpc>
                <a:spcPts val="1792"/>
              </a:lnSpc>
            </a:pPr>
            <a:r>
              <a:rPr lang="en-US" sz="1280">
                <a:solidFill>
                  <a:srgbClr val="000000"/>
                </a:solidFill>
                <a:latin typeface="Open Sans"/>
                <a:ea typeface="Open Sans"/>
                <a:cs typeface="Open Sans"/>
                <a:sym typeface="Open Sans"/>
              </a:rPr>
              <a:t>[A] The cross indicates that the participant must focus intently on the screen. [B] Word is presented. </a:t>
            </a:r>
          </a:p>
          <a:p>
            <a:pPr algn="l">
              <a:lnSpc>
                <a:spcPts val="1792"/>
              </a:lnSpc>
            </a:pPr>
            <a:r>
              <a:rPr lang="en-US" sz="1280">
                <a:solidFill>
                  <a:srgbClr val="000000"/>
                </a:solidFill>
                <a:latin typeface="Open Sans"/>
                <a:ea typeface="Open Sans"/>
                <a:cs typeface="Open Sans"/>
                <a:sym typeface="Open Sans"/>
              </a:rPr>
              <a:t>[C] Participant imagines the word. [D] Participant after imagination is in the rest/idle state.</a:t>
            </a:r>
          </a:p>
          <a:p>
            <a:pPr algn="l">
              <a:lnSpc>
                <a:spcPts val="1792"/>
              </a:lnSpc>
              <a:spcBef>
                <a:spcPct val="0"/>
              </a:spcBef>
            </a:pPr>
            <a:endParaRPr lang="en-US" sz="1280">
              <a:solidFill>
                <a:srgbClr val="000000"/>
              </a:solidFill>
              <a:latin typeface="Open Sans"/>
              <a:ea typeface="Open Sans"/>
              <a:cs typeface="Open Sans"/>
              <a:sym typeface="Open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207604" y="610946"/>
            <a:ext cx="6524775" cy="816459"/>
            <a:chOff x="0" y="0"/>
            <a:chExt cx="1718459" cy="215034"/>
          </a:xfrm>
        </p:grpSpPr>
        <p:sp>
          <p:nvSpPr>
            <p:cNvPr id="3" name="Freeform 3"/>
            <p:cNvSpPr/>
            <p:nvPr/>
          </p:nvSpPr>
          <p:spPr>
            <a:xfrm>
              <a:off x="0" y="0"/>
              <a:ext cx="1718459" cy="215034"/>
            </a:xfrm>
            <a:custGeom>
              <a:avLst/>
              <a:gdLst/>
              <a:ahLst/>
              <a:cxnLst/>
              <a:rect l="l" t="t" r="r" b="b"/>
              <a:pathLst>
                <a:path w="1718459" h="215034">
                  <a:moveTo>
                    <a:pt x="0" y="0"/>
                  </a:moveTo>
                  <a:lnTo>
                    <a:pt x="1718459" y="0"/>
                  </a:lnTo>
                  <a:lnTo>
                    <a:pt x="1718459" y="215034"/>
                  </a:lnTo>
                  <a:lnTo>
                    <a:pt x="0" y="215034"/>
                  </a:lnTo>
                  <a:close/>
                </a:path>
              </a:pathLst>
            </a:custGeom>
            <a:solidFill>
              <a:srgbClr val="55FF4D"/>
            </a:solidFill>
          </p:spPr>
          <p:txBody>
            <a:bodyPr/>
            <a:lstStyle/>
            <a:p>
              <a:endParaRPr lang="en-US"/>
            </a:p>
          </p:txBody>
        </p:sp>
        <p:sp>
          <p:nvSpPr>
            <p:cNvPr id="4" name="TextBox 4"/>
            <p:cNvSpPr txBox="1"/>
            <p:nvPr/>
          </p:nvSpPr>
          <p:spPr>
            <a:xfrm>
              <a:off x="0" y="-28575"/>
              <a:ext cx="1718459" cy="243609"/>
            </a:xfrm>
            <a:prstGeom prst="rect">
              <a:avLst/>
            </a:prstGeom>
          </p:spPr>
          <p:txBody>
            <a:bodyPr lIns="50800" tIns="50800" rIns="50800" bIns="50800" rtlCol="0" anchor="ctr"/>
            <a:lstStyle/>
            <a:p>
              <a:pPr algn="ctr">
                <a:lnSpc>
                  <a:spcPts val="2243"/>
                </a:lnSpc>
              </a:pPr>
              <a:endParaRPr/>
            </a:p>
          </p:txBody>
        </p:sp>
      </p:grpSp>
      <p:sp>
        <p:nvSpPr>
          <p:cNvPr id="5" name="TextBox 5"/>
          <p:cNvSpPr txBox="1"/>
          <p:nvPr/>
        </p:nvSpPr>
        <p:spPr>
          <a:xfrm>
            <a:off x="894918" y="610946"/>
            <a:ext cx="15756366" cy="816459"/>
          </a:xfrm>
          <a:prstGeom prst="rect">
            <a:avLst/>
          </a:prstGeom>
        </p:spPr>
        <p:txBody>
          <a:bodyPr lIns="0" tIns="0" rIns="0" bIns="0" rtlCol="0" anchor="t">
            <a:spAutoFit/>
          </a:bodyPr>
          <a:lstStyle/>
          <a:p>
            <a:pPr algn="l">
              <a:lnSpc>
                <a:spcPts val="6403"/>
              </a:lnSpc>
            </a:pPr>
            <a:r>
              <a:rPr lang="en-US" sz="5380" b="1">
                <a:solidFill>
                  <a:srgbClr val="1C2120"/>
                </a:solidFill>
                <a:latin typeface="Montserrat Bold"/>
                <a:ea typeface="Montserrat Bold"/>
                <a:cs typeface="Montserrat Bold"/>
                <a:sym typeface="Montserrat Bold"/>
              </a:rPr>
              <a:t>Preprocessing &amp; Signal Cleaning</a:t>
            </a:r>
          </a:p>
        </p:txBody>
      </p:sp>
      <p:sp>
        <p:nvSpPr>
          <p:cNvPr id="6" name="Freeform 6"/>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2"/>
            <a:stretch>
              <a:fillRect t="-10270" b="-14099"/>
            </a:stretch>
          </a:blipFill>
        </p:spPr>
        <p:txBody>
          <a:bodyPr/>
          <a:lstStyle/>
          <a:p>
            <a:endParaRPr lang="en-US"/>
          </a:p>
        </p:txBody>
      </p:sp>
      <p:sp>
        <p:nvSpPr>
          <p:cNvPr id="7" name="Freeform 7"/>
          <p:cNvSpPr/>
          <p:nvPr/>
        </p:nvSpPr>
        <p:spPr>
          <a:xfrm>
            <a:off x="8107442" y="5553040"/>
            <a:ext cx="10180558" cy="4733960"/>
          </a:xfrm>
          <a:custGeom>
            <a:avLst/>
            <a:gdLst/>
            <a:ahLst/>
            <a:cxnLst/>
            <a:rect l="l" t="t" r="r" b="b"/>
            <a:pathLst>
              <a:path w="10180558" h="4733960">
                <a:moveTo>
                  <a:pt x="0" y="0"/>
                </a:moveTo>
                <a:lnTo>
                  <a:pt x="10180558" y="0"/>
                </a:lnTo>
                <a:lnTo>
                  <a:pt x="10180558" y="4733960"/>
                </a:lnTo>
                <a:lnTo>
                  <a:pt x="0" y="4733960"/>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827824" y="3137395"/>
            <a:ext cx="16632352" cy="2323973"/>
          </a:xfrm>
          <a:prstGeom prst="rect">
            <a:avLst/>
          </a:prstGeom>
        </p:spPr>
        <p:txBody>
          <a:bodyPr lIns="0" tIns="0" rIns="0" bIns="0" rtlCol="0" anchor="t">
            <a:spAutoFit/>
          </a:bodyPr>
          <a:lstStyle/>
          <a:p>
            <a:pPr marL="0" lvl="0" indent="0" algn="l">
              <a:lnSpc>
                <a:spcPts val="2632"/>
              </a:lnSpc>
              <a:spcBef>
                <a:spcPct val="0"/>
              </a:spcBef>
            </a:pPr>
            <a:r>
              <a:rPr lang="en-US" sz="1880" u="none" strike="noStrike" dirty="0">
                <a:solidFill>
                  <a:srgbClr val="1C2120"/>
                </a:solidFill>
                <a:latin typeface="Open Sans"/>
                <a:ea typeface="Open Sans"/>
                <a:cs typeface="Open Sans"/>
                <a:sym typeface="Open Sans"/>
              </a:rPr>
              <a:t>Preprocessing Steps:</a:t>
            </a:r>
          </a:p>
          <a:p>
            <a:pPr marL="0" lvl="0" indent="0" algn="l">
              <a:lnSpc>
                <a:spcPts val="2632"/>
              </a:lnSpc>
              <a:spcBef>
                <a:spcPct val="0"/>
              </a:spcBef>
            </a:pPr>
            <a:r>
              <a:rPr lang="en-US" sz="1880" u="none" strike="noStrike" dirty="0">
                <a:solidFill>
                  <a:srgbClr val="1C2120"/>
                </a:solidFill>
                <a:latin typeface="Open Sans"/>
                <a:ea typeface="Open Sans"/>
                <a:cs typeface="Open Sans"/>
                <a:sym typeface="Open Sans"/>
              </a:rPr>
              <a:t>✔ Bandpass Filtering (1–50 Hz) – Removes high-frequency noise, preserving meaningful EEG signals.</a:t>
            </a:r>
          </a:p>
          <a:p>
            <a:pPr marL="0" lvl="0" indent="0" algn="l">
              <a:lnSpc>
                <a:spcPts val="2632"/>
              </a:lnSpc>
              <a:spcBef>
                <a:spcPct val="0"/>
              </a:spcBef>
            </a:pPr>
            <a:r>
              <a:rPr lang="en-US" sz="1880" u="none" strike="noStrike" dirty="0">
                <a:solidFill>
                  <a:srgbClr val="1C2120"/>
                </a:solidFill>
                <a:latin typeface="Open Sans"/>
                <a:ea typeface="Open Sans"/>
                <a:cs typeface="Open Sans"/>
                <a:sym typeface="Open Sans"/>
              </a:rPr>
              <a:t>✔ Notch Filtering (50/60 Hz) – Eliminates power line interference (50 Hz for EU, 60 Hz for US).</a:t>
            </a:r>
          </a:p>
          <a:p>
            <a:pPr marL="0" lvl="0" indent="0" algn="l">
              <a:lnSpc>
                <a:spcPts val="2632"/>
              </a:lnSpc>
              <a:spcBef>
                <a:spcPct val="0"/>
              </a:spcBef>
            </a:pPr>
            <a:r>
              <a:rPr lang="en-US" sz="1880" u="none" strike="noStrike" dirty="0">
                <a:solidFill>
                  <a:srgbClr val="1C2120"/>
                </a:solidFill>
                <a:latin typeface="Open Sans"/>
                <a:ea typeface="Open Sans"/>
                <a:cs typeface="Open Sans"/>
                <a:sym typeface="Open Sans"/>
              </a:rPr>
              <a:t>✔ Artifact Removal (ICA - Independent Component Analysis) – Detects and removes artifacts from eye blinks and muscle activity.</a:t>
            </a:r>
          </a:p>
          <a:p>
            <a:pPr marL="0" lvl="0" indent="0" algn="l">
              <a:lnSpc>
                <a:spcPts val="2632"/>
              </a:lnSpc>
              <a:spcBef>
                <a:spcPct val="0"/>
              </a:spcBef>
            </a:pPr>
            <a:r>
              <a:rPr lang="en-US" sz="1880" u="none" strike="noStrike" dirty="0">
                <a:solidFill>
                  <a:srgbClr val="1C2120"/>
                </a:solidFill>
                <a:latin typeface="Open Sans"/>
                <a:ea typeface="Open Sans"/>
                <a:cs typeface="Open Sans"/>
                <a:sym typeface="Open Sans"/>
              </a:rPr>
              <a:t>✔ </a:t>
            </a:r>
            <a:r>
              <a:rPr lang="en-US" sz="1880" u="none" strike="noStrike" dirty="0" err="1">
                <a:solidFill>
                  <a:srgbClr val="1C2120"/>
                </a:solidFill>
                <a:latin typeface="Open Sans"/>
                <a:ea typeface="Open Sans"/>
                <a:cs typeface="Open Sans"/>
                <a:sym typeface="Open Sans"/>
              </a:rPr>
              <a:t>Epoching</a:t>
            </a:r>
            <a:r>
              <a:rPr lang="en-US" sz="1880" u="none" strike="noStrike" dirty="0">
                <a:solidFill>
                  <a:srgbClr val="1C2120"/>
                </a:solidFill>
                <a:latin typeface="Open Sans"/>
                <a:ea typeface="Open Sans"/>
                <a:cs typeface="Open Sans"/>
                <a:sym typeface="Open Sans"/>
              </a:rPr>
              <a:t> – Segments continuous EEG data into 1-second epochs (256 samples per epoch) for structured analysis.</a:t>
            </a:r>
          </a:p>
          <a:p>
            <a:pPr marL="0" lvl="0" indent="0" algn="l">
              <a:lnSpc>
                <a:spcPts val="2632"/>
              </a:lnSpc>
              <a:spcBef>
                <a:spcPct val="0"/>
              </a:spcBef>
            </a:pPr>
            <a:r>
              <a:rPr lang="en-US" sz="1880" u="none" strike="noStrike" dirty="0">
                <a:solidFill>
                  <a:srgbClr val="1C2120"/>
                </a:solidFill>
                <a:latin typeface="Open Sans"/>
                <a:ea typeface="Open Sans"/>
                <a:cs typeface="Open Sans"/>
                <a:sym typeface="Open Sans"/>
              </a:rPr>
              <a:t>✔ Data Augmentation (Sliding Window) – Expands the dataset from 1,000 to 5,000 trials using a 128-sample window with a 32-sample overlap, improving model generalization.</a:t>
            </a:r>
          </a:p>
        </p:txBody>
      </p:sp>
      <p:sp>
        <p:nvSpPr>
          <p:cNvPr id="9" name="TextBox 9"/>
          <p:cNvSpPr txBox="1"/>
          <p:nvPr/>
        </p:nvSpPr>
        <p:spPr>
          <a:xfrm>
            <a:off x="894918" y="2175414"/>
            <a:ext cx="15859701" cy="657098"/>
          </a:xfrm>
          <a:prstGeom prst="rect">
            <a:avLst/>
          </a:prstGeom>
        </p:spPr>
        <p:txBody>
          <a:bodyPr lIns="0" tIns="0" rIns="0" bIns="0" rtlCol="0" anchor="t">
            <a:spAutoFit/>
          </a:bodyPr>
          <a:lstStyle/>
          <a:p>
            <a:pPr algn="l">
              <a:lnSpc>
                <a:spcPts val="2632"/>
              </a:lnSpc>
              <a:spcBef>
                <a:spcPct val="0"/>
              </a:spcBef>
            </a:pPr>
            <a:r>
              <a:rPr lang="en-US" sz="1880" dirty="0">
                <a:solidFill>
                  <a:srgbClr val="000000"/>
                </a:solidFill>
                <a:latin typeface="Open Sans"/>
                <a:ea typeface="Open Sans"/>
                <a:cs typeface="Open Sans"/>
                <a:sym typeface="Open Sans"/>
              </a:rPr>
              <a:t>EEG data is highly susceptible to </a:t>
            </a:r>
            <a:r>
              <a:rPr lang="en-US" sz="1880" b="1" i="1" dirty="0">
                <a:solidFill>
                  <a:srgbClr val="000000"/>
                </a:solidFill>
                <a:latin typeface="Open Sans Bold Italics"/>
                <a:ea typeface="Open Sans Bold Italics"/>
                <a:cs typeface="Open Sans Bold Italics"/>
                <a:sym typeface="Open Sans Bold Italics"/>
              </a:rPr>
              <a:t>noise and artifacts</a:t>
            </a:r>
            <a:r>
              <a:rPr lang="en-US" sz="1880" dirty="0">
                <a:solidFill>
                  <a:srgbClr val="000000"/>
                </a:solidFill>
                <a:latin typeface="Open Sans"/>
                <a:ea typeface="Open Sans"/>
                <a:cs typeface="Open Sans"/>
                <a:sym typeface="Open Sans"/>
              </a:rPr>
              <a:t> from </a:t>
            </a:r>
            <a:r>
              <a:rPr lang="en-US" sz="1880" b="1" i="1" dirty="0">
                <a:solidFill>
                  <a:srgbClr val="000000"/>
                </a:solidFill>
                <a:latin typeface="Open Sans Bold Italics"/>
                <a:ea typeface="Open Sans Bold Italics"/>
                <a:cs typeface="Open Sans Bold Italics"/>
                <a:sym typeface="Open Sans Bold Italics"/>
              </a:rPr>
              <a:t>eye movements</a:t>
            </a:r>
            <a:r>
              <a:rPr lang="en-US" sz="1880" dirty="0">
                <a:solidFill>
                  <a:srgbClr val="000000"/>
                </a:solidFill>
                <a:latin typeface="Open Sans"/>
                <a:ea typeface="Open Sans"/>
                <a:cs typeface="Open Sans"/>
                <a:sym typeface="Open Sans"/>
              </a:rPr>
              <a:t>, </a:t>
            </a:r>
            <a:r>
              <a:rPr lang="en-US" sz="1880" b="1" i="1" dirty="0">
                <a:solidFill>
                  <a:srgbClr val="000000"/>
                </a:solidFill>
                <a:latin typeface="Open Sans Bold Italics"/>
                <a:ea typeface="Open Sans Bold Italics"/>
                <a:cs typeface="Open Sans Bold Italics"/>
                <a:sym typeface="Open Sans Bold Italics"/>
              </a:rPr>
              <a:t>muscle contractions</a:t>
            </a:r>
            <a:r>
              <a:rPr lang="en-US" sz="1880" dirty="0">
                <a:solidFill>
                  <a:srgbClr val="000000"/>
                </a:solidFill>
                <a:latin typeface="Open Sans"/>
                <a:ea typeface="Open Sans"/>
                <a:cs typeface="Open Sans"/>
                <a:sym typeface="Open Sans"/>
              </a:rPr>
              <a:t>, and </a:t>
            </a:r>
            <a:r>
              <a:rPr lang="en-US" sz="1880" b="1" i="1" dirty="0">
                <a:solidFill>
                  <a:srgbClr val="000000"/>
                </a:solidFill>
                <a:latin typeface="Open Sans Bold Italics"/>
                <a:ea typeface="Open Sans Bold Italics"/>
                <a:cs typeface="Open Sans Bold Italics"/>
                <a:sym typeface="Open Sans Bold Italics"/>
              </a:rPr>
              <a:t>external interferences</a:t>
            </a:r>
            <a:r>
              <a:rPr lang="en-US" sz="1880" dirty="0">
                <a:solidFill>
                  <a:srgbClr val="000000"/>
                </a:solidFill>
                <a:latin typeface="Open Sans"/>
                <a:ea typeface="Open Sans"/>
                <a:cs typeface="Open Sans"/>
                <a:sym typeface="Open Sans"/>
              </a:rPr>
              <a:t>. Preprocessing maximize </a:t>
            </a:r>
            <a:r>
              <a:rPr lang="en-US" sz="1880" i="1" dirty="0">
                <a:solidFill>
                  <a:srgbClr val="000000"/>
                </a:solidFill>
                <a:latin typeface="Open Sans Italics"/>
                <a:ea typeface="Open Sans Italics"/>
                <a:cs typeface="Open Sans Italics"/>
                <a:sym typeface="Open Sans Italics"/>
              </a:rPr>
              <a:t>high signal-to-noise ratio (SNR)</a:t>
            </a:r>
            <a:r>
              <a:rPr lang="en-US" sz="1880" dirty="0">
                <a:solidFill>
                  <a:srgbClr val="000000"/>
                </a:solidFill>
                <a:latin typeface="Open Sans"/>
                <a:ea typeface="Open Sans"/>
                <a:cs typeface="Open Sans"/>
                <a:sym typeface="Open Sans"/>
              </a:rPr>
              <a:t>, making it possible to decode imagined speech accurately.</a:t>
            </a:r>
          </a:p>
        </p:txBody>
      </p:sp>
      <p:sp>
        <p:nvSpPr>
          <p:cNvPr id="10" name="TextBox 10"/>
          <p:cNvSpPr txBox="1"/>
          <p:nvPr/>
        </p:nvSpPr>
        <p:spPr>
          <a:xfrm>
            <a:off x="1028700" y="8427566"/>
            <a:ext cx="6565664" cy="1245870"/>
          </a:xfrm>
          <a:prstGeom prst="rect">
            <a:avLst/>
          </a:prstGeom>
        </p:spPr>
        <p:txBody>
          <a:bodyPr lIns="0" tIns="0" rIns="0" bIns="0" rtlCol="0" anchor="t">
            <a:spAutoFit/>
          </a:bodyPr>
          <a:lstStyle/>
          <a:p>
            <a:pPr algn="l">
              <a:lnSpc>
                <a:spcPts val="1679"/>
              </a:lnSpc>
            </a:pPr>
            <a:r>
              <a:rPr lang="en-US" sz="1200">
                <a:solidFill>
                  <a:srgbClr val="000000"/>
                </a:solidFill>
                <a:latin typeface="Open Sans"/>
                <a:ea typeface="Open Sans"/>
                <a:cs typeface="Open Sans"/>
                <a:sym typeface="Open Sans"/>
              </a:rPr>
              <a:t>Raw Data: At 256 Hz, i.e. 256,000 / 256 ≈ 1,000 seconds of data.</a:t>
            </a:r>
          </a:p>
          <a:p>
            <a:pPr algn="l">
              <a:lnSpc>
                <a:spcPts val="1679"/>
              </a:lnSpc>
            </a:pPr>
            <a:r>
              <a:rPr lang="en-US" sz="1200">
                <a:solidFill>
                  <a:srgbClr val="000000"/>
                </a:solidFill>
                <a:latin typeface="Open Sans"/>
                <a:ea typeface="Open Sans"/>
                <a:cs typeface="Open Sans"/>
                <a:sym typeface="Open Sans"/>
              </a:rPr>
              <a:t>Pre-processed Data: </a:t>
            </a:r>
          </a:p>
          <a:p>
            <a:pPr algn="l">
              <a:lnSpc>
                <a:spcPts val="1679"/>
              </a:lnSpc>
            </a:pPr>
            <a:r>
              <a:rPr lang="en-US" sz="1200">
                <a:solidFill>
                  <a:srgbClr val="000000"/>
                </a:solidFill>
                <a:latin typeface="Open Sans"/>
                <a:ea typeface="Open Sans"/>
                <a:cs typeface="Open Sans"/>
                <a:sym typeface="Open Sans"/>
              </a:rPr>
              <a:t>Augmentation → 5000 trials × 128 samples each = 640,000 total samples.</a:t>
            </a:r>
          </a:p>
          <a:p>
            <a:pPr algn="l">
              <a:lnSpc>
                <a:spcPts val="1679"/>
              </a:lnSpc>
            </a:pPr>
            <a:r>
              <a:rPr lang="en-US" sz="1200">
                <a:solidFill>
                  <a:srgbClr val="000000"/>
                </a:solidFill>
                <a:latin typeface="Open Sans"/>
                <a:ea typeface="Open Sans"/>
                <a:cs typeface="Open Sans"/>
                <a:sym typeface="Open Sans"/>
              </a:rPr>
              <a:t>At 256 Hz, i.e 640,000 / 256 ≈ 2,500 seconds—data</a:t>
            </a:r>
          </a:p>
          <a:p>
            <a:pPr algn="l">
              <a:lnSpc>
                <a:spcPts val="1679"/>
              </a:lnSpc>
            </a:pPr>
            <a:endParaRPr lang="en-US" sz="1200">
              <a:solidFill>
                <a:srgbClr val="000000"/>
              </a:solidFill>
              <a:latin typeface="Open Sans"/>
              <a:ea typeface="Open Sans"/>
              <a:cs typeface="Open Sans"/>
              <a:sym typeface="Open Sans"/>
            </a:endParaRPr>
          </a:p>
          <a:p>
            <a:pPr algn="l">
              <a:lnSpc>
                <a:spcPts val="1679"/>
              </a:lnSpc>
              <a:spcBef>
                <a:spcPct val="0"/>
              </a:spcBef>
            </a:pPr>
            <a:endParaRPr lang="en-US" sz="1200">
              <a:solidFill>
                <a:srgbClr val="000000"/>
              </a:solidFill>
              <a:latin typeface="Open Sans"/>
              <a:ea typeface="Open Sans"/>
              <a:cs typeface="Open Sans"/>
              <a:sym typeface="Open Sans"/>
            </a:endParaRPr>
          </a:p>
        </p:txBody>
      </p:sp>
      <p:sp>
        <p:nvSpPr>
          <p:cNvPr id="11" name="AutoShape 11"/>
          <p:cNvSpPr/>
          <p:nvPr/>
        </p:nvSpPr>
        <p:spPr>
          <a:xfrm>
            <a:off x="894918" y="1427404"/>
            <a:ext cx="11837462" cy="0"/>
          </a:xfrm>
          <a:prstGeom prst="line">
            <a:avLst/>
          </a:prstGeom>
          <a:ln w="38100" cap="flat">
            <a:solidFill>
              <a:srgbClr val="55FF4D"/>
            </a:solidFill>
            <a:prstDash val="solid"/>
            <a:headEnd type="none" w="sm" len="sm"/>
            <a:tailEnd type="none" w="sm" len="sm"/>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94918" y="620471"/>
            <a:ext cx="15756366" cy="816459"/>
          </a:xfrm>
          <a:prstGeom prst="rect">
            <a:avLst/>
          </a:prstGeom>
        </p:spPr>
        <p:txBody>
          <a:bodyPr lIns="0" tIns="0" rIns="0" bIns="0" rtlCol="0" anchor="t">
            <a:spAutoFit/>
          </a:bodyPr>
          <a:lstStyle/>
          <a:p>
            <a:pPr algn="l">
              <a:lnSpc>
                <a:spcPts val="6403"/>
              </a:lnSpc>
            </a:pPr>
            <a:r>
              <a:rPr lang="en-US" sz="5380" b="1">
                <a:solidFill>
                  <a:srgbClr val="1C2120"/>
                </a:solidFill>
                <a:latin typeface="Montserrat Bold"/>
                <a:ea typeface="Montserrat Bold"/>
                <a:cs typeface="Montserrat Bold"/>
                <a:sym typeface="Montserrat Bold"/>
              </a:rPr>
              <a:t>Feature Extraction</a:t>
            </a:r>
          </a:p>
        </p:txBody>
      </p:sp>
      <p:sp>
        <p:nvSpPr>
          <p:cNvPr id="3" name="TextBox 3"/>
          <p:cNvSpPr txBox="1"/>
          <p:nvPr/>
        </p:nvSpPr>
        <p:spPr>
          <a:xfrm>
            <a:off x="894918" y="1716848"/>
            <a:ext cx="11092877" cy="7324598"/>
          </a:xfrm>
          <a:prstGeom prst="rect">
            <a:avLst/>
          </a:prstGeom>
        </p:spPr>
        <p:txBody>
          <a:bodyPr lIns="0" tIns="0" rIns="0" bIns="0" rtlCol="0" anchor="t">
            <a:spAutoFit/>
          </a:bodyPr>
          <a:lstStyle/>
          <a:p>
            <a:pPr algn="l">
              <a:lnSpc>
                <a:spcPts val="2632"/>
              </a:lnSpc>
            </a:pPr>
            <a:r>
              <a:rPr lang="en-US" sz="1880" b="1" dirty="0">
                <a:solidFill>
                  <a:srgbClr val="000000"/>
                </a:solidFill>
                <a:latin typeface="Open Sans Bold"/>
                <a:ea typeface="Open Sans Bold"/>
                <a:cs typeface="Open Sans Bold"/>
                <a:sym typeface="Open Sans Bold"/>
              </a:rPr>
              <a:t> 1️⃣ Frequency-Based Features (FFT)</a:t>
            </a:r>
          </a:p>
          <a:p>
            <a:pPr marL="405893" lvl="1" indent="-202946" algn="l">
              <a:lnSpc>
                <a:spcPts val="2632"/>
              </a:lnSpc>
              <a:buFont typeface="Arial"/>
              <a:buChar char="•"/>
            </a:pPr>
            <a:r>
              <a:rPr lang="en-US" sz="1880" b="1" i="1" dirty="0">
                <a:solidFill>
                  <a:srgbClr val="000000"/>
                </a:solidFill>
                <a:latin typeface="Open Sans Bold Italics"/>
                <a:ea typeface="Open Sans Bold Italics"/>
                <a:cs typeface="Open Sans Bold Italics"/>
                <a:sym typeface="Open Sans Bold Italics"/>
              </a:rPr>
              <a:t>Fast Fourier Transform (FFT)</a:t>
            </a:r>
            <a:r>
              <a:rPr lang="en-US" sz="1880" dirty="0">
                <a:solidFill>
                  <a:srgbClr val="000000"/>
                </a:solidFill>
                <a:latin typeface="Open Sans"/>
                <a:ea typeface="Open Sans"/>
                <a:cs typeface="Open Sans"/>
                <a:sym typeface="Open Sans"/>
              </a:rPr>
              <a:t> converts EEG signals from time domain to frequency domain to extract spectral features.</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Extracted EEG frequency bands:</a:t>
            </a:r>
          </a:p>
          <a:p>
            <a:pPr marL="811785" lvl="2" indent="-270595" algn="l">
              <a:lnSpc>
                <a:spcPts val="2632"/>
              </a:lnSpc>
              <a:buFont typeface="Arial"/>
              <a:buChar char="⚬"/>
            </a:pPr>
            <a:r>
              <a:rPr lang="en-US" sz="1880" dirty="0">
                <a:solidFill>
                  <a:srgbClr val="000000"/>
                </a:solidFill>
                <a:latin typeface="Open Sans"/>
                <a:ea typeface="Open Sans"/>
                <a:cs typeface="Open Sans"/>
                <a:sym typeface="Open Sans"/>
              </a:rPr>
              <a:t>Delta (0.5–4 Hz) – Deep relaxation &amp; sleep</a:t>
            </a:r>
          </a:p>
          <a:p>
            <a:pPr marL="811785" lvl="2" indent="-270595" algn="l">
              <a:lnSpc>
                <a:spcPts val="2632"/>
              </a:lnSpc>
              <a:buFont typeface="Arial"/>
              <a:buChar char="⚬"/>
            </a:pPr>
            <a:r>
              <a:rPr lang="en-US" sz="1880" dirty="0">
                <a:solidFill>
                  <a:srgbClr val="000000"/>
                </a:solidFill>
                <a:latin typeface="Open Sans"/>
                <a:ea typeface="Open Sans"/>
                <a:cs typeface="Open Sans"/>
                <a:sym typeface="Open Sans"/>
              </a:rPr>
              <a:t>Theta (4–8 Hz) – Cognitive workload</a:t>
            </a:r>
          </a:p>
          <a:p>
            <a:pPr marL="811785" lvl="2" indent="-270595" algn="l">
              <a:lnSpc>
                <a:spcPts val="2632"/>
              </a:lnSpc>
              <a:buFont typeface="Arial"/>
              <a:buChar char="⚬"/>
            </a:pPr>
            <a:r>
              <a:rPr lang="en-US" sz="1880" dirty="0">
                <a:solidFill>
                  <a:srgbClr val="000000"/>
                </a:solidFill>
                <a:latin typeface="Open Sans"/>
                <a:ea typeface="Open Sans"/>
                <a:cs typeface="Open Sans"/>
                <a:sym typeface="Open Sans"/>
              </a:rPr>
              <a:t>Alpha (8–12 Hz) – Attention &amp; focused mental state</a:t>
            </a:r>
          </a:p>
          <a:p>
            <a:pPr marL="811785" lvl="2" indent="-270595" algn="l">
              <a:lnSpc>
                <a:spcPts val="2632"/>
              </a:lnSpc>
              <a:buFont typeface="Arial"/>
              <a:buChar char="⚬"/>
            </a:pPr>
            <a:r>
              <a:rPr lang="en-US" sz="1880" dirty="0">
                <a:solidFill>
                  <a:srgbClr val="000000"/>
                </a:solidFill>
                <a:latin typeface="Open Sans"/>
                <a:ea typeface="Open Sans"/>
                <a:cs typeface="Open Sans"/>
                <a:sym typeface="Open Sans"/>
              </a:rPr>
              <a:t>Beta (12–30 Hz) – Active thinking</a:t>
            </a:r>
          </a:p>
          <a:p>
            <a:pPr marL="811785" lvl="2" indent="-270595" algn="l">
              <a:lnSpc>
                <a:spcPts val="2632"/>
              </a:lnSpc>
              <a:buFont typeface="Arial"/>
              <a:buChar char="⚬"/>
            </a:pPr>
            <a:r>
              <a:rPr lang="en-US" sz="1880" dirty="0">
                <a:solidFill>
                  <a:srgbClr val="000000"/>
                </a:solidFill>
                <a:latin typeface="Open Sans"/>
                <a:ea typeface="Open Sans"/>
                <a:cs typeface="Open Sans"/>
                <a:sym typeface="Open Sans"/>
              </a:rPr>
              <a:t>Gamma (30–50 Hz) – Higher cognitive functions</a:t>
            </a:r>
          </a:p>
          <a:p>
            <a:pPr algn="l">
              <a:lnSpc>
                <a:spcPts val="2632"/>
              </a:lnSpc>
            </a:pPr>
            <a:endParaRPr lang="en-US" sz="1880" dirty="0">
              <a:solidFill>
                <a:srgbClr val="000000"/>
              </a:solidFill>
              <a:latin typeface="Open Sans"/>
              <a:ea typeface="Open Sans"/>
              <a:cs typeface="Open Sans"/>
              <a:sym typeface="Open Sans"/>
            </a:endParaRPr>
          </a:p>
          <a:p>
            <a:pPr algn="l">
              <a:lnSpc>
                <a:spcPts val="2632"/>
              </a:lnSpc>
            </a:pPr>
            <a:r>
              <a:rPr lang="en-US" sz="1880" dirty="0">
                <a:solidFill>
                  <a:srgbClr val="000000"/>
                </a:solidFill>
                <a:latin typeface="Open Sans"/>
                <a:ea typeface="Open Sans"/>
                <a:cs typeface="Open Sans"/>
                <a:sym typeface="Open Sans"/>
              </a:rPr>
              <a:t> 2️⃣ </a:t>
            </a:r>
            <a:r>
              <a:rPr lang="en-US" sz="1880" b="1" dirty="0">
                <a:solidFill>
                  <a:srgbClr val="000000"/>
                </a:solidFill>
                <a:latin typeface="Open Sans Bold"/>
                <a:ea typeface="Open Sans Bold"/>
                <a:cs typeface="Open Sans Bold"/>
                <a:sym typeface="Open Sans Bold"/>
              </a:rPr>
              <a:t>Connectivity-Based Features</a:t>
            </a:r>
          </a:p>
          <a:p>
            <a:pPr marL="405893" lvl="1" indent="-202946" algn="l">
              <a:lnSpc>
                <a:spcPts val="2632"/>
              </a:lnSpc>
              <a:buFont typeface="Arial"/>
              <a:buChar char="•"/>
            </a:pPr>
            <a:r>
              <a:rPr lang="en-US" sz="1880" b="1" i="1" dirty="0">
                <a:solidFill>
                  <a:srgbClr val="000000"/>
                </a:solidFill>
                <a:latin typeface="Open Sans Bold Italics"/>
                <a:ea typeface="Open Sans Bold Italics"/>
                <a:cs typeface="Open Sans Bold Italics"/>
                <a:sym typeface="Open Sans Bold Italics"/>
              </a:rPr>
              <a:t>Mean Phase Coherence (MPC)</a:t>
            </a:r>
            <a:r>
              <a:rPr lang="en-US" sz="1880" dirty="0">
                <a:solidFill>
                  <a:srgbClr val="000000"/>
                </a:solidFill>
                <a:latin typeface="Open Sans"/>
                <a:ea typeface="Open Sans"/>
                <a:cs typeface="Open Sans"/>
                <a:sym typeface="Open Sans"/>
              </a:rPr>
              <a:t>: Measures phase synchronization between EEG channels, improving classifier robustness by filtering out noise and mapping functional connectivity in speech-related brain regions.</a:t>
            </a:r>
          </a:p>
          <a:p>
            <a:pPr marL="405893" lvl="1" indent="-202946" algn="l">
              <a:lnSpc>
                <a:spcPts val="2632"/>
              </a:lnSpc>
              <a:buFont typeface="Arial"/>
              <a:buChar char="•"/>
            </a:pPr>
            <a:r>
              <a:rPr lang="en-US" sz="1880" b="1" i="1" dirty="0">
                <a:solidFill>
                  <a:srgbClr val="000000"/>
                </a:solidFill>
                <a:latin typeface="Open Sans Bold Italics"/>
                <a:ea typeface="Open Sans Bold Italics"/>
                <a:cs typeface="Open Sans Bold Italics"/>
                <a:sym typeface="Open Sans Bold Italics"/>
              </a:rPr>
              <a:t>Magnitude Squared Coherence (MSC)</a:t>
            </a:r>
            <a:r>
              <a:rPr lang="en-US" sz="1880" dirty="0">
                <a:solidFill>
                  <a:srgbClr val="000000"/>
                </a:solidFill>
                <a:latin typeface="Open Sans"/>
                <a:ea typeface="Open Sans"/>
                <a:cs typeface="Open Sans"/>
                <a:sym typeface="Open Sans"/>
              </a:rPr>
              <a:t>: Captures both amplitude and phase relationships, enhancing neural interaction detection while reducing false correlations.</a:t>
            </a:r>
          </a:p>
          <a:p>
            <a:pPr algn="l">
              <a:lnSpc>
                <a:spcPts val="2632"/>
              </a:lnSpc>
            </a:pPr>
            <a:endParaRPr lang="en-US" sz="1880" dirty="0">
              <a:solidFill>
                <a:srgbClr val="000000"/>
              </a:solidFill>
              <a:latin typeface="Open Sans"/>
              <a:ea typeface="Open Sans"/>
              <a:cs typeface="Open Sans"/>
              <a:sym typeface="Open Sans"/>
            </a:endParaRPr>
          </a:p>
          <a:p>
            <a:pPr algn="l">
              <a:lnSpc>
                <a:spcPts val="2632"/>
              </a:lnSpc>
            </a:pPr>
            <a:r>
              <a:rPr lang="en-US" sz="1880" dirty="0">
                <a:solidFill>
                  <a:srgbClr val="000000"/>
                </a:solidFill>
                <a:latin typeface="Open Sans"/>
                <a:ea typeface="Open Sans"/>
                <a:cs typeface="Open Sans"/>
                <a:sym typeface="Open Sans"/>
              </a:rPr>
              <a:t>3️⃣ </a:t>
            </a:r>
            <a:r>
              <a:rPr lang="en-US" sz="1880" b="1" dirty="0">
                <a:solidFill>
                  <a:srgbClr val="000000"/>
                </a:solidFill>
                <a:latin typeface="Open Sans Bold"/>
                <a:ea typeface="Open Sans Bold"/>
                <a:cs typeface="Open Sans Bold"/>
                <a:sym typeface="Open Sans Bold"/>
              </a:rPr>
              <a:t>Dimensionality Reduction (PCA)</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Reduced feature space from 546 to 110 features while retaining 95% variance.</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Benefits: Minimizes overfitting, improves computational efficiency, and enhances classification performance.</a:t>
            </a:r>
          </a:p>
          <a:p>
            <a:pPr algn="l">
              <a:lnSpc>
                <a:spcPts val="2632"/>
              </a:lnSpc>
              <a:spcBef>
                <a:spcPct val="0"/>
              </a:spcBef>
            </a:pPr>
            <a:endParaRPr lang="en-US" sz="1880" dirty="0">
              <a:solidFill>
                <a:srgbClr val="000000"/>
              </a:solidFill>
              <a:latin typeface="Open Sans"/>
              <a:ea typeface="Open Sans"/>
              <a:cs typeface="Open Sans"/>
              <a:sym typeface="Open Sans"/>
            </a:endParaRPr>
          </a:p>
        </p:txBody>
      </p:sp>
      <p:sp>
        <p:nvSpPr>
          <p:cNvPr id="4" name="Freeform 4"/>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2"/>
            <a:stretch>
              <a:fillRect t="-10270" b="-14099"/>
            </a:stretch>
          </a:blipFill>
        </p:spPr>
        <p:txBody>
          <a:bodyPr/>
          <a:lstStyle/>
          <a:p>
            <a:endParaRPr lang="en-US"/>
          </a:p>
        </p:txBody>
      </p:sp>
      <p:sp>
        <p:nvSpPr>
          <p:cNvPr id="5" name="Freeform 5"/>
          <p:cNvSpPr/>
          <p:nvPr/>
        </p:nvSpPr>
        <p:spPr>
          <a:xfrm>
            <a:off x="12947168" y="2819403"/>
            <a:ext cx="4352526" cy="4368602"/>
          </a:xfrm>
          <a:custGeom>
            <a:avLst/>
            <a:gdLst/>
            <a:ahLst/>
            <a:cxnLst/>
            <a:rect l="l" t="t" r="r" b="b"/>
            <a:pathLst>
              <a:path w="4352526" h="4368602">
                <a:moveTo>
                  <a:pt x="0" y="0"/>
                </a:moveTo>
                <a:lnTo>
                  <a:pt x="4352527" y="0"/>
                </a:lnTo>
                <a:lnTo>
                  <a:pt x="4352527" y="4368603"/>
                </a:lnTo>
                <a:lnTo>
                  <a:pt x="0" y="4368603"/>
                </a:lnTo>
                <a:lnTo>
                  <a:pt x="0" y="0"/>
                </a:lnTo>
                <a:close/>
              </a:path>
            </a:pathLst>
          </a:custGeom>
          <a:blipFill>
            <a:blip r:embed="rId3"/>
            <a:stretch>
              <a:fillRect/>
            </a:stretch>
          </a:blipFill>
        </p:spPr>
        <p:txBody>
          <a:bodyPr/>
          <a:lstStyle/>
          <a:p>
            <a:endParaRPr lang="en-US"/>
          </a:p>
        </p:txBody>
      </p:sp>
      <p:sp>
        <p:nvSpPr>
          <p:cNvPr id="6" name="TextBox 6"/>
          <p:cNvSpPr txBox="1"/>
          <p:nvPr/>
        </p:nvSpPr>
        <p:spPr>
          <a:xfrm>
            <a:off x="12563769" y="7448547"/>
            <a:ext cx="5391883" cy="944117"/>
          </a:xfrm>
          <a:prstGeom prst="rect">
            <a:avLst/>
          </a:prstGeom>
        </p:spPr>
        <p:txBody>
          <a:bodyPr lIns="0" tIns="0" rIns="0" bIns="0" rtlCol="0" anchor="t">
            <a:spAutoFit/>
          </a:bodyPr>
          <a:lstStyle/>
          <a:p>
            <a:pPr algn="l">
              <a:lnSpc>
                <a:spcPts val="1512"/>
              </a:lnSpc>
            </a:pPr>
            <a:r>
              <a:rPr lang="en-US" sz="1080">
                <a:solidFill>
                  <a:srgbClr val="000000"/>
                </a:solidFill>
                <a:latin typeface="Open Sans"/>
                <a:ea typeface="Open Sans"/>
                <a:cs typeface="Open Sans"/>
                <a:sym typeface="Open Sans"/>
              </a:rPr>
              <a:t>[A] Emotiv EPOC+ device used for EEG recording. [B] F3/F4 sensors placed 20mm above eyebrows for consistency. [C] M1/M2 dummy electrodes positioned on the mastoid process. [D] Participant in a hemi-anechoic environment, seated in isolation.</a:t>
            </a:r>
          </a:p>
          <a:p>
            <a:pPr algn="l">
              <a:lnSpc>
                <a:spcPts val="1512"/>
              </a:lnSpc>
              <a:spcBef>
                <a:spcPct val="0"/>
              </a:spcBef>
            </a:pPr>
            <a:endParaRPr lang="en-US" sz="1080">
              <a:solidFill>
                <a:srgbClr val="000000"/>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94918" y="418804"/>
            <a:ext cx="15756366" cy="816459"/>
          </a:xfrm>
          <a:prstGeom prst="rect">
            <a:avLst/>
          </a:prstGeom>
        </p:spPr>
        <p:txBody>
          <a:bodyPr lIns="0" tIns="0" rIns="0" bIns="0" rtlCol="0" anchor="t">
            <a:spAutoFit/>
          </a:bodyPr>
          <a:lstStyle/>
          <a:p>
            <a:pPr algn="l">
              <a:lnSpc>
                <a:spcPts val="6403"/>
              </a:lnSpc>
            </a:pPr>
            <a:r>
              <a:rPr lang="en-US" sz="5380" b="1">
                <a:solidFill>
                  <a:srgbClr val="1C2120"/>
                </a:solidFill>
                <a:latin typeface="Montserrat Bold"/>
                <a:ea typeface="Montserrat Bold"/>
                <a:cs typeface="Montserrat Bold"/>
                <a:sym typeface="Montserrat Bold"/>
              </a:rPr>
              <a:t>Deep Learning Models</a:t>
            </a:r>
          </a:p>
        </p:txBody>
      </p:sp>
      <p:sp>
        <p:nvSpPr>
          <p:cNvPr id="3" name="Freeform 3"/>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2"/>
            <a:stretch>
              <a:fillRect t="-10270" b="-14099"/>
            </a:stretch>
          </a:blipFill>
        </p:spPr>
        <p:txBody>
          <a:bodyPr/>
          <a:lstStyle/>
          <a:p>
            <a:endParaRPr lang="en-US"/>
          </a:p>
        </p:txBody>
      </p:sp>
      <p:sp>
        <p:nvSpPr>
          <p:cNvPr id="4" name="TextBox 4"/>
          <p:cNvSpPr txBox="1"/>
          <p:nvPr/>
        </p:nvSpPr>
        <p:spPr>
          <a:xfrm>
            <a:off x="937558" y="1615966"/>
            <a:ext cx="10922252" cy="6991223"/>
          </a:xfrm>
          <a:prstGeom prst="rect">
            <a:avLst/>
          </a:prstGeom>
        </p:spPr>
        <p:txBody>
          <a:bodyPr lIns="0" tIns="0" rIns="0" bIns="0" rtlCol="0" anchor="t">
            <a:spAutoFit/>
          </a:bodyPr>
          <a:lstStyle/>
          <a:p>
            <a:pPr algn="l">
              <a:lnSpc>
                <a:spcPts val="2632"/>
              </a:lnSpc>
            </a:pPr>
            <a:endParaRPr dirty="0"/>
          </a:p>
          <a:p>
            <a:pPr algn="l">
              <a:lnSpc>
                <a:spcPts val="2632"/>
              </a:lnSpc>
            </a:pPr>
            <a:r>
              <a:rPr lang="en-US" sz="1880" dirty="0">
                <a:solidFill>
                  <a:srgbClr val="000000"/>
                </a:solidFill>
                <a:latin typeface="Open Sans"/>
                <a:ea typeface="Open Sans"/>
                <a:cs typeface="Open Sans"/>
                <a:sym typeface="Open Sans"/>
              </a:rPr>
              <a:t>1️⃣ </a:t>
            </a:r>
            <a:r>
              <a:rPr lang="en-US" sz="1880" b="1" dirty="0">
                <a:solidFill>
                  <a:srgbClr val="000000"/>
                </a:solidFill>
                <a:latin typeface="Open Sans Bold"/>
                <a:ea typeface="Open Sans Bold"/>
                <a:cs typeface="Open Sans Bold"/>
                <a:sym typeface="Open Sans Bold"/>
              </a:rPr>
              <a:t>Multi-Layer Perceptron (MLP)</a:t>
            </a:r>
            <a:r>
              <a:rPr lang="en-US" sz="1880" dirty="0">
                <a:solidFill>
                  <a:srgbClr val="000000"/>
                </a:solidFill>
                <a:latin typeface="Open Sans"/>
                <a:ea typeface="Open Sans"/>
                <a:cs typeface="Open Sans"/>
                <a:sym typeface="Open Sans"/>
              </a:rPr>
              <a:t> - Baseline Model</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Input: Flattened EEG feature vectors.</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Architecture: Fully connected layers and dropout for regularization.</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Purpose: </a:t>
            </a:r>
            <a:r>
              <a:rPr lang="en-US" sz="1880" i="1" dirty="0">
                <a:solidFill>
                  <a:srgbClr val="000000"/>
                </a:solidFill>
                <a:latin typeface="Open Sans Italics"/>
                <a:ea typeface="Open Sans Italics"/>
                <a:cs typeface="Open Sans Italics"/>
                <a:sym typeface="Open Sans Italics"/>
              </a:rPr>
              <a:t>Serves as a benchmark to compare against more advanced models.</a:t>
            </a:r>
          </a:p>
          <a:p>
            <a:pPr algn="l">
              <a:lnSpc>
                <a:spcPts val="2632"/>
              </a:lnSpc>
            </a:pPr>
            <a:endParaRPr lang="en-US" sz="1880" i="1" dirty="0">
              <a:solidFill>
                <a:srgbClr val="000000"/>
              </a:solidFill>
              <a:latin typeface="Open Sans Italics"/>
              <a:ea typeface="Open Sans Italics"/>
              <a:cs typeface="Open Sans Italics"/>
              <a:sym typeface="Open Sans Italics"/>
            </a:endParaRPr>
          </a:p>
          <a:p>
            <a:pPr algn="l">
              <a:lnSpc>
                <a:spcPts val="2632"/>
              </a:lnSpc>
            </a:pPr>
            <a:r>
              <a:rPr lang="en-US" sz="1880" dirty="0">
                <a:solidFill>
                  <a:srgbClr val="000000"/>
                </a:solidFill>
                <a:latin typeface="Open Sans"/>
                <a:ea typeface="Open Sans"/>
                <a:cs typeface="Open Sans"/>
                <a:sym typeface="Open Sans"/>
              </a:rPr>
              <a:t>2️⃣ </a:t>
            </a:r>
            <a:r>
              <a:rPr lang="en-US" sz="1880" b="1" dirty="0">
                <a:solidFill>
                  <a:srgbClr val="000000"/>
                </a:solidFill>
                <a:latin typeface="Open Sans Bold"/>
                <a:ea typeface="Open Sans Bold"/>
                <a:cs typeface="Open Sans Bold"/>
                <a:sym typeface="Open Sans Bold"/>
              </a:rPr>
              <a:t>CNN-LSTM Hybrid Model </a:t>
            </a:r>
            <a:r>
              <a:rPr lang="en-US" sz="1880" dirty="0">
                <a:solidFill>
                  <a:srgbClr val="000000"/>
                </a:solidFill>
                <a:latin typeface="Open Sans"/>
                <a:ea typeface="Open Sans"/>
                <a:cs typeface="Open Sans"/>
                <a:sym typeface="Open Sans"/>
              </a:rPr>
              <a:t>(Spatial + Temporal Feature Extraction)</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Input: EEG signals reshaped into 2D images (channels × time).</a:t>
            </a:r>
          </a:p>
          <a:p>
            <a:pPr marL="811785" lvl="2" indent="-270595" algn="l">
              <a:lnSpc>
                <a:spcPts val="2632"/>
              </a:lnSpc>
              <a:buFont typeface="Arial"/>
              <a:buChar char="⚬"/>
            </a:pPr>
            <a:r>
              <a:rPr lang="en-US" sz="1880" dirty="0" err="1">
                <a:solidFill>
                  <a:srgbClr val="000000"/>
                </a:solidFill>
                <a:latin typeface="Open Sans"/>
                <a:ea typeface="Open Sans"/>
                <a:cs typeface="Open Sans"/>
                <a:sym typeface="Open Sans"/>
              </a:rPr>
              <a:t>Architecture:CNN</a:t>
            </a:r>
            <a:r>
              <a:rPr lang="en-US" sz="1880" dirty="0">
                <a:solidFill>
                  <a:srgbClr val="000000"/>
                </a:solidFill>
                <a:latin typeface="Open Sans"/>
                <a:ea typeface="Open Sans"/>
                <a:cs typeface="Open Sans"/>
                <a:sym typeface="Open Sans"/>
              </a:rPr>
              <a:t> Layers: Extract spatial EEG features.</a:t>
            </a:r>
          </a:p>
          <a:p>
            <a:pPr marL="811785" lvl="2" indent="-270595" algn="l">
              <a:lnSpc>
                <a:spcPts val="2632"/>
              </a:lnSpc>
              <a:buFont typeface="Arial"/>
              <a:buChar char="⚬"/>
            </a:pPr>
            <a:r>
              <a:rPr lang="en-US" sz="1880" dirty="0">
                <a:solidFill>
                  <a:srgbClr val="000000"/>
                </a:solidFill>
                <a:latin typeface="Open Sans"/>
                <a:ea typeface="Open Sans"/>
                <a:cs typeface="Open Sans"/>
                <a:sym typeface="Open Sans"/>
              </a:rPr>
              <a:t>LSTM Layers: Capture temporal dependencies in EEG signals.</a:t>
            </a:r>
          </a:p>
          <a:p>
            <a:pPr marL="811785" lvl="2" indent="-270595" algn="l">
              <a:lnSpc>
                <a:spcPts val="2632"/>
              </a:lnSpc>
              <a:buFont typeface="Arial"/>
              <a:buChar char="⚬"/>
            </a:pPr>
            <a:r>
              <a:rPr lang="en-US" sz="1880" dirty="0">
                <a:solidFill>
                  <a:srgbClr val="000000"/>
                </a:solidFill>
                <a:latin typeface="Open Sans"/>
                <a:ea typeface="Open Sans"/>
                <a:cs typeface="Open Sans"/>
                <a:sym typeface="Open Sans"/>
              </a:rPr>
              <a:t>Regularization: Dropout &amp; batch normalization to prevent overfitting.</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Purpose: </a:t>
            </a:r>
            <a:r>
              <a:rPr lang="en-US" sz="1880" i="1" dirty="0">
                <a:solidFill>
                  <a:srgbClr val="000000"/>
                </a:solidFill>
                <a:latin typeface="Open Sans Italics"/>
                <a:ea typeface="Open Sans Italics"/>
                <a:cs typeface="Open Sans Italics"/>
                <a:sym typeface="Open Sans Italics"/>
              </a:rPr>
              <a:t>Leverages CNN for spatial and LSTM for sequential patterns in EEG data.</a:t>
            </a:r>
          </a:p>
          <a:p>
            <a:pPr algn="l">
              <a:lnSpc>
                <a:spcPts val="2632"/>
              </a:lnSpc>
            </a:pPr>
            <a:endParaRPr lang="en-US" sz="1880" i="1" dirty="0">
              <a:solidFill>
                <a:srgbClr val="000000"/>
              </a:solidFill>
              <a:latin typeface="Open Sans Italics"/>
              <a:ea typeface="Open Sans Italics"/>
              <a:cs typeface="Open Sans Italics"/>
              <a:sym typeface="Open Sans Italics"/>
            </a:endParaRPr>
          </a:p>
          <a:p>
            <a:pPr algn="l">
              <a:lnSpc>
                <a:spcPts val="2632"/>
              </a:lnSpc>
            </a:pPr>
            <a:r>
              <a:rPr lang="en-US" sz="1880" dirty="0">
                <a:solidFill>
                  <a:srgbClr val="000000"/>
                </a:solidFill>
                <a:latin typeface="Open Sans"/>
                <a:ea typeface="Open Sans"/>
                <a:cs typeface="Open Sans"/>
                <a:sym typeface="Open Sans"/>
              </a:rPr>
              <a:t>3️⃣ </a:t>
            </a:r>
            <a:r>
              <a:rPr lang="en-US" sz="1880" b="1" dirty="0">
                <a:solidFill>
                  <a:srgbClr val="000000"/>
                </a:solidFill>
                <a:latin typeface="Open Sans Bold"/>
                <a:ea typeface="Open Sans Bold"/>
                <a:cs typeface="Open Sans Bold"/>
                <a:sym typeface="Open Sans Bold"/>
              </a:rPr>
              <a:t>Transformer Model</a:t>
            </a:r>
            <a:r>
              <a:rPr lang="en-US" sz="1880" dirty="0">
                <a:solidFill>
                  <a:srgbClr val="000000"/>
                </a:solidFill>
                <a:latin typeface="Open Sans"/>
                <a:ea typeface="Open Sans"/>
                <a:cs typeface="Open Sans"/>
                <a:sym typeface="Open Sans"/>
              </a:rPr>
              <a:t> </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Input: EEG data transformed into sequences (</a:t>
            </a:r>
            <a:r>
              <a:rPr lang="en-US" sz="1880" dirty="0" err="1">
                <a:solidFill>
                  <a:srgbClr val="000000"/>
                </a:solidFill>
                <a:latin typeface="Open Sans"/>
                <a:ea typeface="Open Sans"/>
                <a:cs typeface="Open Sans"/>
                <a:sym typeface="Open Sans"/>
              </a:rPr>
              <a:t>batch_size</a:t>
            </a:r>
            <a:r>
              <a:rPr lang="en-US" sz="1880" dirty="0">
                <a:solidFill>
                  <a:srgbClr val="000000"/>
                </a:solidFill>
                <a:latin typeface="Open Sans"/>
                <a:ea typeface="Open Sans"/>
                <a:cs typeface="Open Sans"/>
                <a:sym typeface="Open Sans"/>
              </a:rPr>
              <a:t>, </a:t>
            </a:r>
            <a:r>
              <a:rPr lang="en-US" sz="1880" dirty="0" err="1">
                <a:solidFill>
                  <a:srgbClr val="000000"/>
                </a:solidFill>
                <a:latin typeface="Open Sans"/>
                <a:ea typeface="Open Sans"/>
                <a:cs typeface="Open Sans"/>
                <a:sym typeface="Open Sans"/>
              </a:rPr>
              <a:t>seq_len</a:t>
            </a:r>
            <a:r>
              <a:rPr lang="en-US" sz="1880" dirty="0">
                <a:solidFill>
                  <a:srgbClr val="000000"/>
                </a:solidFill>
                <a:latin typeface="Open Sans"/>
                <a:ea typeface="Open Sans"/>
                <a:cs typeface="Open Sans"/>
                <a:sym typeface="Open Sans"/>
              </a:rPr>
              <a:t>, </a:t>
            </a:r>
            <a:r>
              <a:rPr lang="en-US" sz="1880" dirty="0" err="1">
                <a:solidFill>
                  <a:srgbClr val="000000"/>
                </a:solidFill>
                <a:latin typeface="Open Sans"/>
                <a:ea typeface="Open Sans"/>
                <a:cs typeface="Open Sans"/>
                <a:sym typeface="Open Sans"/>
              </a:rPr>
              <a:t>input_dim</a:t>
            </a:r>
            <a:r>
              <a:rPr lang="en-US" sz="1880" dirty="0">
                <a:solidFill>
                  <a:srgbClr val="000000"/>
                </a:solidFill>
                <a:latin typeface="Open Sans"/>
                <a:ea typeface="Open Sans"/>
                <a:cs typeface="Open Sans"/>
                <a:sym typeface="Open Sans"/>
              </a:rPr>
              <a:t>).</a:t>
            </a:r>
          </a:p>
          <a:p>
            <a:pPr marL="811785" lvl="2" indent="-270595" algn="l">
              <a:lnSpc>
                <a:spcPts val="2632"/>
              </a:lnSpc>
              <a:buFont typeface="Arial"/>
              <a:buChar char="⚬"/>
            </a:pPr>
            <a:r>
              <a:rPr lang="en-US" sz="1880" dirty="0">
                <a:solidFill>
                  <a:srgbClr val="000000"/>
                </a:solidFill>
                <a:latin typeface="Open Sans"/>
                <a:ea typeface="Open Sans"/>
                <a:cs typeface="Open Sans"/>
                <a:sym typeface="Open Sans"/>
              </a:rPr>
              <a:t>Architecture: Positional Encoding: Retains sequential order of EEG signals.</a:t>
            </a:r>
          </a:p>
          <a:p>
            <a:pPr marL="811785" lvl="2" indent="-270595" algn="l">
              <a:lnSpc>
                <a:spcPts val="2632"/>
              </a:lnSpc>
              <a:buFont typeface="Arial"/>
              <a:buChar char="⚬"/>
            </a:pPr>
            <a:r>
              <a:rPr lang="en-US" sz="1880" dirty="0">
                <a:solidFill>
                  <a:srgbClr val="000000"/>
                </a:solidFill>
                <a:latin typeface="Open Sans"/>
                <a:ea typeface="Open Sans"/>
                <a:cs typeface="Open Sans"/>
                <a:sym typeface="Open Sans"/>
              </a:rPr>
              <a:t>Transformer Encoder: Multi-head self-attention layers capture long-range dependencies.</a:t>
            </a:r>
          </a:p>
          <a:p>
            <a:pPr marL="811785" lvl="2" indent="-270595" algn="l">
              <a:lnSpc>
                <a:spcPts val="2632"/>
              </a:lnSpc>
              <a:buFont typeface="Arial"/>
              <a:buChar char="⚬"/>
            </a:pPr>
            <a:r>
              <a:rPr lang="en-US" sz="1880" dirty="0">
                <a:solidFill>
                  <a:srgbClr val="000000"/>
                </a:solidFill>
                <a:latin typeface="Open Sans"/>
                <a:ea typeface="Open Sans"/>
                <a:cs typeface="Open Sans"/>
                <a:sym typeface="Open Sans"/>
              </a:rPr>
              <a:t>Classifier: Fully connected layer for word classification.</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Purpose: </a:t>
            </a:r>
            <a:r>
              <a:rPr lang="en-US" sz="1880" i="1" dirty="0">
                <a:solidFill>
                  <a:srgbClr val="000000"/>
                </a:solidFill>
                <a:latin typeface="Open Sans Italics"/>
                <a:ea typeface="Open Sans Italics"/>
                <a:cs typeface="Open Sans Italics"/>
                <a:sym typeface="Open Sans Italics"/>
              </a:rPr>
              <a:t>Most advanced model, effectively learns global dependencies in EEG data.</a:t>
            </a:r>
          </a:p>
          <a:p>
            <a:pPr algn="l">
              <a:lnSpc>
                <a:spcPts val="2632"/>
              </a:lnSpc>
            </a:pPr>
            <a:endParaRPr lang="en-US" sz="1880" i="1" dirty="0">
              <a:solidFill>
                <a:srgbClr val="000000"/>
              </a:solidFill>
              <a:latin typeface="Open Sans Italics"/>
              <a:ea typeface="Open Sans Italics"/>
              <a:cs typeface="Open Sans Italics"/>
              <a:sym typeface="Open Sans Italics"/>
            </a:endParaRPr>
          </a:p>
          <a:p>
            <a:pPr algn="l">
              <a:lnSpc>
                <a:spcPts val="2632"/>
              </a:lnSpc>
              <a:spcBef>
                <a:spcPct val="0"/>
              </a:spcBef>
            </a:pPr>
            <a:endParaRPr lang="en-US" sz="1880" i="1" dirty="0">
              <a:solidFill>
                <a:srgbClr val="000000"/>
              </a:solidFill>
              <a:latin typeface="Open Sans Italics"/>
              <a:ea typeface="Open Sans Italics"/>
              <a:cs typeface="Open Sans Italics"/>
              <a:sym typeface="Open Sans Italics"/>
            </a:endParaRPr>
          </a:p>
        </p:txBody>
      </p:sp>
      <p:sp>
        <p:nvSpPr>
          <p:cNvPr id="5" name="Freeform 5"/>
          <p:cNvSpPr/>
          <p:nvPr/>
        </p:nvSpPr>
        <p:spPr>
          <a:xfrm>
            <a:off x="11859810" y="1615966"/>
            <a:ext cx="6210271" cy="8478186"/>
          </a:xfrm>
          <a:custGeom>
            <a:avLst/>
            <a:gdLst/>
            <a:ahLst/>
            <a:cxnLst/>
            <a:rect l="l" t="t" r="r" b="b"/>
            <a:pathLst>
              <a:path w="6210271" h="8478186">
                <a:moveTo>
                  <a:pt x="0" y="0"/>
                </a:moveTo>
                <a:lnTo>
                  <a:pt x="6210271" y="0"/>
                </a:lnTo>
                <a:lnTo>
                  <a:pt x="6210271" y="8478186"/>
                </a:lnTo>
                <a:lnTo>
                  <a:pt x="0" y="8478186"/>
                </a:lnTo>
                <a:lnTo>
                  <a:pt x="0" y="0"/>
                </a:lnTo>
                <a:close/>
              </a:path>
            </a:pathLst>
          </a:custGeom>
          <a:blipFill>
            <a:blip r:embed="rId3"/>
            <a:stretch>
              <a:fillRect/>
            </a:stretch>
          </a:blipFill>
          <a:ln w="57150" cap="sq">
            <a:solidFill>
              <a:srgbClr val="55FF4D"/>
            </a:solidFill>
            <a:prstDash val="solid"/>
            <a:miter/>
          </a:ln>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C2C2C7"/>
        </a:solidFill>
        <a:effectLst/>
      </p:bgPr>
    </p:bg>
    <p:spTree>
      <p:nvGrpSpPr>
        <p:cNvPr id="1" name=""/>
        <p:cNvGrpSpPr/>
        <p:nvPr/>
      </p:nvGrpSpPr>
      <p:grpSpPr>
        <a:xfrm>
          <a:off x="0" y="0"/>
          <a:ext cx="0" cy="0"/>
          <a:chOff x="0" y="0"/>
          <a:chExt cx="0" cy="0"/>
        </a:xfrm>
      </p:grpSpPr>
      <p:sp>
        <p:nvSpPr>
          <p:cNvPr id="2" name="Freeform 2"/>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2"/>
            <a:stretch>
              <a:fillRect t="-10270" b="-14099"/>
            </a:stretch>
          </a:blipFill>
        </p:spPr>
        <p:txBody>
          <a:bodyPr/>
          <a:lstStyle/>
          <a:p>
            <a:endParaRPr lang="en-US"/>
          </a:p>
        </p:txBody>
      </p:sp>
      <p:grpSp>
        <p:nvGrpSpPr>
          <p:cNvPr id="3" name="Group 3"/>
          <p:cNvGrpSpPr/>
          <p:nvPr/>
        </p:nvGrpSpPr>
        <p:grpSpPr>
          <a:xfrm>
            <a:off x="-100568" y="4792678"/>
            <a:ext cx="9802696" cy="1236091"/>
            <a:chOff x="0" y="0"/>
            <a:chExt cx="2581780" cy="325555"/>
          </a:xfrm>
        </p:grpSpPr>
        <p:sp>
          <p:nvSpPr>
            <p:cNvPr id="4" name="Freeform 4"/>
            <p:cNvSpPr/>
            <p:nvPr/>
          </p:nvSpPr>
          <p:spPr>
            <a:xfrm>
              <a:off x="0" y="0"/>
              <a:ext cx="2581780" cy="325555"/>
            </a:xfrm>
            <a:custGeom>
              <a:avLst/>
              <a:gdLst/>
              <a:ahLst/>
              <a:cxnLst/>
              <a:rect l="l" t="t" r="r" b="b"/>
              <a:pathLst>
                <a:path w="2581780" h="325555">
                  <a:moveTo>
                    <a:pt x="0" y="0"/>
                  </a:moveTo>
                  <a:lnTo>
                    <a:pt x="2581780" y="0"/>
                  </a:lnTo>
                  <a:lnTo>
                    <a:pt x="2581780" y="325555"/>
                  </a:lnTo>
                  <a:lnTo>
                    <a:pt x="0" y="325555"/>
                  </a:lnTo>
                  <a:close/>
                </a:path>
              </a:pathLst>
            </a:custGeom>
            <a:solidFill>
              <a:srgbClr val="55FF4D"/>
            </a:solidFill>
          </p:spPr>
          <p:txBody>
            <a:bodyPr/>
            <a:lstStyle/>
            <a:p>
              <a:endParaRPr lang="en-US"/>
            </a:p>
          </p:txBody>
        </p:sp>
        <p:sp>
          <p:nvSpPr>
            <p:cNvPr id="5" name="TextBox 5"/>
            <p:cNvSpPr txBox="1"/>
            <p:nvPr/>
          </p:nvSpPr>
          <p:spPr>
            <a:xfrm>
              <a:off x="0" y="-28575"/>
              <a:ext cx="2581780" cy="354130"/>
            </a:xfrm>
            <a:prstGeom prst="rect">
              <a:avLst/>
            </a:prstGeom>
          </p:spPr>
          <p:txBody>
            <a:bodyPr lIns="50800" tIns="50800" rIns="50800" bIns="50800" rtlCol="0" anchor="ctr"/>
            <a:lstStyle/>
            <a:p>
              <a:pPr algn="ctr">
                <a:lnSpc>
                  <a:spcPts val="2243"/>
                </a:lnSpc>
              </a:pPr>
              <a:endParaRPr/>
            </a:p>
          </p:txBody>
        </p:sp>
      </p:grpSp>
      <p:grpSp>
        <p:nvGrpSpPr>
          <p:cNvPr id="6" name="Group 6"/>
          <p:cNvGrpSpPr/>
          <p:nvPr/>
        </p:nvGrpSpPr>
        <p:grpSpPr>
          <a:xfrm>
            <a:off x="-383369" y="3419592"/>
            <a:ext cx="5213218" cy="1214853"/>
            <a:chOff x="0" y="0"/>
            <a:chExt cx="1373029" cy="319961"/>
          </a:xfrm>
        </p:grpSpPr>
        <p:sp>
          <p:nvSpPr>
            <p:cNvPr id="7" name="Freeform 7"/>
            <p:cNvSpPr/>
            <p:nvPr/>
          </p:nvSpPr>
          <p:spPr>
            <a:xfrm>
              <a:off x="0" y="0"/>
              <a:ext cx="1373029" cy="319961"/>
            </a:xfrm>
            <a:custGeom>
              <a:avLst/>
              <a:gdLst/>
              <a:ahLst/>
              <a:cxnLst/>
              <a:rect l="l" t="t" r="r" b="b"/>
              <a:pathLst>
                <a:path w="1373029" h="319961">
                  <a:moveTo>
                    <a:pt x="0" y="0"/>
                  </a:moveTo>
                  <a:lnTo>
                    <a:pt x="1373029" y="0"/>
                  </a:lnTo>
                  <a:lnTo>
                    <a:pt x="1373029" y="319961"/>
                  </a:lnTo>
                  <a:lnTo>
                    <a:pt x="0" y="319961"/>
                  </a:lnTo>
                  <a:close/>
                </a:path>
              </a:pathLst>
            </a:custGeom>
            <a:solidFill>
              <a:srgbClr val="55FF4D"/>
            </a:solidFill>
          </p:spPr>
          <p:txBody>
            <a:bodyPr/>
            <a:lstStyle/>
            <a:p>
              <a:endParaRPr lang="en-US"/>
            </a:p>
          </p:txBody>
        </p:sp>
        <p:sp>
          <p:nvSpPr>
            <p:cNvPr id="8" name="TextBox 8"/>
            <p:cNvSpPr txBox="1"/>
            <p:nvPr/>
          </p:nvSpPr>
          <p:spPr>
            <a:xfrm>
              <a:off x="0" y="-28575"/>
              <a:ext cx="1373029" cy="348536"/>
            </a:xfrm>
            <a:prstGeom prst="rect">
              <a:avLst/>
            </a:prstGeom>
          </p:spPr>
          <p:txBody>
            <a:bodyPr lIns="50800" tIns="50800" rIns="50800" bIns="50800" rtlCol="0" anchor="ctr"/>
            <a:lstStyle/>
            <a:p>
              <a:pPr algn="ctr">
                <a:lnSpc>
                  <a:spcPts val="2243"/>
                </a:lnSpc>
              </a:pPr>
              <a:endParaRPr/>
            </a:p>
          </p:txBody>
        </p:sp>
      </p:grpSp>
      <p:grpSp>
        <p:nvGrpSpPr>
          <p:cNvPr id="9" name="Group 9"/>
          <p:cNvGrpSpPr/>
          <p:nvPr/>
        </p:nvGrpSpPr>
        <p:grpSpPr>
          <a:xfrm>
            <a:off x="-182381" y="4792678"/>
            <a:ext cx="9884509" cy="1236091"/>
            <a:chOff x="0" y="0"/>
            <a:chExt cx="2603327" cy="325555"/>
          </a:xfrm>
        </p:grpSpPr>
        <p:sp>
          <p:nvSpPr>
            <p:cNvPr id="10" name="Freeform 10"/>
            <p:cNvSpPr/>
            <p:nvPr/>
          </p:nvSpPr>
          <p:spPr>
            <a:xfrm>
              <a:off x="0" y="0"/>
              <a:ext cx="2603328" cy="325555"/>
            </a:xfrm>
            <a:custGeom>
              <a:avLst/>
              <a:gdLst/>
              <a:ahLst/>
              <a:cxnLst/>
              <a:rect l="l" t="t" r="r" b="b"/>
              <a:pathLst>
                <a:path w="2603328" h="325555">
                  <a:moveTo>
                    <a:pt x="0" y="0"/>
                  </a:moveTo>
                  <a:lnTo>
                    <a:pt x="2603328" y="0"/>
                  </a:lnTo>
                  <a:lnTo>
                    <a:pt x="2603328" y="325555"/>
                  </a:lnTo>
                  <a:lnTo>
                    <a:pt x="0" y="325555"/>
                  </a:lnTo>
                  <a:close/>
                </a:path>
              </a:pathLst>
            </a:custGeom>
            <a:solidFill>
              <a:srgbClr val="55FF4D"/>
            </a:solidFill>
          </p:spPr>
          <p:txBody>
            <a:bodyPr/>
            <a:lstStyle/>
            <a:p>
              <a:endParaRPr lang="en-US"/>
            </a:p>
          </p:txBody>
        </p:sp>
        <p:sp>
          <p:nvSpPr>
            <p:cNvPr id="11" name="TextBox 11"/>
            <p:cNvSpPr txBox="1"/>
            <p:nvPr/>
          </p:nvSpPr>
          <p:spPr>
            <a:xfrm>
              <a:off x="0" y="-28575"/>
              <a:ext cx="2603327" cy="354130"/>
            </a:xfrm>
            <a:prstGeom prst="rect">
              <a:avLst/>
            </a:prstGeom>
          </p:spPr>
          <p:txBody>
            <a:bodyPr lIns="50800" tIns="50800" rIns="50800" bIns="50800" rtlCol="0" anchor="ctr"/>
            <a:lstStyle/>
            <a:p>
              <a:pPr algn="ctr">
                <a:lnSpc>
                  <a:spcPts val="2243"/>
                </a:lnSpc>
              </a:pPr>
              <a:endParaRPr/>
            </a:p>
          </p:txBody>
        </p:sp>
      </p:grpSp>
      <p:sp>
        <p:nvSpPr>
          <p:cNvPr id="12" name="TextBox 12"/>
          <p:cNvSpPr txBox="1"/>
          <p:nvPr/>
        </p:nvSpPr>
        <p:spPr>
          <a:xfrm>
            <a:off x="-383369" y="3455519"/>
            <a:ext cx="5370381" cy="1028700"/>
          </a:xfrm>
          <a:prstGeom prst="rect">
            <a:avLst/>
          </a:prstGeom>
        </p:spPr>
        <p:txBody>
          <a:bodyPr lIns="0" tIns="0" rIns="0" bIns="0" rtlCol="0" anchor="t">
            <a:spAutoFit/>
          </a:bodyPr>
          <a:lstStyle/>
          <a:p>
            <a:pPr algn="ctr">
              <a:lnSpc>
                <a:spcPts val="8400"/>
              </a:lnSpc>
            </a:pPr>
            <a:r>
              <a:rPr lang="en-US" sz="6000">
                <a:solidFill>
                  <a:srgbClr val="000000"/>
                </a:solidFill>
                <a:latin typeface="Montserrat"/>
                <a:ea typeface="Montserrat"/>
                <a:cs typeface="Montserrat"/>
                <a:sym typeface="Montserrat"/>
              </a:rPr>
              <a:t>CHAPTER 4</a:t>
            </a:r>
          </a:p>
        </p:txBody>
      </p:sp>
      <p:sp>
        <p:nvSpPr>
          <p:cNvPr id="13" name="TextBox 13"/>
          <p:cNvSpPr txBox="1"/>
          <p:nvPr/>
        </p:nvSpPr>
        <p:spPr>
          <a:xfrm>
            <a:off x="0" y="4831112"/>
            <a:ext cx="9659698" cy="1028700"/>
          </a:xfrm>
          <a:prstGeom prst="rect">
            <a:avLst/>
          </a:prstGeom>
        </p:spPr>
        <p:txBody>
          <a:bodyPr lIns="0" tIns="0" rIns="0" bIns="0" rtlCol="0" anchor="t">
            <a:spAutoFit/>
          </a:bodyPr>
          <a:lstStyle/>
          <a:p>
            <a:pPr algn="ctr">
              <a:lnSpc>
                <a:spcPts val="8400"/>
              </a:lnSpc>
            </a:pPr>
            <a:r>
              <a:rPr lang="en-US" sz="6000" b="1" dirty="0">
                <a:solidFill>
                  <a:srgbClr val="000000"/>
                </a:solidFill>
                <a:latin typeface="Montserrat Bold"/>
                <a:ea typeface="Montserrat Bold"/>
                <a:cs typeface="Montserrat Bold"/>
                <a:sym typeface="Montserrat Bold"/>
              </a:rPr>
              <a:t>RESEARCH FINDINGS</a:t>
            </a:r>
          </a:p>
        </p:txBody>
      </p:sp>
      <p:sp>
        <p:nvSpPr>
          <p:cNvPr id="14" name="TextBox 14"/>
          <p:cNvSpPr txBox="1"/>
          <p:nvPr/>
        </p:nvSpPr>
        <p:spPr>
          <a:xfrm>
            <a:off x="224553" y="-199390"/>
            <a:ext cx="1971749" cy="2321564"/>
          </a:xfrm>
          <a:prstGeom prst="rect">
            <a:avLst/>
          </a:prstGeom>
        </p:spPr>
        <p:txBody>
          <a:bodyPr lIns="0" tIns="0" rIns="0" bIns="0" rtlCol="0" anchor="t">
            <a:spAutoFit/>
          </a:bodyPr>
          <a:lstStyle/>
          <a:p>
            <a:pPr algn="ctr">
              <a:lnSpc>
                <a:spcPts val="19039"/>
              </a:lnSpc>
              <a:spcBef>
                <a:spcPct val="0"/>
              </a:spcBef>
            </a:pPr>
            <a:r>
              <a:rPr lang="en-US" sz="13599" b="1">
                <a:solidFill>
                  <a:srgbClr val="FFFFFF"/>
                </a:solidFill>
                <a:latin typeface="Open Sans Bold"/>
                <a:ea typeface="Open Sans Bold"/>
                <a:cs typeface="Open Sans Bold"/>
                <a:sym typeface="Open Sans Bold"/>
              </a:rPr>
              <a:t>04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43876" y="1383534"/>
            <a:ext cx="7125069" cy="816459"/>
          </a:xfrm>
          <a:prstGeom prst="rect">
            <a:avLst/>
          </a:prstGeom>
        </p:spPr>
        <p:txBody>
          <a:bodyPr lIns="0" tIns="0" rIns="0" bIns="0" rtlCol="0" anchor="t">
            <a:spAutoFit/>
          </a:bodyPr>
          <a:lstStyle/>
          <a:p>
            <a:pPr algn="l">
              <a:lnSpc>
                <a:spcPts val="6403"/>
              </a:lnSpc>
            </a:pPr>
            <a:r>
              <a:rPr lang="en-US" sz="5380" b="1">
                <a:solidFill>
                  <a:srgbClr val="1C2120"/>
                </a:solidFill>
                <a:latin typeface="Montserrat Bold"/>
                <a:ea typeface="Montserrat Bold"/>
                <a:cs typeface="Montserrat Bold"/>
                <a:sym typeface="Montserrat Bold"/>
              </a:rPr>
              <a:t>Model Performance</a:t>
            </a:r>
          </a:p>
        </p:txBody>
      </p:sp>
      <p:sp>
        <p:nvSpPr>
          <p:cNvPr id="3" name="Freeform 3"/>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2"/>
            <a:stretch>
              <a:fillRect t="-10270" b="-14099"/>
            </a:stretch>
          </a:blipFill>
        </p:spPr>
        <p:txBody>
          <a:bodyPr/>
          <a:lstStyle/>
          <a:p>
            <a:endParaRPr lang="en-US"/>
          </a:p>
        </p:txBody>
      </p:sp>
      <p:pic>
        <p:nvPicPr>
          <p:cNvPr id="4" name="Picture 4"/>
          <p:cNvPicPr>
            <a:picLocks noChangeAspect="1"/>
          </p:cNvPicPr>
          <p:nvPr/>
        </p:nvPicPr>
        <p:blipFill>
          <a:blip r:embed="rId3"/>
          <a:stretch>
            <a:fillRect/>
          </a:stretch>
        </p:blipFill>
        <p:spPr>
          <a:xfrm>
            <a:off x="814702" y="3796871"/>
            <a:ext cx="5900661" cy="6594547"/>
          </a:xfrm>
          <a:prstGeom prst="rect">
            <a:avLst/>
          </a:prstGeom>
        </p:spPr>
      </p:pic>
      <p:pic>
        <p:nvPicPr>
          <p:cNvPr id="5" name="Picture 5"/>
          <p:cNvPicPr>
            <a:picLocks noChangeAspect="1"/>
          </p:cNvPicPr>
          <p:nvPr/>
        </p:nvPicPr>
        <p:blipFill>
          <a:blip r:embed="rId4"/>
          <a:stretch>
            <a:fillRect/>
          </a:stretch>
        </p:blipFill>
        <p:spPr>
          <a:xfrm>
            <a:off x="10693704" y="3796871"/>
            <a:ext cx="6086684" cy="6594547"/>
          </a:xfrm>
          <a:prstGeom prst="rect">
            <a:avLst/>
          </a:prstGeom>
        </p:spPr>
      </p:pic>
      <p:grpSp>
        <p:nvGrpSpPr>
          <p:cNvPr id="6" name="Group 6"/>
          <p:cNvGrpSpPr/>
          <p:nvPr/>
        </p:nvGrpSpPr>
        <p:grpSpPr>
          <a:xfrm>
            <a:off x="7797550" y="1445954"/>
            <a:ext cx="7205513" cy="715621"/>
            <a:chOff x="0" y="0"/>
            <a:chExt cx="1897748" cy="188476"/>
          </a:xfrm>
        </p:grpSpPr>
        <p:sp>
          <p:nvSpPr>
            <p:cNvPr id="7" name="Freeform 7"/>
            <p:cNvSpPr/>
            <p:nvPr/>
          </p:nvSpPr>
          <p:spPr>
            <a:xfrm>
              <a:off x="0" y="0"/>
              <a:ext cx="1897748" cy="188476"/>
            </a:xfrm>
            <a:custGeom>
              <a:avLst/>
              <a:gdLst/>
              <a:ahLst/>
              <a:cxnLst/>
              <a:rect l="l" t="t" r="r" b="b"/>
              <a:pathLst>
                <a:path w="1897748" h="188476">
                  <a:moveTo>
                    <a:pt x="0" y="0"/>
                  </a:moveTo>
                  <a:lnTo>
                    <a:pt x="1897748" y="0"/>
                  </a:lnTo>
                  <a:lnTo>
                    <a:pt x="1897748" y="188476"/>
                  </a:lnTo>
                  <a:lnTo>
                    <a:pt x="0" y="188476"/>
                  </a:lnTo>
                  <a:close/>
                </a:path>
              </a:pathLst>
            </a:custGeom>
            <a:solidFill>
              <a:srgbClr val="55FF4D"/>
            </a:solidFill>
          </p:spPr>
          <p:txBody>
            <a:bodyPr/>
            <a:lstStyle/>
            <a:p>
              <a:endParaRPr lang="en-US"/>
            </a:p>
          </p:txBody>
        </p:sp>
        <p:sp>
          <p:nvSpPr>
            <p:cNvPr id="8" name="TextBox 8"/>
            <p:cNvSpPr txBox="1"/>
            <p:nvPr/>
          </p:nvSpPr>
          <p:spPr>
            <a:xfrm>
              <a:off x="0" y="-28575"/>
              <a:ext cx="1897748" cy="217051"/>
            </a:xfrm>
            <a:prstGeom prst="rect">
              <a:avLst/>
            </a:prstGeom>
          </p:spPr>
          <p:txBody>
            <a:bodyPr lIns="50800" tIns="50800" rIns="50800" bIns="50800" rtlCol="0" anchor="ctr"/>
            <a:lstStyle/>
            <a:p>
              <a:pPr algn="ctr">
                <a:lnSpc>
                  <a:spcPts val="2243"/>
                </a:lnSpc>
              </a:pPr>
              <a:endParaRPr/>
            </a:p>
          </p:txBody>
        </p:sp>
      </p:grpSp>
      <p:sp>
        <p:nvSpPr>
          <p:cNvPr id="9" name="TextBox 9"/>
          <p:cNvSpPr txBox="1"/>
          <p:nvPr/>
        </p:nvSpPr>
        <p:spPr>
          <a:xfrm>
            <a:off x="643876" y="2579924"/>
            <a:ext cx="16003056" cy="1657223"/>
          </a:xfrm>
          <a:prstGeom prst="rect">
            <a:avLst/>
          </a:prstGeom>
        </p:spPr>
        <p:txBody>
          <a:bodyPr lIns="0" tIns="0" rIns="0" bIns="0" rtlCol="0" anchor="t">
            <a:spAutoFit/>
          </a:bodyPr>
          <a:lstStyle/>
          <a:p>
            <a:pPr algn="l">
              <a:lnSpc>
                <a:spcPts val="2632"/>
              </a:lnSpc>
            </a:pPr>
            <a:r>
              <a:rPr lang="en-US" sz="1880">
                <a:solidFill>
                  <a:srgbClr val="000000"/>
                </a:solidFill>
                <a:latin typeface="Open Sans"/>
                <a:ea typeface="Open Sans"/>
                <a:cs typeface="Open Sans"/>
                <a:sym typeface="Open Sans"/>
              </a:rPr>
              <a:t>As you can see from this graph, the Transformer-based model outperformed the other models, achieving the highest accuracy and F1-score.</a:t>
            </a:r>
          </a:p>
          <a:p>
            <a:pPr marL="405893" lvl="1" indent="-202946" algn="l">
              <a:lnSpc>
                <a:spcPts val="2632"/>
              </a:lnSpc>
              <a:buFont typeface="Arial"/>
              <a:buChar char="•"/>
            </a:pPr>
            <a:r>
              <a:rPr lang="en-US" sz="1880">
                <a:solidFill>
                  <a:srgbClr val="000000"/>
                </a:solidFill>
                <a:latin typeface="Open Sans"/>
                <a:ea typeface="Open Sans"/>
                <a:cs typeface="Open Sans"/>
                <a:sym typeface="Open Sans"/>
              </a:rPr>
              <a:t>Transformer achieved the highest accuracy (62.4%) and F1-score (0.61) after PCA.</a:t>
            </a:r>
          </a:p>
          <a:p>
            <a:pPr marL="405893" lvl="1" indent="-202946" algn="l">
              <a:lnSpc>
                <a:spcPts val="2632"/>
              </a:lnSpc>
              <a:buFont typeface="Arial"/>
              <a:buChar char="•"/>
            </a:pPr>
            <a:r>
              <a:rPr lang="en-US" sz="1880">
                <a:solidFill>
                  <a:srgbClr val="000000"/>
                </a:solidFill>
                <a:latin typeface="Open Sans"/>
                <a:ea typeface="Open Sans"/>
                <a:cs typeface="Open Sans"/>
                <a:sym typeface="Open Sans"/>
              </a:rPr>
              <a:t>CNN-LSTM outperformed MLP, demonstrating the benefit of combining spatial and temporal feature extraction.</a:t>
            </a:r>
          </a:p>
          <a:p>
            <a:pPr marL="405893" lvl="1" indent="-202946" algn="l">
              <a:lnSpc>
                <a:spcPts val="2632"/>
              </a:lnSpc>
              <a:buFont typeface="Arial"/>
              <a:buChar char="•"/>
            </a:pPr>
            <a:r>
              <a:rPr lang="en-US" sz="1880">
                <a:solidFill>
                  <a:srgbClr val="000000"/>
                </a:solidFill>
                <a:latin typeface="Open Sans"/>
                <a:ea typeface="Open Sans"/>
                <a:cs typeface="Open Sans"/>
                <a:sym typeface="Open Sans"/>
              </a:rPr>
              <a:t>PCA improved accuracy and F1-score across all models, reducing dimensionality and improving generalization.</a:t>
            </a:r>
          </a:p>
          <a:p>
            <a:pPr algn="l">
              <a:lnSpc>
                <a:spcPts val="2632"/>
              </a:lnSpc>
              <a:spcBef>
                <a:spcPct val="0"/>
              </a:spcBef>
            </a:pPr>
            <a:endParaRPr lang="en-US" sz="1880">
              <a:solidFill>
                <a:srgbClr val="000000"/>
              </a:solidFill>
              <a:latin typeface="Open Sans"/>
              <a:ea typeface="Open Sans"/>
              <a:cs typeface="Open Sans"/>
              <a:sym typeface="Open Sans"/>
            </a:endParaRPr>
          </a:p>
        </p:txBody>
      </p:sp>
      <p:sp>
        <p:nvSpPr>
          <p:cNvPr id="10" name="TextBox 10"/>
          <p:cNvSpPr txBox="1"/>
          <p:nvPr/>
        </p:nvSpPr>
        <p:spPr>
          <a:xfrm>
            <a:off x="7860621" y="1455479"/>
            <a:ext cx="7142442" cy="682093"/>
          </a:xfrm>
          <a:prstGeom prst="rect">
            <a:avLst/>
          </a:prstGeom>
        </p:spPr>
        <p:txBody>
          <a:bodyPr lIns="0" tIns="0" rIns="0" bIns="0" rtlCol="0" anchor="t">
            <a:spAutoFit/>
          </a:bodyPr>
          <a:lstStyle/>
          <a:p>
            <a:pPr algn="l">
              <a:lnSpc>
                <a:spcPts val="5451"/>
              </a:lnSpc>
            </a:pPr>
            <a:r>
              <a:rPr lang="en-US" sz="4580" b="1">
                <a:solidFill>
                  <a:srgbClr val="1C2120"/>
                </a:solidFill>
                <a:latin typeface="Montserrat Bold"/>
                <a:ea typeface="Montserrat Bold"/>
                <a:cs typeface="Montserrat Bold"/>
                <a:sym typeface="Montserrat Bold"/>
              </a:rPr>
              <a:t>&amp; Comparative Results</a:t>
            </a:r>
          </a:p>
        </p:txBody>
      </p:sp>
      <p:pic>
        <p:nvPicPr>
          <p:cNvPr id="12" name="Picture 11" descr="A graph with blue and red lines&#10;&#10;AI-generated content may be incorrect.">
            <a:extLst>
              <a:ext uri="{FF2B5EF4-FFF2-40B4-BE49-F238E27FC236}">
                <a16:creationId xmlns:a16="http://schemas.microsoft.com/office/drawing/2014/main" id="{487B3A57-DBB9-7D78-543E-92691075A5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38600" y="4237147"/>
            <a:ext cx="10568746" cy="56397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4"/>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94918" y="827033"/>
            <a:ext cx="9859349" cy="816459"/>
          </a:xfrm>
          <a:prstGeom prst="rect">
            <a:avLst/>
          </a:prstGeom>
        </p:spPr>
        <p:txBody>
          <a:bodyPr lIns="0" tIns="0" rIns="0" bIns="0" rtlCol="0" anchor="t">
            <a:spAutoFit/>
          </a:bodyPr>
          <a:lstStyle/>
          <a:p>
            <a:pPr algn="l">
              <a:lnSpc>
                <a:spcPts val="6403"/>
              </a:lnSpc>
            </a:pPr>
            <a:r>
              <a:rPr lang="en-US" sz="5380" b="1">
                <a:solidFill>
                  <a:srgbClr val="1C2120"/>
                </a:solidFill>
                <a:latin typeface="Montserrat Bold"/>
                <a:ea typeface="Montserrat Bold"/>
                <a:cs typeface="Montserrat Bold"/>
                <a:sym typeface="Montserrat Bold"/>
              </a:rPr>
              <a:t>Key Observations</a:t>
            </a:r>
          </a:p>
        </p:txBody>
      </p:sp>
      <p:sp>
        <p:nvSpPr>
          <p:cNvPr id="3" name="TextBox 3"/>
          <p:cNvSpPr txBox="1"/>
          <p:nvPr/>
        </p:nvSpPr>
        <p:spPr>
          <a:xfrm>
            <a:off x="894918" y="2048497"/>
            <a:ext cx="15335682" cy="7647606"/>
          </a:xfrm>
          <a:prstGeom prst="rect">
            <a:avLst/>
          </a:prstGeom>
        </p:spPr>
        <p:txBody>
          <a:bodyPr wrap="square" lIns="0" tIns="0" rIns="0" bIns="0" rtlCol="0" anchor="t">
            <a:spAutoFit/>
          </a:bodyPr>
          <a:lstStyle/>
          <a:p>
            <a:pPr algn="l">
              <a:lnSpc>
                <a:spcPts val="2632"/>
              </a:lnSpc>
            </a:pPr>
            <a:r>
              <a:rPr lang="en-US" sz="1880" dirty="0">
                <a:solidFill>
                  <a:srgbClr val="000000"/>
                </a:solidFill>
                <a:latin typeface="Open Sans"/>
                <a:ea typeface="Open Sans"/>
                <a:cs typeface="Open Sans"/>
                <a:sym typeface="Open Sans"/>
              </a:rPr>
              <a:t>✅ Transformer Model Performed Best</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Highest accuracy (62.4%) and F1-score, capturing long-range dependencies in EEG sequences.</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Self-attention mechanism improved imagined speech recognition.</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Performed well across alpha, beta, and gamma bands but showed minor confusion with phonetic overlaps (e.g., “spruce” vs. “night”).</a:t>
            </a:r>
          </a:p>
          <a:p>
            <a:pPr algn="l">
              <a:lnSpc>
                <a:spcPts val="2632"/>
              </a:lnSpc>
            </a:pPr>
            <a:endParaRPr lang="en-US" sz="1880" dirty="0">
              <a:solidFill>
                <a:srgbClr val="000000"/>
              </a:solidFill>
              <a:latin typeface="Open Sans"/>
              <a:ea typeface="Open Sans"/>
              <a:cs typeface="Open Sans"/>
              <a:sym typeface="Open Sans"/>
            </a:endParaRPr>
          </a:p>
          <a:p>
            <a:pPr algn="l">
              <a:lnSpc>
                <a:spcPts val="2632"/>
              </a:lnSpc>
            </a:pPr>
            <a:r>
              <a:rPr lang="en-US" sz="1880" dirty="0">
                <a:solidFill>
                  <a:srgbClr val="000000"/>
                </a:solidFill>
                <a:latin typeface="Open Sans"/>
                <a:ea typeface="Open Sans"/>
                <a:cs typeface="Open Sans"/>
                <a:sym typeface="Open Sans"/>
              </a:rPr>
              <a:t>✅ PCA Enhanced Model Performance</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Reduced features (546 → 110), improving training efficiency &amp; generalization.</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Prevented overfitting, maintaining 95% variance (Mousavi et al., 2024).</a:t>
            </a:r>
          </a:p>
          <a:p>
            <a:pPr algn="l">
              <a:lnSpc>
                <a:spcPts val="2632"/>
              </a:lnSpc>
            </a:pPr>
            <a:endParaRPr lang="en-US" sz="1880" dirty="0">
              <a:solidFill>
                <a:srgbClr val="000000"/>
              </a:solidFill>
              <a:latin typeface="Open Sans"/>
              <a:ea typeface="Open Sans"/>
              <a:cs typeface="Open Sans"/>
              <a:sym typeface="Open Sans"/>
            </a:endParaRPr>
          </a:p>
          <a:p>
            <a:pPr algn="l">
              <a:lnSpc>
                <a:spcPts val="2632"/>
              </a:lnSpc>
            </a:pPr>
            <a:r>
              <a:rPr lang="en-US" sz="1880" dirty="0">
                <a:solidFill>
                  <a:srgbClr val="000000"/>
                </a:solidFill>
                <a:latin typeface="Open Sans"/>
                <a:ea typeface="Open Sans"/>
                <a:cs typeface="Open Sans"/>
                <a:sym typeface="Open Sans"/>
              </a:rPr>
              <a:t>✅ CNN-LSTM Improved Over MLP</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50.8% accuracy (vs. MLP: 37.2%) by combining spatial &amp; temporal feature extraction.</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Less effective than Transformer at handling long-range dependencies.</a:t>
            </a:r>
          </a:p>
          <a:p>
            <a:pPr algn="l">
              <a:lnSpc>
                <a:spcPts val="2632"/>
              </a:lnSpc>
            </a:pPr>
            <a:endParaRPr lang="en-US" sz="1880" dirty="0">
              <a:solidFill>
                <a:srgbClr val="000000"/>
              </a:solidFill>
              <a:latin typeface="Open Sans"/>
              <a:ea typeface="Open Sans"/>
              <a:cs typeface="Open Sans"/>
              <a:sym typeface="Open Sans"/>
            </a:endParaRPr>
          </a:p>
          <a:p>
            <a:pPr algn="l">
              <a:lnSpc>
                <a:spcPts val="2632"/>
              </a:lnSpc>
            </a:pPr>
            <a:r>
              <a:rPr lang="en-US" sz="1880" dirty="0">
                <a:solidFill>
                  <a:srgbClr val="000000"/>
                </a:solidFill>
                <a:latin typeface="Open Sans"/>
                <a:ea typeface="Open Sans"/>
                <a:cs typeface="Open Sans"/>
                <a:sym typeface="Open Sans"/>
              </a:rPr>
              <a:t>✅ Feature Extraction Boosted Accuracy</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FFT: Extracted EEG frequency features for mental state classification.</a:t>
            </a:r>
          </a:p>
          <a:p>
            <a:pPr marL="405893" lvl="1" indent="-202946" algn="l">
              <a:lnSpc>
                <a:spcPts val="2632"/>
              </a:lnSpc>
              <a:buFont typeface="Arial"/>
              <a:buChar char="•"/>
            </a:pPr>
            <a:r>
              <a:rPr lang="en-US" sz="1880" dirty="0">
                <a:solidFill>
                  <a:srgbClr val="000000"/>
                </a:solidFill>
                <a:latin typeface="Open Sans"/>
                <a:ea typeface="Open Sans"/>
                <a:cs typeface="Open Sans"/>
                <a:sym typeface="Open Sans"/>
              </a:rPr>
              <a:t>MPC &amp; MSC: Improved accuracy by capturing EEG connectivity patterns.</a:t>
            </a:r>
          </a:p>
          <a:p>
            <a:pPr algn="l">
              <a:lnSpc>
                <a:spcPts val="2632"/>
              </a:lnSpc>
            </a:pPr>
            <a:endParaRPr lang="en-US" sz="1880" dirty="0">
              <a:solidFill>
                <a:srgbClr val="000000"/>
              </a:solidFill>
              <a:latin typeface="Open Sans"/>
              <a:ea typeface="Open Sans"/>
              <a:cs typeface="Open Sans"/>
              <a:sym typeface="Open Sans"/>
            </a:endParaRPr>
          </a:p>
          <a:p>
            <a:pPr algn="l">
              <a:lnSpc>
                <a:spcPts val="2632"/>
              </a:lnSpc>
            </a:pPr>
            <a:r>
              <a:rPr lang="en-US" sz="1880" dirty="0">
                <a:solidFill>
                  <a:srgbClr val="000000"/>
                </a:solidFill>
                <a:latin typeface="Open Sans"/>
                <a:ea typeface="Open Sans"/>
                <a:cs typeface="Open Sans"/>
                <a:sym typeface="Open Sans"/>
              </a:rPr>
              <a:t>Summary</a:t>
            </a:r>
          </a:p>
          <a:p>
            <a:pPr algn="l">
              <a:lnSpc>
                <a:spcPts val="2632"/>
              </a:lnSpc>
            </a:pPr>
            <a:r>
              <a:rPr lang="en-US" sz="1880" dirty="0">
                <a:solidFill>
                  <a:srgbClr val="000000"/>
                </a:solidFill>
                <a:latin typeface="Open Sans"/>
                <a:ea typeface="Open Sans"/>
                <a:cs typeface="Open Sans"/>
                <a:sym typeface="Open Sans"/>
              </a:rPr>
              <a:t>✔ Transformer &gt; CNN-LSTM &gt; MLP, excelling at EEG-based imagined speech recognition.</a:t>
            </a:r>
          </a:p>
          <a:p>
            <a:pPr algn="l">
              <a:lnSpc>
                <a:spcPts val="2632"/>
              </a:lnSpc>
            </a:pPr>
            <a:r>
              <a:rPr lang="en-US" sz="1880" dirty="0">
                <a:solidFill>
                  <a:srgbClr val="000000"/>
                </a:solidFill>
                <a:latin typeface="Open Sans"/>
                <a:ea typeface="Open Sans"/>
                <a:cs typeface="Open Sans"/>
                <a:sym typeface="Open Sans"/>
              </a:rPr>
              <a:t>✔ PCA improved model efficiency &amp; accuracy.</a:t>
            </a:r>
          </a:p>
          <a:p>
            <a:pPr algn="l">
              <a:lnSpc>
                <a:spcPts val="2632"/>
              </a:lnSpc>
            </a:pPr>
            <a:r>
              <a:rPr lang="en-US" sz="1880" dirty="0">
                <a:solidFill>
                  <a:srgbClr val="000000"/>
                </a:solidFill>
                <a:latin typeface="Open Sans"/>
                <a:ea typeface="Open Sans"/>
                <a:cs typeface="Open Sans"/>
                <a:sym typeface="Open Sans"/>
              </a:rPr>
              <a:t>✔ Feature extraction (FFT, MPC, MSC) enhanced classification performance.</a:t>
            </a:r>
          </a:p>
          <a:p>
            <a:pPr algn="l">
              <a:lnSpc>
                <a:spcPts val="2632"/>
              </a:lnSpc>
            </a:pPr>
            <a:endParaRPr lang="en-US" sz="1880" dirty="0">
              <a:solidFill>
                <a:srgbClr val="000000"/>
              </a:solidFill>
              <a:latin typeface="Open Sans"/>
              <a:ea typeface="Open Sans"/>
              <a:cs typeface="Open Sans"/>
              <a:sym typeface="Open Sans"/>
            </a:endParaRPr>
          </a:p>
          <a:p>
            <a:pPr algn="l">
              <a:lnSpc>
                <a:spcPts val="2632"/>
              </a:lnSpc>
              <a:spcBef>
                <a:spcPct val="0"/>
              </a:spcBef>
            </a:pPr>
            <a:endParaRPr lang="en-US" sz="1880" dirty="0">
              <a:solidFill>
                <a:srgbClr val="000000"/>
              </a:solidFill>
              <a:latin typeface="Open Sans"/>
              <a:ea typeface="Open Sans"/>
              <a:cs typeface="Open Sans"/>
              <a:sym typeface="Open Sans"/>
            </a:endParaRPr>
          </a:p>
        </p:txBody>
      </p:sp>
      <p:sp>
        <p:nvSpPr>
          <p:cNvPr id="4" name="Freeform 4"/>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2"/>
            <a:stretch>
              <a:fillRect t="-10270" b="-14099"/>
            </a:stretch>
          </a:blipFill>
        </p:spPr>
        <p:txBody>
          <a:bodyPr/>
          <a:lstStyle/>
          <a:p>
            <a:endParaRPr lang="en-US"/>
          </a:p>
        </p:txBody>
      </p:sp>
      <p:pic>
        <p:nvPicPr>
          <p:cNvPr id="6" name="Picture 5" descr="A diagram of a number of objects&#10;&#10;AI-generated content may be incorrect.">
            <a:extLst>
              <a:ext uri="{FF2B5EF4-FFF2-40B4-BE49-F238E27FC236}">
                <a16:creationId xmlns:a16="http://schemas.microsoft.com/office/drawing/2014/main" id="{8E55B9E2-F657-51D5-451C-4249AE6AFE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067" y="3409162"/>
            <a:ext cx="7609933" cy="628694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7" end="1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8" end="1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9" end="1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C2C2C7"/>
        </a:solidFill>
        <a:effectLst/>
      </p:bgPr>
    </p:bg>
    <p:spTree>
      <p:nvGrpSpPr>
        <p:cNvPr id="1" name=""/>
        <p:cNvGrpSpPr/>
        <p:nvPr/>
      </p:nvGrpSpPr>
      <p:grpSpPr>
        <a:xfrm>
          <a:off x="0" y="0"/>
          <a:ext cx="0" cy="0"/>
          <a:chOff x="0" y="0"/>
          <a:chExt cx="0" cy="0"/>
        </a:xfrm>
      </p:grpSpPr>
      <p:sp>
        <p:nvSpPr>
          <p:cNvPr id="2" name="Freeform 2"/>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2"/>
            <a:stretch>
              <a:fillRect t="-10270" b="-14099"/>
            </a:stretch>
          </a:blipFill>
        </p:spPr>
        <p:txBody>
          <a:bodyPr/>
          <a:lstStyle/>
          <a:p>
            <a:endParaRPr lang="en-US"/>
          </a:p>
        </p:txBody>
      </p:sp>
      <p:grpSp>
        <p:nvGrpSpPr>
          <p:cNvPr id="4" name="Group 4"/>
          <p:cNvGrpSpPr/>
          <p:nvPr/>
        </p:nvGrpSpPr>
        <p:grpSpPr>
          <a:xfrm>
            <a:off x="0" y="3406771"/>
            <a:ext cx="4815871" cy="1235941"/>
            <a:chOff x="0" y="0"/>
            <a:chExt cx="1268377" cy="325515"/>
          </a:xfrm>
        </p:grpSpPr>
        <p:sp>
          <p:nvSpPr>
            <p:cNvPr id="5" name="Freeform 5"/>
            <p:cNvSpPr/>
            <p:nvPr/>
          </p:nvSpPr>
          <p:spPr>
            <a:xfrm>
              <a:off x="0" y="0"/>
              <a:ext cx="1268377" cy="325515"/>
            </a:xfrm>
            <a:custGeom>
              <a:avLst/>
              <a:gdLst/>
              <a:ahLst/>
              <a:cxnLst/>
              <a:rect l="l" t="t" r="r" b="b"/>
              <a:pathLst>
                <a:path w="1268377" h="325515">
                  <a:moveTo>
                    <a:pt x="0" y="0"/>
                  </a:moveTo>
                  <a:lnTo>
                    <a:pt x="1268377" y="0"/>
                  </a:lnTo>
                  <a:lnTo>
                    <a:pt x="1268377" y="325515"/>
                  </a:lnTo>
                  <a:lnTo>
                    <a:pt x="0" y="325515"/>
                  </a:lnTo>
                  <a:close/>
                </a:path>
              </a:pathLst>
            </a:custGeom>
            <a:solidFill>
              <a:srgbClr val="55FF4D"/>
            </a:solidFill>
          </p:spPr>
          <p:txBody>
            <a:bodyPr/>
            <a:lstStyle/>
            <a:p>
              <a:endParaRPr lang="en-US"/>
            </a:p>
          </p:txBody>
        </p:sp>
        <p:sp>
          <p:nvSpPr>
            <p:cNvPr id="6" name="TextBox 6"/>
            <p:cNvSpPr txBox="1"/>
            <p:nvPr/>
          </p:nvSpPr>
          <p:spPr>
            <a:xfrm>
              <a:off x="0" y="-28575"/>
              <a:ext cx="1268377" cy="354090"/>
            </a:xfrm>
            <a:prstGeom prst="rect">
              <a:avLst/>
            </a:prstGeom>
          </p:spPr>
          <p:txBody>
            <a:bodyPr lIns="50800" tIns="50800" rIns="50800" bIns="50800" rtlCol="0" anchor="ctr"/>
            <a:lstStyle/>
            <a:p>
              <a:pPr algn="ctr">
                <a:lnSpc>
                  <a:spcPts val="2243"/>
                </a:lnSpc>
              </a:pPr>
              <a:endParaRPr/>
            </a:p>
          </p:txBody>
        </p:sp>
      </p:grpSp>
      <p:grpSp>
        <p:nvGrpSpPr>
          <p:cNvPr id="7" name="Group 7"/>
          <p:cNvGrpSpPr/>
          <p:nvPr/>
        </p:nvGrpSpPr>
        <p:grpSpPr>
          <a:xfrm>
            <a:off x="-55998" y="4804742"/>
            <a:ext cx="6068307" cy="1201120"/>
            <a:chOff x="0" y="0"/>
            <a:chExt cx="1598237" cy="316344"/>
          </a:xfrm>
        </p:grpSpPr>
        <p:sp>
          <p:nvSpPr>
            <p:cNvPr id="8" name="Freeform 8"/>
            <p:cNvSpPr/>
            <p:nvPr/>
          </p:nvSpPr>
          <p:spPr>
            <a:xfrm>
              <a:off x="0" y="0"/>
              <a:ext cx="1598237" cy="316344"/>
            </a:xfrm>
            <a:custGeom>
              <a:avLst/>
              <a:gdLst/>
              <a:ahLst/>
              <a:cxnLst/>
              <a:rect l="l" t="t" r="r" b="b"/>
              <a:pathLst>
                <a:path w="1598237" h="316344">
                  <a:moveTo>
                    <a:pt x="0" y="0"/>
                  </a:moveTo>
                  <a:lnTo>
                    <a:pt x="1598237" y="0"/>
                  </a:lnTo>
                  <a:lnTo>
                    <a:pt x="1598237" y="316344"/>
                  </a:lnTo>
                  <a:lnTo>
                    <a:pt x="0" y="316344"/>
                  </a:lnTo>
                  <a:close/>
                </a:path>
              </a:pathLst>
            </a:custGeom>
            <a:solidFill>
              <a:srgbClr val="55FF4D"/>
            </a:solidFill>
          </p:spPr>
          <p:txBody>
            <a:bodyPr/>
            <a:lstStyle/>
            <a:p>
              <a:endParaRPr lang="en-US"/>
            </a:p>
          </p:txBody>
        </p:sp>
        <p:sp>
          <p:nvSpPr>
            <p:cNvPr id="9" name="TextBox 9"/>
            <p:cNvSpPr txBox="1"/>
            <p:nvPr/>
          </p:nvSpPr>
          <p:spPr>
            <a:xfrm>
              <a:off x="0" y="-28575"/>
              <a:ext cx="1598237" cy="344919"/>
            </a:xfrm>
            <a:prstGeom prst="rect">
              <a:avLst/>
            </a:prstGeom>
          </p:spPr>
          <p:txBody>
            <a:bodyPr lIns="50800" tIns="50800" rIns="50800" bIns="50800" rtlCol="0" anchor="ctr"/>
            <a:lstStyle/>
            <a:p>
              <a:pPr algn="ctr">
                <a:lnSpc>
                  <a:spcPts val="2243"/>
                </a:lnSpc>
              </a:pPr>
              <a:endParaRPr/>
            </a:p>
          </p:txBody>
        </p:sp>
      </p:grpSp>
      <p:sp>
        <p:nvSpPr>
          <p:cNvPr id="10" name="TextBox 10"/>
          <p:cNvSpPr txBox="1"/>
          <p:nvPr/>
        </p:nvSpPr>
        <p:spPr>
          <a:xfrm>
            <a:off x="-412644" y="3453241"/>
            <a:ext cx="5451708" cy="1028700"/>
          </a:xfrm>
          <a:prstGeom prst="rect">
            <a:avLst/>
          </a:prstGeom>
        </p:spPr>
        <p:txBody>
          <a:bodyPr lIns="0" tIns="0" rIns="0" bIns="0" rtlCol="0" anchor="t">
            <a:spAutoFit/>
          </a:bodyPr>
          <a:lstStyle/>
          <a:p>
            <a:pPr algn="ctr">
              <a:lnSpc>
                <a:spcPts val="8400"/>
              </a:lnSpc>
            </a:pPr>
            <a:r>
              <a:rPr lang="en-US" sz="6000">
                <a:solidFill>
                  <a:srgbClr val="000000"/>
                </a:solidFill>
                <a:latin typeface="Montserrat"/>
                <a:ea typeface="Montserrat"/>
                <a:cs typeface="Montserrat"/>
                <a:sym typeface="Montserrat"/>
              </a:rPr>
              <a:t>CHAPTER 5</a:t>
            </a:r>
          </a:p>
        </p:txBody>
      </p:sp>
      <p:sp>
        <p:nvSpPr>
          <p:cNvPr id="11" name="TextBox 11"/>
          <p:cNvSpPr txBox="1"/>
          <p:nvPr/>
        </p:nvSpPr>
        <p:spPr>
          <a:xfrm>
            <a:off x="0" y="4831112"/>
            <a:ext cx="5956312" cy="1028700"/>
          </a:xfrm>
          <a:prstGeom prst="rect">
            <a:avLst/>
          </a:prstGeom>
        </p:spPr>
        <p:txBody>
          <a:bodyPr lIns="0" tIns="0" rIns="0" bIns="0" rtlCol="0" anchor="t">
            <a:spAutoFit/>
          </a:bodyPr>
          <a:lstStyle/>
          <a:p>
            <a:pPr algn="ctr">
              <a:lnSpc>
                <a:spcPts val="8400"/>
              </a:lnSpc>
            </a:pPr>
            <a:r>
              <a:rPr lang="en-US" sz="6000" b="1">
                <a:solidFill>
                  <a:srgbClr val="000000"/>
                </a:solidFill>
                <a:latin typeface="Montserrat Bold"/>
                <a:ea typeface="Montserrat Bold"/>
                <a:cs typeface="Montserrat Bold"/>
                <a:sym typeface="Montserrat Bold"/>
              </a:rPr>
              <a:t>CONCLUSION</a:t>
            </a:r>
          </a:p>
        </p:txBody>
      </p:sp>
      <p:sp>
        <p:nvSpPr>
          <p:cNvPr id="12" name="TextBox 12"/>
          <p:cNvSpPr txBox="1"/>
          <p:nvPr/>
        </p:nvSpPr>
        <p:spPr>
          <a:xfrm>
            <a:off x="224553" y="-199390"/>
            <a:ext cx="1971749" cy="2321564"/>
          </a:xfrm>
          <a:prstGeom prst="rect">
            <a:avLst/>
          </a:prstGeom>
        </p:spPr>
        <p:txBody>
          <a:bodyPr lIns="0" tIns="0" rIns="0" bIns="0" rtlCol="0" anchor="t">
            <a:spAutoFit/>
          </a:bodyPr>
          <a:lstStyle/>
          <a:p>
            <a:pPr algn="ctr">
              <a:lnSpc>
                <a:spcPts val="19039"/>
              </a:lnSpc>
              <a:spcBef>
                <a:spcPct val="0"/>
              </a:spcBef>
            </a:pPr>
            <a:r>
              <a:rPr lang="en-US" sz="13599" b="1">
                <a:solidFill>
                  <a:srgbClr val="FFFFFF"/>
                </a:solidFill>
                <a:latin typeface="Open Sans Bold"/>
                <a:ea typeface="Open Sans Bold"/>
                <a:cs typeface="Open Sans Bold"/>
                <a:sym typeface="Open Sans Bold"/>
              </a:rPr>
              <a:t>05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94918" y="1028700"/>
            <a:ext cx="15756366" cy="816459"/>
          </a:xfrm>
          <a:prstGeom prst="rect">
            <a:avLst/>
          </a:prstGeom>
        </p:spPr>
        <p:txBody>
          <a:bodyPr lIns="0" tIns="0" rIns="0" bIns="0" rtlCol="0" anchor="t">
            <a:spAutoFit/>
          </a:bodyPr>
          <a:lstStyle/>
          <a:p>
            <a:pPr algn="l">
              <a:lnSpc>
                <a:spcPts val="6403"/>
              </a:lnSpc>
            </a:pPr>
            <a:r>
              <a:rPr lang="en-US" sz="5380" b="1">
                <a:solidFill>
                  <a:srgbClr val="1C2120"/>
                </a:solidFill>
                <a:latin typeface="Montserrat Bold"/>
                <a:ea typeface="Montserrat Bold"/>
                <a:cs typeface="Montserrat Bold"/>
                <a:sym typeface="Montserrat Bold"/>
              </a:rPr>
              <a:t>Applications &amp; Implications</a:t>
            </a:r>
          </a:p>
        </p:txBody>
      </p:sp>
      <p:sp>
        <p:nvSpPr>
          <p:cNvPr id="3" name="TextBox 3"/>
          <p:cNvSpPr txBox="1"/>
          <p:nvPr/>
        </p:nvSpPr>
        <p:spPr>
          <a:xfrm>
            <a:off x="894918" y="2601402"/>
            <a:ext cx="15886768" cy="4657598"/>
          </a:xfrm>
          <a:prstGeom prst="rect">
            <a:avLst/>
          </a:prstGeom>
        </p:spPr>
        <p:txBody>
          <a:bodyPr lIns="0" tIns="0" rIns="0" bIns="0" rtlCol="0" anchor="t">
            <a:spAutoFit/>
          </a:bodyPr>
          <a:lstStyle/>
          <a:p>
            <a:pPr algn="l">
              <a:lnSpc>
                <a:spcPts val="2632"/>
              </a:lnSpc>
            </a:pPr>
            <a:r>
              <a:rPr lang="en-US" sz="1880">
                <a:solidFill>
                  <a:srgbClr val="000000"/>
                </a:solidFill>
                <a:latin typeface="Open Sans"/>
                <a:ea typeface="Open Sans"/>
                <a:cs typeface="Open Sans"/>
                <a:sym typeface="Open Sans"/>
              </a:rPr>
              <a:t>✅ Real-World Applications</a:t>
            </a:r>
          </a:p>
          <a:p>
            <a:pPr marL="405893" lvl="1" indent="-202946" algn="l">
              <a:lnSpc>
                <a:spcPts val="2632"/>
              </a:lnSpc>
              <a:buFont typeface="Arial"/>
              <a:buChar char="•"/>
            </a:pPr>
            <a:r>
              <a:rPr lang="en-US" sz="1880">
                <a:solidFill>
                  <a:srgbClr val="000000"/>
                </a:solidFill>
                <a:latin typeface="Open Sans"/>
                <a:ea typeface="Open Sans"/>
                <a:cs typeface="Open Sans"/>
                <a:sym typeface="Open Sans"/>
              </a:rPr>
              <a:t>Real-time BCI for communication: Enables severely disabled patients (ALS, locked-in syndrome) to communicate using EEG-based systems.</a:t>
            </a:r>
          </a:p>
          <a:p>
            <a:pPr marL="405893" lvl="1" indent="-202946" algn="l">
              <a:lnSpc>
                <a:spcPts val="2632"/>
              </a:lnSpc>
              <a:buFont typeface="Arial"/>
              <a:buChar char="•"/>
            </a:pPr>
            <a:r>
              <a:rPr lang="en-US" sz="1880">
                <a:solidFill>
                  <a:srgbClr val="000000"/>
                </a:solidFill>
                <a:latin typeface="Open Sans"/>
                <a:ea typeface="Open Sans"/>
                <a:cs typeface="Open Sans"/>
                <a:sym typeface="Open Sans"/>
              </a:rPr>
              <a:t>Enhanced human-computer interaction: Enables control of smart devices, VR navigation, and AI systems using mental commands.</a:t>
            </a:r>
          </a:p>
          <a:p>
            <a:pPr marL="405893" lvl="1" indent="-202946" algn="l">
              <a:lnSpc>
                <a:spcPts val="2632"/>
              </a:lnSpc>
              <a:buFont typeface="Arial"/>
              <a:buChar char="•"/>
            </a:pPr>
            <a:r>
              <a:rPr lang="en-US" sz="1880">
                <a:solidFill>
                  <a:srgbClr val="000000"/>
                </a:solidFill>
                <a:latin typeface="Open Sans"/>
                <a:ea typeface="Open Sans"/>
                <a:cs typeface="Open Sans"/>
                <a:sym typeface="Open Sans"/>
              </a:rPr>
              <a:t>Personalized BCI systems: Adapts to individual EEG patterns, improving accuracy and efficiency.</a:t>
            </a:r>
          </a:p>
          <a:p>
            <a:pPr marL="405893" lvl="1" indent="-202946" algn="l">
              <a:lnSpc>
                <a:spcPts val="2632"/>
              </a:lnSpc>
              <a:buFont typeface="Arial"/>
              <a:buChar char="•"/>
            </a:pPr>
            <a:r>
              <a:rPr lang="en-US" sz="1880">
                <a:solidFill>
                  <a:srgbClr val="000000"/>
                </a:solidFill>
                <a:latin typeface="Open Sans"/>
                <a:ea typeface="Open Sans"/>
                <a:cs typeface="Open Sans"/>
                <a:sym typeface="Open Sans"/>
              </a:rPr>
              <a:t>Healthcare &amp; rehabilitation: Supports patient independence and enhances quality of life (Contreras-Vidal et al., 2023).</a:t>
            </a:r>
          </a:p>
          <a:p>
            <a:pPr algn="l">
              <a:lnSpc>
                <a:spcPts val="2632"/>
              </a:lnSpc>
            </a:pPr>
            <a:endParaRPr lang="en-US" sz="1880">
              <a:solidFill>
                <a:srgbClr val="000000"/>
              </a:solidFill>
              <a:latin typeface="Open Sans"/>
              <a:ea typeface="Open Sans"/>
              <a:cs typeface="Open Sans"/>
              <a:sym typeface="Open Sans"/>
            </a:endParaRPr>
          </a:p>
          <a:p>
            <a:pPr algn="l">
              <a:lnSpc>
                <a:spcPts val="2632"/>
              </a:lnSpc>
            </a:pPr>
            <a:endParaRPr lang="en-US" sz="1880">
              <a:solidFill>
                <a:srgbClr val="000000"/>
              </a:solidFill>
              <a:latin typeface="Open Sans"/>
              <a:ea typeface="Open Sans"/>
              <a:cs typeface="Open Sans"/>
              <a:sym typeface="Open Sans"/>
            </a:endParaRPr>
          </a:p>
          <a:p>
            <a:pPr algn="l">
              <a:lnSpc>
                <a:spcPts val="2632"/>
              </a:lnSpc>
            </a:pPr>
            <a:r>
              <a:rPr lang="en-US" sz="1880">
                <a:solidFill>
                  <a:srgbClr val="000000"/>
                </a:solidFill>
                <a:latin typeface="Open Sans"/>
                <a:ea typeface="Open Sans"/>
                <a:cs typeface="Open Sans"/>
                <a:sym typeface="Open Sans"/>
              </a:rPr>
              <a:t>✅ Research Implications</a:t>
            </a:r>
          </a:p>
          <a:p>
            <a:pPr marL="811785" lvl="2" indent="-270595" algn="l">
              <a:lnSpc>
                <a:spcPts val="2632"/>
              </a:lnSpc>
              <a:buFont typeface="Arial"/>
              <a:buChar char="⚬"/>
            </a:pPr>
            <a:r>
              <a:rPr lang="en-US" sz="1880">
                <a:solidFill>
                  <a:srgbClr val="000000"/>
                </a:solidFill>
                <a:latin typeface="Open Sans"/>
                <a:ea typeface="Open Sans"/>
                <a:cs typeface="Open Sans"/>
                <a:sym typeface="Open Sans"/>
              </a:rPr>
              <a:t>Deep Learning for EEG:Transformer models excel in imagined speech classification, outperforming traditional models.</a:t>
            </a:r>
          </a:p>
          <a:p>
            <a:pPr marL="811785" lvl="2" indent="-270595" algn="l">
              <a:lnSpc>
                <a:spcPts val="2632"/>
              </a:lnSpc>
              <a:buFont typeface="Arial"/>
              <a:buChar char="⚬"/>
            </a:pPr>
            <a:r>
              <a:rPr lang="en-US" sz="1880">
                <a:solidFill>
                  <a:srgbClr val="000000"/>
                </a:solidFill>
                <a:latin typeface="Open Sans"/>
                <a:ea typeface="Open Sans"/>
                <a:cs typeface="Open Sans"/>
                <a:sym typeface="Open Sans"/>
              </a:rPr>
              <a:t>MPC &amp; MSC enhance EEG connectivity analysis, improving recognition accuracy.</a:t>
            </a:r>
          </a:p>
          <a:p>
            <a:pPr marL="811785" lvl="2" indent="-270595" algn="l">
              <a:lnSpc>
                <a:spcPts val="2632"/>
              </a:lnSpc>
              <a:buFont typeface="Arial"/>
              <a:buChar char="⚬"/>
            </a:pPr>
            <a:r>
              <a:rPr lang="en-US" sz="1880">
                <a:solidFill>
                  <a:srgbClr val="000000"/>
                </a:solidFill>
                <a:latin typeface="Open Sans"/>
                <a:ea typeface="Open Sans"/>
                <a:cs typeface="Open Sans"/>
                <a:sym typeface="Open Sans"/>
              </a:rPr>
              <a:t>Dimensionality Reduction (PCA):Reduces feature complexity, prevents overfitting, and improves training efficiency.</a:t>
            </a:r>
          </a:p>
          <a:p>
            <a:pPr marL="811785" lvl="2" indent="-270595" algn="l">
              <a:lnSpc>
                <a:spcPts val="2632"/>
              </a:lnSpc>
              <a:buFont typeface="Arial"/>
              <a:buChar char="⚬"/>
            </a:pPr>
            <a:r>
              <a:rPr lang="en-US" sz="1880">
                <a:solidFill>
                  <a:srgbClr val="000000"/>
                </a:solidFill>
                <a:latin typeface="Open Sans"/>
                <a:ea typeface="Open Sans"/>
                <a:cs typeface="Open Sans"/>
                <a:sym typeface="Open Sans"/>
              </a:rPr>
              <a:t>Maintains high accuracy while optimizing computational resources.</a:t>
            </a:r>
          </a:p>
          <a:p>
            <a:pPr algn="l">
              <a:lnSpc>
                <a:spcPts val="2632"/>
              </a:lnSpc>
            </a:pPr>
            <a:endParaRPr lang="en-US" sz="1880">
              <a:solidFill>
                <a:srgbClr val="000000"/>
              </a:solidFill>
              <a:latin typeface="Open Sans"/>
              <a:ea typeface="Open Sans"/>
              <a:cs typeface="Open Sans"/>
              <a:sym typeface="Open Sans"/>
            </a:endParaRPr>
          </a:p>
          <a:p>
            <a:pPr algn="l">
              <a:lnSpc>
                <a:spcPts val="2632"/>
              </a:lnSpc>
              <a:spcBef>
                <a:spcPct val="0"/>
              </a:spcBef>
            </a:pPr>
            <a:endParaRPr lang="en-US" sz="1880">
              <a:solidFill>
                <a:srgbClr val="000000"/>
              </a:solidFill>
              <a:latin typeface="Open Sans"/>
              <a:ea typeface="Open Sans"/>
              <a:cs typeface="Open Sans"/>
              <a:sym typeface="Open Sans"/>
            </a:endParaRPr>
          </a:p>
        </p:txBody>
      </p:sp>
      <p:sp>
        <p:nvSpPr>
          <p:cNvPr id="4" name="Freeform 4"/>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2"/>
            <a:stretch>
              <a:fillRect t="-10270" b="-14099"/>
            </a:stretch>
          </a:blipFill>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94918" y="2462276"/>
            <a:ext cx="16146521" cy="4990973"/>
          </a:xfrm>
          <a:prstGeom prst="rect">
            <a:avLst/>
          </a:prstGeom>
        </p:spPr>
        <p:txBody>
          <a:bodyPr lIns="0" tIns="0" rIns="0" bIns="0" rtlCol="0" anchor="t">
            <a:spAutoFit/>
          </a:bodyPr>
          <a:lstStyle/>
          <a:p>
            <a:pPr algn="l">
              <a:lnSpc>
                <a:spcPts val="2632"/>
              </a:lnSpc>
            </a:pPr>
            <a:r>
              <a:rPr lang="en-US" sz="1880">
                <a:solidFill>
                  <a:srgbClr val="000000"/>
                </a:solidFill>
                <a:latin typeface="Open Sans"/>
                <a:ea typeface="Open Sans"/>
                <a:cs typeface="Open Sans"/>
                <a:sym typeface="Open Sans"/>
              </a:rPr>
              <a:t>🔹 </a:t>
            </a:r>
            <a:r>
              <a:rPr lang="en-US" sz="1880" b="1">
                <a:solidFill>
                  <a:srgbClr val="000000"/>
                </a:solidFill>
                <a:latin typeface="Open Sans Bold"/>
                <a:ea typeface="Open Sans Bold"/>
                <a:cs typeface="Open Sans Bold"/>
                <a:sym typeface="Open Sans Bold"/>
              </a:rPr>
              <a:t>Limitations</a:t>
            </a:r>
          </a:p>
          <a:p>
            <a:pPr marL="405893" lvl="1" indent="-202946" algn="l">
              <a:lnSpc>
                <a:spcPts val="2632"/>
              </a:lnSpc>
              <a:buFont typeface="Arial"/>
              <a:buChar char="•"/>
            </a:pPr>
            <a:r>
              <a:rPr lang="en-US" sz="1880" i="1">
                <a:solidFill>
                  <a:srgbClr val="000000"/>
                </a:solidFill>
                <a:latin typeface="Open Sans Italics"/>
                <a:ea typeface="Open Sans Italics"/>
                <a:cs typeface="Open Sans Italics"/>
                <a:sym typeface="Open Sans Italics"/>
              </a:rPr>
              <a:t>Limited dataset size</a:t>
            </a:r>
            <a:r>
              <a:rPr lang="en-US" sz="1880">
                <a:solidFill>
                  <a:srgbClr val="000000"/>
                </a:solidFill>
                <a:latin typeface="Open Sans"/>
                <a:ea typeface="Open Sans"/>
                <a:cs typeface="Open Sans"/>
                <a:sym typeface="Open Sans"/>
              </a:rPr>
              <a:t> – Affects generalization; a more diverse dataset is needed.</a:t>
            </a:r>
          </a:p>
          <a:p>
            <a:pPr marL="405893" lvl="1" indent="-202946" algn="l">
              <a:lnSpc>
                <a:spcPts val="2632"/>
              </a:lnSpc>
              <a:buFont typeface="Arial"/>
              <a:buChar char="•"/>
            </a:pPr>
            <a:r>
              <a:rPr lang="en-US" sz="1880" i="1">
                <a:solidFill>
                  <a:srgbClr val="000000"/>
                </a:solidFill>
                <a:latin typeface="Open Sans Italics"/>
                <a:ea typeface="Open Sans Italics"/>
                <a:cs typeface="Open Sans Italics"/>
                <a:sym typeface="Open Sans Italics"/>
              </a:rPr>
              <a:t>Subject-specific EEG variations</a:t>
            </a:r>
            <a:r>
              <a:rPr lang="en-US" sz="1880">
                <a:solidFill>
                  <a:srgbClr val="000000"/>
                </a:solidFill>
                <a:latin typeface="Open Sans"/>
                <a:ea typeface="Open Sans"/>
                <a:cs typeface="Open Sans"/>
                <a:sym typeface="Open Sans"/>
              </a:rPr>
              <a:t> – Brainwave patterns differ across individuals, impacting model consistency.</a:t>
            </a:r>
          </a:p>
          <a:p>
            <a:pPr marL="405893" lvl="1" indent="-202946" algn="l">
              <a:lnSpc>
                <a:spcPts val="2632"/>
              </a:lnSpc>
              <a:buFont typeface="Arial"/>
              <a:buChar char="•"/>
            </a:pPr>
            <a:r>
              <a:rPr lang="en-US" sz="1880" i="1">
                <a:solidFill>
                  <a:srgbClr val="000000"/>
                </a:solidFill>
                <a:latin typeface="Open Sans Italics"/>
                <a:ea typeface="Open Sans Italics"/>
                <a:cs typeface="Open Sans Italics"/>
                <a:sym typeface="Open Sans Italics"/>
              </a:rPr>
              <a:t>Real-time execution challenges</a:t>
            </a:r>
            <a:r>
              <a:rPr lang="en-US" sz="1880">
                <a:solidFill>
                  <a:srgbClr val="000000"/>
                </a:solidFill>
                <a:latin typeface="Open Sans"/>
                <a:ea typeface="Open Sans"/>
                <a:cs typeface="Open Sans"/>
                <a:sym typeface="Open Sans"/>
              </a:rPr>
              <a:t> – Computational constraints and latency hinder deployment on portable devices.</a:t>
            </a:r>
          </a:p>
          <a:p>
            <a:pPr marL="405893" lvl="1" indent="-202946" algn="l">
              <a:lnSpc>
                <a:spcPts val="2632"/>
              </a:lnSpc>
              <a:buFont typeface="Arial"/>
              <a:buChar char="•"/>
            </a:pPr>
            <a:r>
              <a:rPr lang="en-US" sz="1880" i="1">
                <a:solidFill>
                  <a:srgbClr val="000000"/>
                </a:solidFill>
                <a:latin typeface="Open Sans Italics"/>
                <a:ea typeface="Open Sans Italics"/>
                <a:cs typeface="Open Sans Italics"/>
                <a:sym typeface="Open Sans Italics"/>
              </a:rPr>
              <a:t>Feature extraction improvements</a:t>
            </a:r>
            <a:r>
              <a:rPr lang="en-US" sz="1880">
                <a:solidFill>
                  <a:srgbClr val="000000"/>
                </a:solidFill>
                <a:latin typeface="Open Sans"/>
                <a:ea typeface="Open Sans"/>
                <a:cs typeface="Open Sans"/>
                <a:sym typeface="Open Sans"/>
              </a:rPr>
              <a:t> – While MPC &amp; MSC captured connectivity, alternative techniques like DWT could further enhance accuracy.</a:t>
            </a:r>
          </a:p>
          <a:p>
            <a:pPr algn="l">
              <a:lnSpc>
                <a:spcPts val="2632"/>
              </a:lnSpc>
            </a:pPr>
            <a:endParaRPr lang="en-US" sz="1880">
              <a:solidFill>
                <a:srgbClr val="000000"/>
              </a:solidFill>
              <a:latin typeface="Open Sans"/>
              <a:ea typeface="Open Sans"/>
              <a:cs typeface="Open Sans"/>
              <a:sym typeface="Open Sans"/>
            </a:endParaRPr>
          </a:p>
          <a:p>
            <a:pPr algn="l">
              <a:lnSpc>
                <a:spcPts val="2632"/>
              </a:lnSpc>
            </a:pPr>
            <a:r>
              <a:rPr lang="en-US" sz="1880">
                <a:solidFill>
                  <a:srgbClr val="000000"/>
                </a:solidFill>
                <a:latin typeface="Open Sans"/>
                <a:ea typeface="Open Sans"/>
                <a:cs typeface="Open Sans"/>
                <a:sym typeface="Open Sans"/>
              </a:rPr>
              <a:t>🔹 </a:t>
            </a:r>
            <a:r>
              <a:rPr lang="en-US" sz="1880" b="1">
                <a:solidFill>
                  <a:srgbClr val="000000"/>
                </a:solidFill>
                <a:latin typeface="Open Sans Bold"/>
                <a:ea typeface="Open Sans Bold"/>
                <a:cs typeface="Open Sans Bold"/>
                <a:sym typeface="Open Sans Bold"/>
              </a:rPr>
              <a:t>Future Work</a:t>
            </a:r>
          </a:p>
          <a:p>
            <a:pPr marL="405893" lvl="1" indent="-202946" algn="l">
              <a:lnSpc>
                <a:spcPts val="2632"/>
              </a:lnSpc>
              <a:buFont typeface="Arial"/>
              <a:buChar char="•"/>
            </a:pPr>
            <a:r>
              <a:rPr lang="en-US" sz="1880" i="1">
                <a:solidFill>
                  <a:srgbClr val="000000"/>
                </a:solidFill>
                <a:latin typeface="Open Sans Italics"/>
                <a:ea typeface="Open Sans Italics"/>
                <a:cs typeface="Open Sans Italics"/>
                <a:sym typeface="Open Sans Italics"/>
              </a:rPr>
              <a:t>Data Augmentation (GANs)</a:t>
            </a:r>
            <a:r>
              <a:rPr lang="en-US" sz="1880">
                <a:solidFill>
                  <a:srgbClr val="000000"/>
                </a:solidFill>
                <a:latin typeface="Open Sans"/>
                <a:ea typeface="Open Sans"/>
                <a:cs typeface="Open Sans"/>
                <a:sym typeface="Open Sans"/>
              </a:rPr>
              <a:t>: Generate synthetic EEG trials to improve model robustness.</a:t>
            </a:r>
          </a:p>
          <a:p>
            <a:pPr marL="405893" lvl="1" indent="-202946" algn="l">
              <a:lnSpc>
                <a:spcPts val="2632"/>
              </a:lnSpc>
              <a:buFont typeface="Arial"/>
              <a:buChar char="•"/>
            </a:pPr>
            <a:r>
              <a:rPr lang="en-US" sz="1880" i="1">
                <a:solidFill>
                  <a:srgbClr val="000000"/>
                </a:solidFill>
                <a:latin typeface="Open Sans Italics"/>
                <a:ea typeface="Open Sans Italics"/>
                <a:cs typeface="Open Sans Italics"/>
                <a:sym typeface="Open Sans Italics"/>
              </a:rPr>
              <a:t>Transfer Learning:</a:t>
            </a:r>
            <a:r>
              <a:rPr lang="en-US" sz="1880">
                <a:solidFill>
                  <a:srgbClr val="000000"/>
                </a:solidFill>
                <a:latin typeface="Open Sans"/>
                <a:ea typeface="Open Sans"/>
                <a:cs typeface="Open Sans"/>
                <a:sym typeface="Open Sans"/>
              </a:rPr>
              <a:t> Adapt models across subjects to minimize user-specific training.</a:t>
            </a:r>
          </a:p>
          <a:p>
            <a:pPr marL="405893" lvl="1" indent="-202946" algn="l">
              <a:lnSpc>
                <a:spcPts val="2632"/>
              </a:lnSpc>
              <a:buFont typeface="Arial"/>
              <a:buChar char="•"/>
            </a:pPr>
            <a:r>
              <a:rPr lang="en-US" sz="1880" i="1">
                <a:solidFill>
                  <a:srgbClr val="000000"/>
                </a:solidFill>
                <a:latin typeface="Open Sans Italics"/>
                <a:ea typeface="Open Sans Italics"/>
                <a:cs typeface="Open Sans Italics"/>
                <a:sym typeface="Open Sans Italics"/>
              </a:rPr>
              <a:t>Real-Time Optimization</a:t>
            </a:r>
            <a:r>
              <a:rPr lang="en-US" sz="1880">
                <a:solidFill>
                  <a:srgbClr val="000000"/>
                </a:solidFill>
                <a:latin typeface="Open Sans"/>
                <a:ea typeface="Open Sans"/>
                <a:cs typeface="Open Sans"/>
                <a:sym typeface="Open Sans"/>
              </a:rPr>
              <a:t>: Develop low-latency EEG classification for portable applications.</a:t>
            </a:r>
          </a:p>
          <a:p>
            <a:pPr marL="405893" lvl="1" indent="-202946" algn="l">
              <a:lnSpc>
                <a:spcPts val="2632"/>
              </a:lnSpc>
              <a:buFont typeface="Arial"/>
              <a:buChar char="•"/>
            </a:pPr>
            <a:r>
              <a:rPr lang="en-US" sz="1880" i="1">
                <a:solidFill>
                  <a:srgbClr val="000000"/>
                </a:solidFill>
                <a:latin typeface="Open Sans Italics"/>
                <a:ea typeface="Open Sans Italics"/>
                <a:cs typeface="Open Sans Italics"/>
                <a:sym typeface="Open Sans Italics"/>
              </a:rPr>
              <a:t>Multimodal BCIs:</a:t>
            </a:r>
            <a:r>
              <a:rPr lang="en-US" sz="1880">
                <a:solidFill>
                  <a:srgbClr val="000000"/>
                </a:solidFill>
                <a:latin typeface="Open Sans"/>
                <a:ea typeface="Open Sans"/>
                <a:cs typeface="Open Sans"/>
                <a:sym typeface="Open Sans"/>
              </a:rPr>
              <a:t> Integrate EEG with EMG or eye-tracking for improved accuracy.</a:t>
            </a:r>
          </a:p>
          <a:p>
            <a:pPr marL="405893" lvl="1" indent="-202946" algn="l">
              <a:lnSpc>
                <a:spcPts val="2632"/>
              </a:lnSpc>
              <a:buFont typeface="Arial"/>
              <a:buChar char="•"/>
            </a:pPr>
            <a:r>
              <a:rPr lang="en-US" sz="1880" i="1">
                <a:solidFill>
                  <a:srgbClr val="000000"/>
                </a:solidFill>
                <a:latin typeface="Open Sans Italics"/>
                <a:ea typeface="Open Sans Italics"/>
                <a:cs typeface="Open Sans Italics"/>
                <a:sym typeface="Open Sans Italics"/>
              </a:rPr>
              <a:t>Healthcare Applications</a:t>
            </a:r>
            <a:r>
              <a:rPr lang="en-US" sz="1880">
                <a:solidFill>
                  <a:srgbClr val="000000"/>
                </a:solidFill>
                <a:latin typeface="Open Sans"/>
                <a:ea typeface="Open Sans"/>
                <a:cs typeface="Open Sans"/>
                <a:sym typeface="Open Sans"/>
              </a:rPr>
              <a:t>: Enhance BCI-based communication for patients with severe motor disabilities.</a:t>
            </a:r>
          </a:p>
          <a:p>
            <a:pPr marL="405893" lvl="1" indent="-202946" algn="l">
              <a:lnSpc>
                <a:spcPts val="2632"/>
              </a:lnSpc>
              <a:buFont typeface="Arial"/>
              <a:buChar char="•"/>
            </a:pPr>
            <a:r>
              <a:rPr lang="en-US" sz="1880" i="1">
                <a:solidFill>
                  <a:srgbClr val="000000"/>
                </a:solidFill>
                <a:latin typeface="Open Sans Italics"/>
                <a:ea typeface="Open Sans Italics"/>
                <a:cs typeface="Open Sans Italics"/>
                <a:sym typeface="Open Sans Italics"/>
              </a:rPr>
              <a:t>Cross-Domain Use</a:t>
            </a:r>
            <a:r>
              <a:rPr lang="en-US" sz="1880">
                <a:solidFill>
                  <a:srgbClr val="000000"/>
                </a:solidFill>
                <a:latin typeface="Open Sans"/>
                <a:ea typeface="Open Sans"/>
                <a:cs typeface="Open Sans"/>
                <a:sym typeface="Open Sans"/>
              </a:rPr>
              <a:t>: Extend findings to emotion detection, cognitive load monitoring, and mental state assessment.</a:t>
            </a:r>
          </a:p>
          <a:p>
            <a:pPr algn="l">
              <a:lnSpc>
                <a:spcPts val="2632"/>
              </a:lnSpc>
            </a:pPr>
            <a:endParaRPr lang="en-US" sz="1880">
              <a:solidFill>
                <a:srgbClr val="000000"/>
              </a:solidFill>
              <a:latin typeface="Open Sans"/>
              <a:ea typeface="Open Sans"/>
              <a:cs typeface="Open Sans"/>
              <a:sym typeface="Open Sans"/>
            </a:endParaRPr>
          </a:p>
          <a:p>
            <a:pPr algn="l">
              <a:lnSpc>
                <a:spcPts val="2632"/>
              </a:lnSpc>
              <a:spcBef>
                <a:spcPct val="0"/>
              </a:spcBef>
            </a:pPr>
            <a:endParaRPr lang="en-US" sz="1880">
              <a:solidFill>
                <a:srgbClr val="000000"/>
              </a:solidFill>
              <a:latin typeface="Open Sans"/>
              <a:ea typeface="Open Sans"/>
              <a:cs typeface="Open Sans"/>
              <a:sym typeface="Open Sans"/>
            </a:endParaRPr>
          </a:p>
        </p:txBody>
      </p:sp>
      <p:sp>
        <p:nvSpPr>
          <p:cNvPr id="3" name="Freeform 3"/>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2"/>
            <a:stretch>
              <a:fillRect t="-10270" b="-14099"/>
            </a:stretch>
          </a:blipFill>
        </p:spPr>
        <p:txBody>
          <a:bodyPr/>
          <a:lstStyle/>
          <a:p>
            <a:endParaRPr lang="en-US"/>
          </a:p>
        </p:txBody>
      </p:sp>
      <p:grpSp>
        <p:nvGrpSpPr>
          <p:cNvPr id="4" name="Group 4"/>
          <p:cNvGrpSpPr/>
          <p:nvPr/>
        </p:nvGrpSpPr>
        <p:grpSpPr>
          <a:xfrm>
            <a:off x="5671828" y="837607"/>
            <a:ext cx="4915839" cy="816459"/>
            <a:chOff x="0" y="0"/>
            <a:chExt cx="1294706" cy="215034"/>
          </a:xfrm>
        </p:grpSpPr>
        <p:sp>
          <p:nvSpPr>
            <p:cNvPr id="5" name="Freeform 5"/>
            <p:cNvSpPr/>
            <p:nvPr/>
          </p:nvSpPr>
          <p:spPr>
            <a:xfrm>
              <a:off x="0" y="0"/>
              <a:ext cx="1294706" cy="215034"/>
            </a:xfrm>
            <a:custGeom>
              <a:avLst/>
              <a:gdLst/>
              <a:ahLst/>
              <a:cxnLst/>
              <a:rect l="l" t="t" r="r" b="b"/>
              <a:pathLst>
                <a:path w="1294706" h="215034">
                  <a:moveTo>
                    <a:pt x="0" y="0"/>
                  </a:moveTo>
                  <a:lnTo>
                    <a:pt x="1294706" y="0"/>
                  </a:lnTo>
                  <a:lnTo>
                    <a:pt x="1294706" y="215034"/>
                  </a:lnTo>
                  <a:lnTo>
                    <a:pt x="0" y="215034"/>
                  </a:lnTo>
                  <a:close/>
                </a:path>
              </a:pathLst>
            </a:custGeom>
            <a:solidFill>
              <a:srgbClr val="55FF4D"/>
            </a:solidFill>
          </p:spPr>
          <p:txBody>
            <a:bodyPr/>
            <a:lstStyle/>
            <a:p>
              <a:endParaRPr lang="en-US"/>
            </a:p>
          </p:txBody>
        </p:sp>
        <p:sp>
          <p:nvSpPr>
            <p:cNvPr id="6" name="TextBox 6"/>
            <p:cNvSpPr txBox="1"/>
            <p:nvPr/>
          </p:nvSpPr>
          <p:spPr>
            <a:xfrm>
              <a:off x="0" y="-28575"/>
              <a:ext cx="1294706" cy="243609"/>
            </a:xfrm>
            <a:prstGeom prst="rect">
              <a:avLst/>
            </a:prstGeom>
          </p:spPr>
          <p:txBody>
            <a:bodyPr lIns="50800" tIns="50800" rIns="50800" bIns="50800" rtlCol="0" anchor="ctr"/>
            <a:lstStyle/>
            <a:p>
              <a:pPr algn="ctr">
                <a:lnSpc>
                  <a:spcPts val="2243"/>
                </a:lnSpc>
              </a:pPr>
              <a:endParaRPr/>
            </a:p>
          </p:txBody>
        </p:sp>
      </p:grpSp>
      <p:sp>
        <p:nvSpPr>
          <p:cNvPr id="7" name="TextBox 7"/>
          <p:cNvSpPr txBox="1"/>
          <p:nvPr/>
        </p:nvSpPr>
        <p:spPr>
          <a:xfrm>
            <a:off x="894918" y="837607"/>
            <a:ext cx="10512597" cy="816459"/>
          </a:xfrm>
          <a:prstGeom prst="rect">
            <a:avLst/>
          </a:prstGeom>
        </p:spPr>
        <p:txBody>
          <a:bodyPr lIns="0" tIns="0" rIns="0" bIns="0" rtlCol="0" anchor="t">
            <a:spAutoFit/>
          </a:bodyPr>
          <a:lstStyle/>
          <a:p>
            <a:pPr algn="l">
              <a:lnSpc>
                <a:spcPts val="6403"/>
              </a:lnSpc>
            </a:pPr>
            <a:r>
              <a:rPr lang="en-US" sz="5380" b="1">
                <a:solidFill>
                  <a:srgbClr val="1C2120"/>
                </a:solidFill>
                <a:latin typeface="Montserrat Bold"/>
                <a:ea typeface="Montserrat Bold"/>
                <a:cs typeface="Montserrat Bold"/>
                <a:sym typeface="Montserrat Bold"/>
              </a:rPr>
              <a:t>Limitations &amp; Future Work</a:t>
            </a:r>
          </a:p>
        </p:txBody>
      </p:sp>
      <p:sp>
        <p:nvSpPr>
          <p:cNvPr id="8" name="AutoShape 8"/>
          <p:cNvSpPr/>
          <p:nvPr/>
        </p:nvSpPr>
        <p:spPr>
          <a:xfrm flipV="1">
            <a:off x="956745" y="1654066"/>
            <a:ext cx="9630922" cy="0"/>
          </a:xfrm>
          <a:prstGeom prst="line">
            <a:avLst/>
          </a:prstGeom>
          <a:ln w="38100" cap="flat">
            <a:solidFill>
              <a:srgbClr val="55FF4D"/>
            </a:solidFill>
            <a:prstDash val="solid"/>
            <a:headEnd type="none" w="sm" len="sm"/>
            <a:tailEnd type="none" w="sm" len="sm"/>
          </a:ln>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934543"/>
            <a:ext cx="9652165" cy="816459"/>
          </a:xfrm>
          <a:prstGeom prst="rect">
            <a:avLst/>
          </a:prstGeom>
        </p:spPr>
        <p:txBody>
          <a:bodyPr lIns="0" tIns="0" rIns="0" bIns="0" rtlCol="0" anchor="t">
            <a:spAutoFit/>
          </a:bodyPr>
          <a:lstStyle/>
          <a:p>
            <a:pPr algn="l">
              <a:lnSpc>
                <a:spcPts val="6403"/>
              </a:lnSpc>
            </a:pPr>
            <a:r>
              <a:rPr lang="en-US" sz="5380" b="1">
                <a:solidFill>
                  <a:srgbClr val="1C2120"/>
                </a:solidFill>
                <a:latin typeface="Montserrat Bold"/>
                <a:ea typeface="Montserrat Bold"/>
                <a:cs typeface="Montserrat Bold"/>
                <a:sym typeface="Montserrat Bold"/>
              </a:rPr>
              <a:t>Conclusion</a:t>
            </a:r>
          </a:p>
        </p:txBody>
      </p:sp>
      <p:sp>
        <p:nvSpPr>
          <p:cNvPr id="3" name="TextBox 3"/>
          <p:cNvSpPr txBox="1"/>
          <p:nvPr/>
        </p:nvSpPr>
        <p:spPr>
          <a:xfrm>
            <a:off x="1028700" y="2236078"/>
            <a:ext cx="14074980" cy="5657723"/>
          </a:xfrm>
          <a:prstGeom prst="rect">
            <a:avLst/>
          </a:prstGeom>
        </p:spPr>
        <p:txBody>
          <a:bodyPr lIns="0" tIns="0" rIns="0" bIns="0" rtlCol="0" anchor="t">
            <a:spAutoFit/>
          </a:bodyPr>
          <a:lstStyle/>
          <a:p>
            <a:pPr algn="l">
              <a:lnSpc>
                <a:spcPts val="2632"/>
              </a:lnSpc>
            </a:pPr>
            <a:r>
              <a:rPr lang="en-US" sz="1880">
                <a:solidFill>
                  <a:srgbClr val="000000"/>
                </a:solidFill>
                <a:latin typeface="Open Sans"/>
                <a:ea typeface="Open Sans"/>
                <a:cs typeface="Open Sans"/>
                <a:sym typeface="Open Sans"/>
              </a:rPr>
              <a:t> ✅ Transformer-based models outperform traditional methods (CNN-LSTM, MLP) in EEG-based imagined speech recognition.</a:t>
            </a:r>
          </a:p>
          <a:p>
            <a:pPr algn="l">
              <a:lnSpc>
                <a:spcPts val="2632"/>
              </a:lnSpc>
            </a:pPr>
            <a:r>
              <a:rPr lang="en-US" sz="1880">
                <a:solidFill>
                  <a:srgbClr val="000000"/>
                </a:solidFill>
                <a:latin typeface="Open Sans"/>
                <a:ea typeface="Open Sans"/>
                <a:cs typeface="Open Sans"/>
                <a:sym typeface="Open Sans"/>
              </a:rPr>
              <a:t> ✅ PCA enhances model efficiency and accuracy, reducing overfitting while maintaining key features.</a:t>
            </a:r>
          </a:p>
          <a:p>
            <a:pPr algn="l">
              <a:lnSpc>
                <a:spcPts val="2632"/>
              </a:lnSpc>
            </a:pPr>
            <a:r>
              <a:rPr lang="en-US" sz="1880">
                <a:solidFill>
                  <a:srgbClr val="000000"/>
                </a:solidFill>
                <a:latin typeface="Open Sans"/>
                <a:ea typeface="Open Sans"/>
                <a:cs typeface="Open Sans"/>
                <a:sym typeface="Open Sans"/>
              </a:rPr>
              <a:t> ✅ Feature extraction techniques (MPC, MSC, FFT) are crucial for improving classification performance.</a:t>
            </a:r>
          </a:p>
          <a:p>
            <a:pPr algn="l">
              <a:lnSpc>
                <a:spcPts val="2632"/>
              </a:lnSpc>
            </a:pPr>
            <a:r>
              <a:rPr lang="en-US" sz="1880">
                <a:solidFill>
                  <a:srgbClr val="000000"/>
                </a:solidFill>
                <a:latin typeface="Open Sans"/>
                <a:ea typeface="Open Sans"/>
                <a:cs typeface="Open Sans"/>
                <a:sym typeface="Open Sans"/>
              </a:rPr>
              <a:t> ✅ Opens new opportunities in healthcare and human-computer interaction, enabling better communication for motor-impaired individuals.</a:t>
            </a:r>
          </a:p>
          <a:p>
            <a:pPr algn="l">
              <a:lnSpc>
                <a:spcPts val="2632"/>
              </a:lnSpc>
            </a:pPr>
            <a:endParaRPr lang="en-US" sz="1880">
              <a:solidFill>
                <a:srgbClr val="000000"/>
              </a:solidFill>
              <a:latin typeface="Open Sans"/>
              <a:ea typeface="Open Sans"/>
              <a:cs typeface="Open Sans"/>
              <a:sym typeface="Open Sans"/>
            </a:endParaRPr>
          </a:p>
          <a:p>
            <a:pPr algn="l">
              <a:lnSpc>
                <a:spcPts val="2632"/>
              </a:lnSpc>
            </a:pPr>
            <a:endParaRPr lang="en-US" sz="1880">
              <a:solidFill>
                <a:srgbClr val="000000"/>
              </a:solidFill>
              <a:latin typeface="Open Sans"/>
              <a:ea typeface="Open Sans"/>
              <a:cs typeface="Open Sans"/>
              <a:sym typeface="Open Sans"/>
            </a:endParaRPr>
          </a:p>
          <a:p>
            <a:pPr algn="l">
              <a:lnSpc>
                <a:spcPts val="2632"/>
              </a:lnSpc>
            </a:pPr>
            <a:r>
              <a:rPr lang="en-US" sz="1880" b="1">
                <a:solidFill>
                  <a:srgbClr val="000000"/>
                </a:solidFill>
                <a:latin typeface="Open Sans Bold"/>
                <a:ea typeface="Open Sans Bold"/>
                <a:cs typeface="Open Sans Bold"/>
                <a:sym typeface="Open Sans Bold"/>
              </a:rPr>
              <a:t>🔹 Key Takeaways:</a:t>
            </a:r>
          </a:p>
          <a:p>
            <a:pPr marL="405893" lvl="1" indent="-202946" algn="l">
              <a:lnSpc>
                <a:spcPts val="2632"/>
              </a:lnSpc>
              <a:buFont typeface="Arial"/>
              <a:buChar char="•"/>
            </a:pPr>
            <a:r>
              <a:rPr lang="en-US" sz="1880">
                <a:solidFill>
                  <a:srgbClr val="000000"/>
                </a:solidFill>
                <a:latin typeface="Open Sans"/>
                <a:ea typeface="Open Sans"/>
                <a:cs typeface="Open Sans"/>
                <a:sym typeface="Open Sans"/>
              </a:rPr>
              <a:t>Self-attention in Transformers captures long-range dependencies, improving recognition accuracy.</a:t>
            </a:r>
          </a:p>
          <a:p>
            <a:pPr marL="405893" lvl="1" indent="-202946" algn="l">
              <a:lnSpc>
                <a:spcPts val="2632"/>
              </a:lnSpc>
              <a:buFont typeface="Arial"/>
              <a:buChar char="•"/>
            </a:pPr>
            <a:r>
              <a:rPr lang="en-US" sz="1880">
                <a:solidFill>
                  <a:srgbClr val="000000"/>
                </a:solidFill>
                <a:latin typeface="Open Sans"/>
                <a:ea typeface="Open Sans"/>
                <a:cs typeface="Open Sans"/>
                <a:sym typeface="Open Sans"/>
              </a:rPr>
              <a:t>PCA and feature extraction ensure better generalization and prevent overfitting.</a:t>
            </a:r>
          </a:p>
          <a:p>
            <a:pPr marL="405893" lvl="1" indent="-202946" algn="l">
              <a:lnSpc>
                <a:spcPts val="2632"/>
              </a:lnSpc>
              <a:buFont typeface="Arial"/>
              <a:buChar char="•"/>
            </a:pPr>
            <a:r>
              <a:rPr lang="en-US" sz="1880">
                <a:solidFill>
                  <a:srgbClr val="000000"/>
                </a:solidFill>
                <a:latin typeface="Open Sans"/>
                <a:ea typeface="Open Sans"/>
                <a:cs typeface="Open Sans"/>
                <a:sym typeface="Open Sans"/>
              </a:rPr>
              <a:t>Challenges remain in real-time execution, dataset size, and personalized models.</a:t>
            </a:r>
          </a:p>
          <a:p>
            <a:pPr algn="l">
              <a:lnSpc>
                <a:spcPts val="2632"/>
              </a:lnSpc>
            </a:pPr>
            <a:endParaRPr lang="en-US" sz="1880">
              <a:solidFill>
                <a:srgbClr val="000000"/>
              </a:solidFill>
              <a:latin typeface="Open Sans"/>
              <a:ea typeface="Open Sans"/>
              <a:cs typeface="Open Sans"/>
              <a:sym typeface="Open Sans"/>
            </a:endParaRPr>
          </a:p>
          <a:p>
            <a:pPr algn="l">
              <a:lnSpc>
                <a:spcPts val="2632"/>
              </a:lnSpc>
            </a:pPr>
            <a:r>
              <a:rPr lang="en-US" sz="1880" b="1">
                <a:solidFill>
                  <a:srgbClr val="000000"/>
                </a:solidFill>
                <a:latin typeface="Open Sans Bold"/>
                <a:ea typeface="Open Sans Bold"/>
                <a:cs typeface="Open Sans Bold"/>
                <a:sym typeface="Open Sans Bold"/>
              </a:rPr>
              <a:t>🔹 Future Directions:</a:t>
            </a:r>
          </a:p>
          <a:p>
            <a:pPr marL="405893" lvl="1" indent="-202946" algn="l">
              <a:lnSpc>
                <a:spcPts val="2632"/>
              </a:lnSpc>
              <a:buFont typeface="Arial"/>
              <a:buChar char="•"/>
            </a:pPr>
            <a:r>
              <a:rPr lang="en-US" sz="1880">
                <a:solidFill>
                  <a:srgbClr val="000000"/>
                </a:solidFill>
                <a:latin typeface="Open Sans"/>
                <a:ea typeface="Open Sans"/>
                <a:cs typeface="Open Sans"/>
                <a:sym typeface="Open Sans"/>
              </a:rPr>
              <a:t>Data augmentation &amp; transfer learning to enhance model generalization.</a:t>
            </a:r>
          </a:p>
          <a:p>
            <a:pPr marL="405893" lvl="1" indent="-202946" algn="l">
              <a:lnSpc>
                <a:spcPts val="2632"/>
              </a:lnSpc>
              <a:buFont typeface="Arial"/>
              <a:buChar char="•"/>
            </a:pPr>
            <a:r>
              <a:rPr lang="en-US" sz="1880">
                <a:solidFill>
                  <a:srgbClr val="000000"/>
                </a:solidFill>
                <a:latin typeface="Open Sans"/>
                <a:ea typeface="Open Sans"/>
                <a:cs typeface="Open Sans"/>
                <a:sym typeface="Open Sans"/>
              </a:rPr>
              <a:t>Optimizing models for real-time applications to make EEG-based BCIs more practical and accessible.</a:t>
            </a:r>
          </a:p>
          <a:p>
            <a:pPr algn="l">
              <a:lnSpc>
                <a:spcPts val="2632"/>
              </a:lnSpc>
            </a:pPr>
            <a:endParaRPr lang="en-US" sz="1880">
              <a:solidFill>
                <a:srgbClr val="000000"/>
              </a:solidFill>
              <a:latin typeface="Open Sans"/>
              <a:ea typeface="Open Sans"/>
              <a:cs typeface="Open Sans"/>
              <a:sym typeface="Open Sans"/>
            </a:endParaRPr>
          </a:p>
          <a:p>
            <a:pPr algn="l">
              <a:lnSpc>
                <a:spcPts val="2632"/>
              </a:lnSpc>
              <a:spcBef>
                <a:spcPct val="0"/>
              </a:spcBef>
            </a:pPr>
            <a:endParaRPr lang="en-US" sz="1880">
              <a:solidFill>
                <a:srgbClr val="000000"/>
              </a:solidFill>
              <a:latin typeface="Open Sans"/>
              <a:ea typeface="Open Sans"/>
              <a:cs typeface="Open Sans"/>
              <a:sym typeface="Open Sans"/>
            </a:endParaRPr>
          </a:p>
        </p:txBody>
      </p:sp>
      <p:sp>
        <p:nvSpPr>
          <p:cNvPr id="4" name="Freeform 4"/>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2"/>
            <a:stretch>
              <a:fillRect t="-10270" b="-14099"/>
            </a:stretch>
          </a:blipFill>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934543"/>
            <a:ext cx="9652165" cy="816459"/>
          </a:xfrm>
          <a:prstGeom prst="rect">
            <a:avLst/>
          </a:prstGeom>
        </p:spPr>
        <p:txBody>
          <a:bodyPr lIns="0" tIns="0" rIns="0" bIns="0" rtlCol="0" anchor="t">
            <a:spAutoFit/>
          </a:bodyPr>
          <a:lstStyle/>
          <a:p>
            <a:pPr algn="l">
              <a:lnSpc>
                <a:spcPts val="6403"/>
              </a:lnSpc>
            </a:pPr>
            <a:r>
              <a:rPr lang="en-US" sz="5380" b="1">
                <a:solidFill>
                  <a:srgbClr val="1C2120"/>
                </a:solidFill>
                <a:latin typeface="Montserrat Bold"/>
                <a:ea typeface="Montserrat Bold"/>
                <a:cs typeface="Montserrat Bold"/>
                <a:sym typeface="Montserrat Bold"/>
              </a:rPr>
              <a:t>References</a:t>
            </a:r>
          </a:p>
        </p:txBody>
      </p:sp>
      <p:sp>
        <p:nvSpPr>
          <p:cNvPr id="3" name="TextBox 3"/>
          <p:cNvSpPr txBox="1"/>
          <p:nvPr/>
        </p:nvSpPr>
        <p:spPr>
          <a:xfrm>
            <a:off x="1028700" y="1975249"/>
            <a:ext cx="16660244" cy="7851648"/>
          </a:xfrm>
          <a:prstGeom prst="rect">
            <a:avLst/>
          </a:prstGeom>
        </p:spPr>
        <p:txBody>
          <a:bodyPr lIns="0" tIns="0" rIns="0" bIns="0" rtlCol="0" anchor="t">
            <a:spAutoFit/>
          </a:bodyPr>
          <a:lstStyle/>
          <a:p>
            <a:pPr marL="297945" lvl="1" indent="-148973" algn="l">
              <a:lnSpc>
                <a:spcPts val="1932"/>
              </a:lnSpc>
              <a:buFont typeface="Arial"/>
              <a:buChar char="•"/>
            </a:pPr>
            <a:r>
              <a:rPr lang="en-US" sz="1380">
                <a:solidFill>
                  <a:srgbClr val="000000"/>
                </a:solidFill>
                <a:latin typeface="Open Sans"/>
                <a:ea typeface="Open Sans"/>
                <a:cs typeface="Open Sans"/>
                <a:sym typeface="Open Sans"/>
              </a:rPr>
              <a:t>Angelakis, D., Ventouras, E. C., Kostopoulos, S., &amp; Asvestas, P. (2024). Comparative analysis of deep learning models for optimal EEG-based real-time servo motor control. Eng, 5(3), 1708–1736. </a:t>
            </a:r>
            <a:r>
              <a:rPr lang="en-US" sz="1380" u="sng">
                <a:solidFill>
                  <a:srgbClr val="000000"/>
                </a:solidFill>
                <a:latin typeface="Open Sans"/>
                <a:ea typeface="Open Sans"/>
                <a:cs typeface="Open Sans"/>
                <a:sym typeface="Open Sans"/>
                <a:hlinkClick r:id="rId2" tooltip="https://doi.org/10.3390/eng5030090"/>
              </a:rPr>
              <a:t>https://doi.org/10.3390/eng5030090</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Ramzan, M., &amp; Dawn, S. (2023). Fused CNN-LSTM deep learning emotion recognition model using EEG signals. International Journal of Neuroscience, 133(6), 587–597. </a:t>
            </a:r>
            <a:r>
              <a:rPr lang="en-US" sz="1380" u="sng">
                <a:solidFill>
                  <a:srgbClr val="000000"/>
                </a:solidFill>
                <a:latin typeface="Open Sans"/>
                <a:ea typeface="Open Sans"/>
                <a:cs typeface="Open Sans"/>
                <a:sym typeface="Open Sans"/>
                <a:hlinkClick r:id="rId3" tooltip="https://doi.org/10.1080/00207454.2021.1941947"/>
              </a:rPr>
              <a:t>https://doi.org/10.1080/00207454.2021.1941947</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Sharma, N., Upadhyay, A., Sharma, M., &amp; Singhal, A. (2023). Deep temporal networks for EEG-based motor imagery recognition. Scientific Reports, 13(1), 18813. </a:t>
            </a:r>
            <a:r>
              <a:rPr lang="en-US" sz="1380" u="sng">
                <a:solidFill>
                  <a:srgbClr val="000000"/>
                </a:solidFill>
                <a:latin typeface="Open Sans"/>
                <a:ea typeface="Open Sans"/>
                <a:cs typeface="Open Sans"/>
                <a:sym typeface="Open Sans"/>
                <a:hlinkClick r:id="rId4" tooltip="https://doi.org/10.1038/s41598-023-41653-w"/>
              </a:rPr>
              <a:t>https://doi.org/10.1038/s41598-023-41653-w</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Mousavi, S.-Y., Movahed, S. O., Sadegh-Zadeh, S.-A., &amp; Shiry Ghidary, S. (2025). Comparative analysis of dimensionality reduction techniques for EEG-based emotional state classification. (In press). [Open-access preprint].</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Murungi, N. K., Pham, M. V., Dai, X., &amp; Qu, X. (2023). Empowering computer science students in EEG analysis: A review of machine learning algorithms for EEG datasets. In Proc. KDD Undergraduate Consortium (KDD-UC ’23) (pp. 1–8).</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Alsaleh, M. (2019). Toward an imagined speech-based brain computer interface using EEG signals (Doctoral thesis, University of Sheffield).</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AlSaleh, M. M., Arvaneh, M., Christensen, H., &amp; Moore, R. K. (2016). Brain–computer interface technology for speech recognition: A review. In Proceedings of the 2016 Asia-Pacific Signal and Information Processing Association Annual Summit and Conference (APSIPA ASC) (pp. 1–5). IEEE.</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Dataset. (2022). “Toward Asynchronous EEG-based BCI” Imagined Speech Dataset from https://www.kaggle.com/datasets/tonahdztoro/toward-asynchronous</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Emotiv. (2022). Emotiv EPOC+ [</a:t>
            </a:r>
            <a:r>
              <a:rPr lang="en-US" sz="1380" u="sng">
                <a:solidFill>
                  <a:srgbClr val="000000"/>
                </a:solidFill>
                <a:latin typeface="Open Sans"/>
                <a:ea typeface="Open Sans"/>
                <a:cs typeface="Open Sans"/>
                <a:sym typeface="Open Sans"/>
                <a:hlinkClick r:id="rId5" tooltip="https://www.emotiv.com/epoc/"/>
              </a:rPr>
              <a:t>Website</a:t>
            </a:r>
            <a:r>
              <a:rPr lang="en-US" sz="1380">
                <a:solidFill>
                  <a:srgbClr val="000000"/>
                </a:solidFill>
                <a:latin typeface="Open Sans"/>
                <a:ea typeface="Open Sans"/>
                <a:cs typeface="Open Sans"/>
                <a:sym typeface="Open Sans"/>
              </a:rPr>
              <a:t>]. Retrieved August 5, 2022, from https://www.emotiv.com/epoc/</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Rao, R. P. N. (2013b). Basic neuroscience (Chapter 4). In Brain–Computer Interfacing: An Introduction (pp. 7–17). Cambridge University Press.</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Galán, F., Nuttin, M., Lew, E., Ferrez, P. W., Vanacker, G., Philips, J., &amp; Millán, J. d. R. (2008). A brain-actuated wheelchair: Asynchronous and non-invasive brain–computer interfaces for continuous control of robots. Clinical Neurophysiology, 119(9), 2159–2169.</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Yan, R., &amp; Lin, J. (2025). Equipment intelligent operation and maintenance. CRC Press.</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Hernández-Del-Toro, T., Reyes-García, C. A., &amp; Villaseñor-Pineda, L. (2021). Toward asynchronous EEG-based BCI: Detecting imagined words segments in continuous EEG signals. Biomedical Signal Processing and Control.</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Kok, C. L., Ho, C. K., Aung, T. H., Koh, Y. Y., &amp; Teo, T. H. (2024). Transfer learning and deep neural networks for robust intersubject hand movement detection from EEG signals. Applied Sciences.</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Shah, U., Alzubaidi, M., Mohsen, F., Alam, T., &amp; Househ, M. (2024). Ensemble-based feature engineering mechanism to decode imagined speech from brain signals. Informatics in Medicine Unlocked.</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Almarzooqi, M. (2025). Automated prioritization and routing of IT support tickets using machine learning. Rochester Institute of Technology.</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Nam, C. S., Nijholt, A., &amp; Lotte, F. (2018). Brain–computer interfaces handbook - technological and theoretical advances. Routledge.</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Reddy, T. V., &amp; Rao, K. M. (2025). Recent trends in VLSI and semiconductor packaging. CRC Press.</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Moon, J., Kwon, Y., Park, J., &amp; Yoon, W. C. (2019). Detecting user attention to video segments using interval EEG features. Expert Systems with Applications.</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Singh, J., Goyal, S. B., Kaushal, R. K., Kumar, N., &amp; Sehra, S. S. (2024). Applied data science and smart systems - proceedings of 2nd international conference on applied data science and smart systems 2023 (ADSSS 2023) 15-16 Dec, 2023, Rajpura, India. CRC Press.</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Abiri, R., Borhani, S., Sellers, E. W., Jiang, Y., &amp; Zhao, X. (2019). A comprehensive review of EEG-based brain–computer interface paradigms. Journal of Neural Engineering.</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Mohan, R. N. V. J., Sekhar, V. C., &amp; Gupta, V. M. N. S. S. V. K. R. (2024). Algorithms in advanced artificial intelligence. CRC Press.</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Anand, G. S. (2024). Application of natural language processing and governance framework for mining financial documents. SP Jain School of Global Management.</a:t>
            </a:r>
          </a:p>
          <a:p>
            <a:pPr marL="297945" lvl="1" indent="-148973" algn="l">
              <a:lnSpc>
                <a:spcPts val="1932"/>
              </a:lnSpc>
              <a:buFont typeface="Arial"/>
              <a:buChar char="•"/>
            </a:pPr>
            <a:r>
              <a:rPr lang="en-US" sz="1380">
                <a:solidFill>
                  <a:srgbClr val="000000"/>
                </a:solidFill>
                <a:latin typeface="Open Sans"/>
                <a:ea typeface="Open Sans"/>
                <a:cs typeface="Open Sans"/>
                <a:sym typeface="Open Sans"/>
              </a:rPr>
              <a:t>Brain Informatics. (2018). Springer Science and Business Media LLC.</a:t>
            </a:r>
          </a:p>
        </p:txBody>
      </p:sp>
      <p:sp>
        <p:nvSpPr>
          <p:cNvPr id="4" name="Freeform 4"/>
          <p:cNvSpPr/>
          <p:nvPr/>
        </p:nvSpPr>
        <p:spPr>
          <a:xfrm>
            <a:off x="14173687" y="0"/>
            <a:ext cx="4114313" cy="1654066"/>
          </a:xfrm>
          <a:custGeom>
            <a:avLst/>
            <a:gdLst/>
            <a:ahLst/>
            <a:cxnLst/>
            <a:rect l="l" t="t" r="r" b="b"/>
            <a:pathLst>
              <a:path w="4114313" h="1654066">
                <a:moveTo>
                  <a:pt x="0" y="0"/>
                </a:moveTo>
                <a:lnTo>
                  <a:pt x="4114313" y="0"/>
                </a:lnTo>
                <a:lnTo>
                  <a:pt x="4114313" y="1654066"/>
                </a:lnTo>
                <a:lnTo>
                  <a:pt x="0" y="1654066"/>
                </a:lnTo>
                <a:lnTo>
                  <a:pt x="0" y="0"/>
                </a:lnTo>
                <a:close/>
              </a:path>
            </a:pathLst>
          </a:custGeom>
          <a:blipFill>
            <a:blip r:embed="rId6"/>
            <a:stretch>
              <a:fillRect t="-10270" b="-14099"/>
            </a:stretch>
          </a:blipFill>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4131372" y="0"/>
            <a:ext cx="4156628" cy="1654066"/>
          </a:xfrm>
          <a:custGeom>
            <a:avLst/>
            <a:gdLst/>
            <a:ahLst/>
            <a:cxnLst/>
            <a:rect l="l" t="t" r="r" b="b"/>
            <a:pathLst>
              <a:path w="4156628" h="1654066">
                <a:moveTo>
                  <a:pt x="0" y="0"/>
                </a:moveTo>
                <a:lnTo>
                  <a:pt x="4156628" y="0"/>
                </a:lnTo>
                <a:lnTo>
                  <a:pt x="4156628" y="1654066"/>
                </a:lnTo>
                <a:lnTo>
                  <a:pt x="0" y="1654066"/>
                </a:lnTo>
                <a:lnTo>
                  <a:pt x="0" y="0"/>
                </a:lnTo>
                <a:close/>
              </a:path>
            </a:pathLst>
          </a:custGeom>
          <a:blipFill>
            <a:blip r:embed="rId2"/>
            <a:stretch>
              <a:fillRect t="-11404" b="-14244"/>
            </a:stretch>
          </a:blipFill>
        </p:spPr>
        <p:txBody>
          <a:bodyPr/>
          <a:lstStyle/>
          <a:p>
            <a:endParaRPr lang="en-US"/>
          </a:p>
        </p:txBody>
      </p:sp>
      <p:grpSp>
        <p:nvGrpSpPr>
          <p:cNvPr id="3" name="Group 3"/>
          <p:cNvGrpSpPr/>
          <p:nvPr/>
        </p:nvGrpSpPr>
        <p:grpSpPr>
          <a:xfrm>
            <a:off x="-102365" y="3371652"/>
            <a:ext cx="10262905" cy="2801888"/>
            <a:chOff x="0" y="0"/>
            <a:chExt cx="2702987" cy="737946"/>
          </a:xfrm>
        </p:grpSpPr>
        <p:sp>
          <p:nvSpPr>
            <p:cNvPr id="4" name="Freeform 4"/>
            <p:cNvSpPr/>
            <p:nvPr/>
          </p:nvSpPr>
          <p:spPr>
            <a:xfrm>
              <a:off x="0" y="0"/>
              <a:ext cx="2702987" cy="737946"/>
            </a:xfrm>
            <a:custGeom>
              <a:avLst/>
              <a:gdLst/>
              <a:ahLst/>
              <a:cxnLst/>
              <a:rect l="l" t="t" r="r" b="b"/>
              <a:pathLst>
                <a:path w="2702987" h="737946">
                  <a:moveTo>
                    <a:pt x="0" y="0"/>
                  </a:moveTo>
                  <a:lnTo>
                    <a:pt x="2702987" y="0"/>
                  </a:lnTo>
                  <a:lnTo>
                    <a:pt x="2702987" y="737946"/>
                  </a:lnTo>
                  <a:lnTo>
                    <a:pt x="0" y="737946"/>
                  </a:lnTo>
                  <a:close/>
                </a:path>
              </a:pathLst>
            </a:custGeom>
            <a:solidFill>
              <a:srgbClr val="55FF4D"/>
            </a:solidFill>
          </p:spPr>
          <p:txBody>
            <a:bodyPr/>
            <a:lstStyle/>
            <a:p>
              <a:endParaRPr lang="en-US"/>
            </a:p>
          </p:txBody>
        </p:sp>
        <p:sp>
          <p:nvSpPr>
            <p:cNvPr id="5" name="TextBox 5"/>
            <p:cNvSpPr txBox="1"/>
            <p:nvPr/>
          </p:nvSpPr>
          <p:spPr>
            <a:xfrm>
              <a:off x="0" y="-28575"/>
              <a:ext cx="2702987" cy="766521"/>
            </a:xfrm>
            <a:prstGeom prst="rect">
              <a:avLst/>
            </a:prstGeom>
          </p:spPr>
          <p:txBody>
            <a:bodyPr lIns="50800" tIns="50800" rIns="50800" bIns="50800" rtlCol="0" anchor="ctr"/>
            <a:lstStyle/>
            <a:p>
              <a:pPr algn="ctr">
                <a:lnSpc>
                  <a:spcPts val="2243"/>
                </a:lnSpc>
              </a:pPr>
              <a:endParaRPr/>
            </a:p>
          </p:txBody>
        </p:sp>
      </p:grpSp>
      <p:sp>
        <p:nvSpPr>
          <p:cNvPr id="6" name="TextBox 6"/>
          <p:cNvSpPr txBox="1"/>
          <p:nvPr/>
        </p:nvSpPr>
        <p:spPr>
          <a:xfrm>
            <a:off x="-1077494" y="4237107"/>
            <a:ext cx="11923966" cy="1446873"/>
          </a:xfrm>
          <a:prstGeom prst="rect">
            <a:avLst/>
          </a:prstGeom>
        </p:spPr>
        <p:txBody>
          <a:bodyPr lIns="0" tIns="0" rIns="0" bIns="0" rtlCol="0" anchor="t">
            <a:spAutoFit/>
          </a:bodyPr>
          <a:lstStyle/>
          <a:p>
            <a:pPr algn="ctr">
              <a:lnSpc>
                <a:spcPts val="10460"/>
              </a:lnSpc>
            </a:pPr>
            <a:r>
              <a:rPr lang="en-US" sz="12023" b="1">
                <a:solidFill>
                  <a:srgbClr val="1C2120"/>
                </a:solidFill>
                <a:latin typeface="Open Sans Bold"/>
                <a:ea typeface="Open Sans Bold"/>
                <a:cs typeface="Open Sans Bold"/>
                <a:sym typeface="Open Sans Bold"/>
              </a:rPr>
              <a:t>THANK YOU </a:t>
            </a:r>
          </a:p>
        </p:txBody>
      </p:sp>
      <p:sp>
        <p:nvSpPr>
          <p:cNvPr id="7" name="TextBox 7"/>
          <p:cNvSpPr txBox="1"/>
          <p:nvPr/>
        </p:nvSpPr>
        <p:spPr>
          <a:xfrm>
            <a:off x="10641335" y="8937684"/>
            <a:ext cx="6617965" cy="698381"/>
          </a:xfrm>
          <a:prstGeom prst="rect">
            <a:avLst/>
          </a:prstGeom>
        </p:spPr>
        <p:txBody>
          <a:bodyPr lIns="0" tIns="0" rIns="0" bIns="0" rtlCol="0" anchor="t">
            <a:spAutoFit/>
          </a:bodyPr>
          <a:lstStyle/>
          <a:p>
            <a:pPr algn="l">
              <a:lnSpc>
                <a:spcPts val="2745"/>
              </a:lnSpc>
            </a:pPr>
            <a:r>
              <a:rPr lang="en-US" sz="2745" spc="-54">
                <a:solidFill>
                  <a:srgbClr val="FFFFFF"/>
                </a:solidFill>
                <a:latin typeface="Open Sans"/>
                <a:ea typeface="Open Sans"/>
                <a:cs typeface="Open Sans"/>
                <a:sym typeface="Open Sans"/>
              </a:rPr>
              <a:t>Anmol Agarwal</a:t>
            </a:r>
          </a:p>
          <a:p>
            <a:pPr algn="l">
              <a:lnSpc>
                <a:spcPts val="2745"/>
              </a:lnSpc>
            </a:pPr>
            <a:r>
              <a:rPr lang="en-US" sz="2745" spc="-54">
                <a:solidFill>
                  <a:srgbClr val="FFFFFF"/>
                </a:solidFill>
                <a:latin typeface="Open Sans"/>
                <a:ea typeface="Open Sans"/>
                <a:cs typeface="Open Sans"/>
                <a:sym typeface="Open Sans"/>
              </a:rPr>
              <a:t>anmol.agarwal@iu-study.org</a:t>
            </a:r>
          </a:p>
        </p:txBody>
      </p:sp>
      <p:sp>
        <p:nvSpPr>
          <p:cNvPr id="8" name="TextBox 8"/>
          <p:cNvSpPr txBox="1"/>
          <p:nvPr/>
        </p:nvSpPr>
        <p:spPr>
          <a:xfrm>
            <a:off x="310872" y="9109134"/>
            <a:ext cx="6617965" cy="355481"/>
          </a:xfrm>
          <a:prstGeom prst="rect">
            <a:avLst/>
          </a:prstGeom>
        </p:spPr>
        <p:txBody>
          <a:bodyPr lIns="0" tIns="0" rIns="0" bIns="0" rtlCol="0" anchor="t">
            <a:spAutoFit/>
          </a:bodyPr>
          <a:lstStyle/>
          <a:p>
            <a:pPr algn="l">
              <a:lnSpc>
                <a:spcPts val="2745"/>
              </a:lnSpc>
            </a:pPr>
            <a:r>
              <a:rPr lang="en-US" sz="2745" spc="-54">
                <a:solidFill>
                  <a:srgbClr val="FFFFFF"/>
                </a:solidFill>
                <a:latin typeface="Open Sans"/>
                <a:ea typeface="Open Sans"/>
                <a:cs typeface="Open Sans"/>
                <a:sym typeface="Open Sans"/>
              </a:rPr>
              <a:t>Berlin, Germany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7090</TotalTime>
  <Words>3960</Words>
  <Application>Microsoft Macintosh PowerPoint</Application>
  <PresentationFormat>Custom</PresentationFormat>
  <Paragraphs>310</Paragraphs>
  <Slides>26</Slides>
  <Notes>1</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26</vt:i4>
      </vt:variant>
    </vt:vector>
  </HeadingPairs>
  <TitlesOfParts>
    <vt:vector size="42" baseType="lpstr">
      <vt:lpstr>Open Sans Light Italics</vt:lpstr>
      <vt:lpstr>Canva Sans</vt:lpstr>
      <vt:lpstr>Calibri</vt:lpstr>
      <vt:lpstr>Open Sans Italics</vt:lpstr>
      <vt:lpstr>Open Sans Bold</vt:lpstr>
      <vt:lpstr>Canva Sans Bold</vt:lpstr>
      <vt:lpstr>Source Sans Pro Bold</vt:lpstr>
      <vt:lpstr>Montserrat Bold</vt:lpstr>
      <vt:lpstr>Poppins Bold</vt:lpstr>
      <vt:lpstr>Arial</vt:lpstr>
      <vt:lpstr>Montserrat</vt:lpstr>
      <vt:lpstr>Open Sans Bold Italics</vt:lpstr>
      <vt:lpstr>Open Sans</vt:lpstr>
      <vt:lpstr>Poppins</vt:lpstr>
      <vt:lpstr>Open Sans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Minimalist Project Presentation</dc:title>
  <cp:lastModifiedBy>Sakshi Chaudhary</cp:lastModifiedBy>
  <cp:revision>6</cp:revision>
  <dcterms:created xsi:type="dcterms:W3CDTF">2006-08-16T00:00:00Z</dcterms:created>
  <dcterms:modified xsi:type="dcterms:W3CDTF">2025-05-22T22:11:32Z</dcterms:modified>
  <dc:identifier>DAGgocqtM2k</dc:identifier>
</cp:coreProperties>
</file>